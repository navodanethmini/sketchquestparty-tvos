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SketchQuest Party as a functional tvOS prototype. The core idea is simple: a shared television, one input device, and quick sketch identification rounds for 2 to 4 players. The current prototype was tested in Apple TV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experience problem rather than a measured market statistic. Drawing games like Drawful 2 and browser games demonstrate the category, but SketchQuest Party deliberately simplifies participation to one shared device and a multiple-choice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actual prototype screenshot. The design uses eight original code-based vector sketch categories. Each question presents four possible answers and players earn 100 points for a correct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live demo sequence: Home screen, player setup, ready prompt, and then a time-limited sketch question. This is a fully local, turn-based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ready screen avoids starting the 30-second timer while players pass the remote. Four randomized choices include the correct sketch label. Correct = 100 points; wrong/timeout =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confuse the tvOS Part B prototype with the separate iOS Part A CNN. This tvOS app has no machine learning model. All eight sketches are drawn using SwiftUI Path and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tvOS emphasizes focus navigation rather than direct touch. The prototype uses SwiftUI focus control to automatically focus the Next Player and Ready buttons as needed. Emphasize that we verified navigation in Apple TV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code structure: ContentView provides navigation and player selection. PartyGameView manages @State for game progress, timer, scoring and options. SketchDrawingView renders eight vector illustrations via Path/Shape, and @FocusState resolves remote navigation. No network service or machine learning model is used in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rather than claim these are identical. Drawful 2 is itself available for Apple TV but depends on player phones/tablets. skribbl.io is a free browser-based pictionary game where users draw and type guesses. SketchQuest Party uses ready-made sketches and a shared remote. Source 1: Apple App Store Drawful 2; Source 2: skribbl.io official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segments are strategic hypotheses. There are no survey results, revenue numbers, or download statistics associated with this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 future business hypothesis, not features already present. Proposed model: keep a free starter activity and potentially sell category content or game modes as premium upgrades. Proposed launch strategy: pilot, learn, expand content, explore Apple TV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Clearly state the test boundary: the user tested functionality in Apple TV 4K third-generation Simulator with tvOS 26.1, not on physical Apple TV hardware. Tests covered 2, 3 and 4 players, ready screen, scoring, rounds, focus navigation and replay.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honest project milestone is to test this on physical Apple TV hardware with real participants. Only after that would we consider accessibility, additional sketch packs, localization and commercialization.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value proposition and move to a quick live demonstration. The GitHub repo contains full source code, README, AI-assisted development documentation, and testing screenshots. Ask for constructive feedback and permission to conduct a small user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are listed to support claims about comparable products and tvOS design. The assignment rubric is the user-provided university assignment. Market segments and revenue strategy are explicitly proposed, not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NavodaNethmini/SketchQuestParty-tvOS" TargetMode="Externa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apps.apple.com/us/app/drawful-2/id1181181995" TargetMode="External"/><Relationship Id="rId2" Type="http://schemas.openxmlformats.org/officeDocument/2006/relationships/hyperlink" Target="https://skribbl.io/" TargetMode="External"/><Relationship Id="rId3" Type="http://schemas.openxmlformats.org/officeDocument/2006/relationships/hyperlink" Target="https://developer.apple.com/documentation/uikit/about-focus-interactions-for-apple-tv" TargetMode="External"/><Relationship Id="rId4" Type="http://schemas.openxmlformats.org/officeDocument/2006/relationships/hyperlink" Target="https://github.com/NavodaNethmini/SketchQuestParty-tvOS" TargetMode="Externa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Shape 1"/>
          <p:cNvSpPr/>
          <p:nvPr/>
        </p:nvSpPr>
        <p:spPr>
          <a:xfrm>
            <a:off x="9290304" y="0"/>
            <a:ext cx="2880360" cy="2880360"/>
          </a:xfrm>
          <a:prstGeom prst="ellipse">
            <a:avLst/>
          </a:prstGeom>
          <a:solidFill>
            <a:srgbClr val="402273">
              <a:alpha val="35000"/>
            </a:srgbClr>
          </a:solidFill>
          <a:ln w="12700">
            <a:solidFill>
              <a:srgbClr val="402273">
                <a:alpha val="0"/>
              </a:srgbClr>
            </a:solidFill>
            <a:prstDash val="solid"/>
          </a:ln>
        </p:spPr>
      </p:sp>
      <p:sp>
        <p:nvSpPr>
          <p:cNvPr id="4" name="Shape 2"/>
          <p:cNvSpPr/>
          <p:nvPr/>
        </p:nvSpPr>
        <p:spPr>
          <a:xfrm>
            <a:off x="0" y="5047488"/>
            <a:ext cx="1773936" cy="1773936"/>
          </a:xfrm>
          <a:prstGeom prst="ellipse">
            <a:avLst/>
          </a:prstGeom>
          <a:solidFill>
            <a:srgbClr val="2C1A61">
              <a:alpha val="36000"/>
            </a:srgbClr>
          </a:solidFill>
          <a:ln w="12700">
            <a:solidFill>
              <a:srgbClr val="2C1A61">
                <a:alpha val="0"/>
              </a:srgbClr>
            </a:solidFill>
            <a:prstDash val="solid"/>
          </a:ln>
        </p:spPr>
      </p:sp>
      <p:sp>
        <p:nvSpPr>
          <p:cNvPr id="5" name="Shape 3"/>
          <p:cNvSpPr/>
          <p:nvPr/>
        </p:nvSpPr>
        <p:spPr>
          <a:xfrm>
            <a:off x="6583680" y="5175504"/>
            <a:ext cx="1572768" cy="1572768"/>
          </a:xfrm>
          <a:prstGeom prst="ellipse">
            <a:avLst/>
          </a:prstGeom>
          <a:solidFill>
            <a:srgbClr val="3B2079">
              <a:alpha val="16000"/>
            </a:srgbClr>
          </a:solidFill>
          <a:ln w="12700">
            <a:solidFill>
              <a:srgbClr val="3B2079">
                <a:alpha val="0"/>
              </a:srgbClr>
            </a:solidFill>
            <a:prstDash val="solid"/>
          </a:ln>
        </p:spPr>
      </p:sp>
      <p:sp>
        <p:nvSpPr>
          <p:cNvPr id="6" name="Shape 4"/>
          <p:cNvSpPr/>
          <p:nvPr/>
        </p:nvSpPr>
        <p:spPr>
          <a:xfrm>
            <a:off x="640080" y="594360"/>
            <a:ext cx="2103120" cy="365760"/>
          </a:xfrm>
          <a:prstGeom prst="roundRect">
            <a:avLst>
              <a:gd name="adj" fmla="val 47500"/>
            </a:avLst>
          </a:prstGeom>
          <a:solidFill>
            <a:srgbClr val="36225C"/>
          </a:solidFill>
          <a:ln w="12700">
            <a:solidFill>
              <a:srgbClr val="36225C">
                <a:alpha val="0"/>
              </a:srgbClr>
            </a:solidFill>
            <a:prstDash val="solid"/>
          </a:ln>
        </p:spPr>
      </p:sp>
      <p:sp>
        <p:nvSpPr>
          <p:cNvPr id="7" name="Text 5"/>
          <p:cNvSpPr/>
          <p:nvPr/>
        </p:nvSpPr>
        <p:spPr>
          <a:xfrm>
            <a:off x="749808" y="635508"/>
            <a:ext cx="1883664" cy="256032"/>
          </a:xfrm>
          <a:prstGeom prst="rect">
            <a:avLst/>
          </a:prstGeom>
          <a:noFill/>
          <a:ln/>
        </p:spPr>
        <p:txBody>
          <a:bodyPr wrap="square" lIns="0" tIns="0" rIns="0" bIns="0" rtlCol="0" anchor="ctr">
            <a:normAutofit/>
          </a:bodyPr>
          <a:lstStyle/>
          <a:p>
            <a:pPr algn="ctr" indent="0" marL="0">
              <a:buNone/>
            </a:pPr>
            <a:r>
              <a:rPr lang="en-US" sz="1050" b="1" dirty="0">
                <a:solidFill>
                  <a:srgbClr val="E9E0FF"/>
                </a:solidFill>
                <a:latin typeface="Inter Display" pitchFamily="34" charset="0"/>
                <a:ea typeface="Inter Display" pitchFamily="34" charset="-122"/>
                <a:cs typeface="Inter Display" pitchFamily="34" charset="-120"/>
              </a:rPr>
              <a:t>APPLE TV • SWIFTUI</a:t>
            </a:r>
            <a:endParaRPr lang="en-US" sz="1050" dirty="0"/>
          </a:p>
        </p:txBody>
      </p:sp>
      <p:sp>
        <p:nvSpPr>
          <p:cNvPr id="8" name="Text 6"/>
          <p:cNvSpPr/>
          <p:nvPr/>
        </p:nvSpPr>
        <p:spPr>
          <a:xfrm>
            <a:off x="621792" y="1499616"/>
            <a:ext cx="5669280" cy="749808"/>
          </a:xfrm>
          <a:prstGeom prst="rect">
            <a:avLst/>
          </a:prstGeom>
          <a:noFill/>
          <a:ln/>
        </p:spPr>
        <p:txBody>
          <a:bodyPr wrap="square" lIns="0" tIns="0" rIns="0" bIns="0" rtlCol="0" anchor="ctr">
            <a:normAutofit/>
          </a:bodyPr>
          <a:lstStyle/>
          <a:p>
            <a:pPr indent="0" marL="0">
              <a:buNone/>
            </a:pPr>
            <a:r>
              <a:rPr lang="en-US" sz="5200" b="1" dirty="0">
                <a:solidFill>
                  <a:srgbClr val="FFFFFF"/>
                </a:solidFill>
                <a:latin typeface="Inter Display" pitchFamily="34" charset="0"/>
                <a:ea typeface="Inter Display" pitchFamily="34" charset="-122"/>
                <a:cs typeface="Inter Display" pitchFamily="34" charset="-120"/>
              </a:rPr>
              <a:t>SketchQuest</a:t>
            </a:r>
            <a:endParaRPr lang="en-US" sz="5200" dirty="0"/>
          </a:p>
        </p:txBody>
      </p:sp>
      <p:sp>
        <p:nvSpPr>
          <p:cNvPr id="9" name="Text 7"/>
          <p:cNvSpPr/>
          <p:nvPr/>
        </p:nvSpPr>
        <p:spPr>
          <a:xfrm>
            <a:off x="630936" y="2258568"/>
            <a:ext cx="5120640" cy="822960"/>
          </a:xfrm>
          <a:prstGeom prst="rect">
            <a:avLst/>
          </a:prstGeom>
          <a:noFill/>
          <a:ln/>
        </p:spPr>
        <p:txBody>
          <a:bodyPr wrap="square" lIns="0" tIns="0" rIns="0" bIns="0" rtlCol="0" anchor="ctr">
            <a:normAutofit/>
          </a:bodyPr>
          <a:lstStyle/>
          <a:p>
            <a:pPr indent="0" marL="0">
              <a:buNone/>
            </a:pPr>
            <a:r>
              <a:rPr lang="en-US" sz="6000" b="1" spc="130" kern="0" dirty="0">
                <a:solidFill>
                  <a:srgbClr val="E04CF4"/>
                </a:solidFill>
                <a:latin typeface="Inter Display" pitchFamily="34" charset="0"/>
                <a:ea typeface="Inter Display" pitchFamily="34" charset="-122"/>
                <a:cs typeface="Inter Display" pitchFamily="34" charset="-120"/>
              </a:rPr>
              <a:t>PARTY</a:t>
            </a:r>
            <a:endParaRPr lang="en-US" sz="6000" dirty="0"/>
          </a:p>
        </p:txBody>
      </p:sp>
      <p:sp>
        <p:nvSpPr>
          <p:cNvPr id="10" name="Text 8"/>
          <p:cNvSpPr/>
          <p:nvPr/>
        </p:nvSpPr>
        <p:spPr>
          <a:xfrm>
            <a:off x="649224" y="3264408"/>
            <a:ext cx="5120640" cy="896112"/>
          </a:xfrm>
          <a:prstGeom prst="rect">
            <a:avLst/>
          </a:prstGeom>
          <a:noFill/>
          <a:ln/>
        </p:spPr>
        <p:txBody>
          <a:bodyPr wrap="square" lIns="0" tIns="0" rIns="0" bIns="0" rtlCol="0" anchor="ctr">
            <a:normAutofit/>
          </a:bodyPr>
          <a:lstStyle/>
          <a:p>
            <a:pPr indent="0" marL="0">
              <a:buNone/>
            </a:pPr>
            <a:r>
              <a:rPr lang="en-US" sz="2500" b="1" dirty="0">
                <a:solidFill>
                  <a:srgbClr val="E9E0FF"/>
                </a:solidFill>
                <a:latin typeface="Inter Display" pitchFamily="34" charset="0"/>
                <a:ea typeface="Inter Display" pitchFamily="34" charset="-122"/>
                <a:cs typeface="Inter Display" pitchFamily="34" charset="-120"/>
              </a:rPr>
              <a:t>One screen. One remote.</a:t>
            </a:r>
            <a:endParaRPr lang="en-US" sz="2500" dirty="0"/>
          </a:p>
          <a:p>
            <a:pPr indent="0" marL="0">
              <a:buNone/>
            </a:pPr>
            <a:r>
              <a:rPr lang="en-US" sz="2500" b="1" dirty="0">
                <a:solidFill>
                  <a:srgbClr val="E9E0FF"/>
                </a:solidFill>
                <a:latin typeface="Inter Display" pitchFamily="34" charset="0"/>
                <a:ea typeface="Inter Display" pitchFamily="34" charset="-122"/>
                <a:cs typeface="Inter Display" pitchFamily="34" charset="-120"/>
              </a:rPr>
              <a:t>Everyone plays.</a:t>
            </a:r>
            <a:endParaRPr lang="en-US" sz="2500" dirty="0"/>
          </a:p>
        </p:txBody>
      </p:sp>
      <p:sp>
        <p:nvSpPr>
          <p:cNvPr id="11" name="Text 9"/>
          <p:cNvSpPr/>
          <p:nvPr/>
        </p:nvSpPr>
        <p:spPr>
          <a:xfrm>
            <a:off x="667512" y="4352544"/>
            <a:ext cx="4617720" cy="758952"/>
          </a:xfrm>
          <a:prstGeom prst="rect">
            <a:avLst/>
          </a:prstGeom>
          <a:noFill/>
          <a:ln/>
        </p:spPr>
        <p:txBody>
          <a:bodyPr wrap="square" lIns="0" tIns="0" rIns="0" bIns="0" rtlCol="0" anchor="t">
            <a:normAutofit/>
          </a:bodyPr>
          <a:lstStyle/>
          <a:p>
            <a:pPr indent="0" marL="0">
              <a:buNone/>
            </a:pPr>
            <a:r>
              <a:rPr lang="en-US" sz="1560" dirty="0">
                <a:solidFill>
                  <a:srgbClr val="B6AACF"/>
                </a:solidFill>
                <a:latin typeface="Inter" pitchFamily="34" charset="0"/>
                <a:ea typeface="Inter" pitchFamily="34" charset="-122"/>
                <a:cs typeface="Inter" pitchFamily="34" charset="-120"/>
              </a:rPr>
              <a:t>Local multiplayer sketch-guessing, designed for the living room.</a:t>
            </a:r>
            <a:endParaRPr lang="en-US" sz="1560" dirty="0"/>
          </a:p>
        </p:txBody>
      </p:sp>
      <p:sp>
        <p:nvSpPr>
          <p:cNvPr id="12" name="Shape 10"/>
          <p:cNvSpPr/>
          <p:nvPr/>
        </p:nvSpPr>
        <p:spPr>
          <a:xfrm>
            <a:off x="667512" y="5266944"/>
            <a:ext cx="1335024" cy="365760"/>
          </a:xfrm>
          <a:prstGeom prst="roundRect">
            <a:avLst>
              <a:gd name="adj" fmla="val 47500"/>
            </a:avLst>
          </a:prstGeom>
          <a:solidFill>
            <a:srgbClr val="2D2250"/>
          </a:solidFill>
          <a:ln w="12700">
            <a:solidFill>
              <a:srgbClr val="2D2250">
                <a:alpha val="0"/>
              </a:srgbClr>
            </a:solidFill>
            <a:prstDash val="solid"/>
          </a:ln>
        </p:spPr>
      </p:sp>
      <p:sp>
        <p:nvSpPr>
          <p:cNvPr id="13" name="Text 11"/>
          <p:cNvSpPr/>
          <p:nvPr/>
        </p:nvSpPr>
        <p:spPr>
          <a:xfrm>
            <a:off x="777240" y="5308092"/>
            <a:ext cx="1115568" cy="256032"/>
          </a:xfrm>
          <a:prstGeom prst="rect">
            <a:avLst/>
          </a:prstGeom>
          <a:noFill/>
          <a:ln/>
        </p:spPr>
        <p:txBody>
          <a:bodyPr wrap="square" lIns="0" tIns="0" rIns="0" bIns="0" rtlCol="0" anchor="ctr">
            <a:normAutofit/>
          </a:bodyPr>
          <a:lstStyle/>
          <a:p>
            <a:pPr algn="ctr" indent="0" marL="0">
              <a:buNone/>
            </a:pPr>
            <a:r>
              <a:rPr lang="en-US" sz="1050" b="1" dirty="0">
                <a:solidFill>
                  <a:srgbClr val="E9E0FF"/>
                </a:solidFill>
                <a:latin typeface="Inter Display" pitchFamily="34" charset="0"/>
                <a:ea typeface="Inter Display" pitchFamily="34" charset="-122"/>
                <a:cs typeface="Inter Display" pitchFamily="34" charset="-120"/>
              </a:rPr>
              <a:t>2–4 PLAYERS</a:t>
            </a:r>
            <a:endParaRPr lang="en-US" sz="1050" dirty="0"/>
          </a:p>
        </p:txBody>
      </p:sp>
      <p:sp>
        <p:nvSpPr>
          <p:cNvPr id="14" name="Shape 12"/>
          <p:cNvSpPr/>
          <p:nvPr/>
        </p:nvSpPr>
        <p:spPr>
          <a:xfrm>
            <a:off x="2139696" y="5266944"/>
            <a:ext cx="1353312" cy="365760"/>
          </a:xfrm>
          <a:prstGeom prst="roundRect">
            <a:avLst>
              <a:gd name="adj" fmla="val 47500"/>
            </a:avLst>
          </a:prstGeom>
          <a:solidFill>
            <a:srgbClr val="2D2250"/>
          </a:solidFill>
          <a:ln w="12700">
            <a:solidFill>
              <a:srgbClr val="2D2250">
                <a:alpha val="0"/>
              </a:srgbClr>
            </a:solidFill>
            <a:prstDash val="solid"/>
          </a:ln>
        </p:spPr>
      </p:sp>
      <p:sp>
        <p:nvSpPr>
          <p:cNvPr id="15" name="Text 13"/>
          <p:cNvSpPr/>
          <p:nvPr/>
        </p:nvSpPr>
        <p:spPr>
          <a:xfrm>
            <a:off x="2249424" y="5308092"/>
            <a:ext cx="1133856" cy="256032"/>
          </a:xfrm>
          <a:prstGeom prst="rect">
            <a:avLst/>
          </a:prstGeom>
          <a:noFill/>
          <a:ln/>
        </p:spPr>
        <p:txBody>
          <a:bodyPr wrap="square" lIns="0" tIns="0" rIns="0" bIns="0" rtlCol="0" anchor="ctr">
            <a:normAutofit/>
          </a:bodyPr>
          <a:lstStyle/>
          <a:p>
            <a:pPr algn="ctr" indent="0" marL="0">
              <a:buNone/>
            </a:pPr>
            <a:r>
              <a:rPr lang="en-US" sz="1050" b="1" dirty="0">
                <a:solidFill>
                  <a:srgbClr val="E9E0FF"/>
                </a:solidFill>
                <a:latin typeface="Inter Display" pitchFamily="34" charset="0"/>
                <a:ea typeface="Inter Display" pitchFamily="34" charset="-122"/>
                <a:cs typeface="Inter Display" pitchFamily="34" charset="-120"/>
              </a:rPr>
              <a:t>8 SKETCHES</a:t>
            </a:r>
            <a:endParaRPr lang="en-US" sz="1050" dirty="0"/>
          </a:p>
        </p:txBody>
      </p:sp>
      <p:sp>
        <p:nvSpPr>
          <p:cNvPr id="16" name="Shape 14"/>
          <p:cNvSpPr/>
          <p:nvPr/>
        </p:nvSpPr>
        <p:spPr>
          <a:xfrm>
            <a:off x="3621024" y="5266944"/>
            <a:ext cx="1618488" cy="365760"/>
          </a:xfrm>
          <a:prstGeom prst="roundRect">
            <a:avLst>
              <a:gd name="adj" fmla="val 47500"/>
            </a:avLst>
          </a:prstGeom>
          <a:solidFill>
            <a:srgbClr val="2D2250"/>
          </a:solidFill>
          <a:ln w="12700">
            <a:solidFill>
              <a:srgbClr val="2D2250">
                <a:alpha val="0"/>
              </a:srgbClr>
            </a:solidFill>
            <a:prstDash val="solid"/>
          </a:ln>
        </p:spPr>
      </p:sp>
      <p:sp>
        <p:nvSpPr>
          <p:cNvPr id="17" name="Text 15"/>
          <p:cNvSpPr/>
          <p:nvPr/>
        </p:nvSpPr>
        <p:spPr>
          <a:xfrm>
            <a:off x="3730752" y="5308092"/>
            <a:ext cx="1399032" cy="256032"/>
          </a:xfrm>
          <a:prstGeom prst="rect">
            <a:avLst/>
          </a:prstGeom>
          <a:noFill/>
          <a:ln/>
        </p:spPr>
        <p:txBody>
          <a:bodyPr wrap="square" lIns="0" tIns="0" rIns="0" bIns="0" rtlCol="0" anchor="ctr">
            <a:normAutofit/>
          </a:bodyPr>
          <a:lstStyle/>
          <a:p>
            <a:pPr algn="ctr" indent="0" marL="0">
              <a:buNone/>
            </a:pPr>
            <a:r>
              <a:rPr lang="en-US" sz="1050" b="1" dirty="0">
                <a:solidFill>
                  <a:srgbClr val="E9E0FF"/>
                </a:solidFill>
                <a:latin typeface="Inter Display" pitchFamily="34" charset="0"/>
                <a:ea typeface="Inter Display" pitchFamily="34" charset="-122"/>
                <a:cs typeface="Inter Display" pitchFamily="34" charset="-120"/>
              </a:rPr>
              <a:t>3 ROUNDS EACH</a:t>
            </a:r>
            <a:endParaRPr lang="en-US" sz="1050" dirty="0"/>
          </a:p>
        </p:txBody>
      </p:sp>
      <p:sp>
        <p:nvSpPr>
          <p:cNvPr id="18" name="Shape 16"/>
          <p:cNvSpPr/>
          <p:nvPr/>
        </p:nvSpPr>
        <p:spPr>
          <a:xfrm>
            <a:off x="5669280" y="1298448"/>
            <a:ext cx="6135624" cy="3913632"/>
          </a:xfrm>
          <a:prstGeom prst="roundRect">
            <a:avLst>
              <a:gd name="adj" fmla="val 5374"/>
            </a:avLst>
          </a:prstGeom>
          <a:solidFill>
            <a:srgbClr val="2D1F4A"/>
          </a:solidFill>
          <a:ln w="15240">
            <a:solidFill>
              <a:srgbClr val="65468C"/>
            </a:solidFill>
            <a:prstDash val="solid"/>
          </a:ln>
        </p:spPr>
      </p:sp>
      <p:pic>
        <p:nvPicPr>
          <p:cNvPr id="19" name="Image 0" descr="/mnt/data/sq_pitch_assets/home.png">    </p:cNvPr>
          <p:cNvPicPr>
            <a:picLocks noChangeAspect="1"/>
          </p:cNvPicPr>
          <p:nvPr/>
        </p:nvPicPr>
        <p:blipFill>
          <a:blip r:embed="rId1"/>
          <a:stretch>
            <a:fillRect/>
          </a:stretch>
        </p:blipFill>
        <p:spPr>
          <a:xfrm>
            <a:off x="5779008" y="1417320"/>
            <a:ext cx="5916168" cy="3328416"/>
          </a:xfrm>
          <a:prstGeom prst="rect">
            <a:avLst/>
          </a:prstGeom>
        </p:spPr>
      </p:pic>
      <p:sp>
        <p:nvSpPr>
          <p:cNvPr id="20" name="Text 17"/>
          <p:cNvSpPr/>
          <p:nvPr/>
        </p:nvSpPr>
        <p:spPr>
          <a:xfrm>
            <a:off x="5897880" y="4965192"/>
            <a:ext cx="5724144" cy="338328"/>
          </a:xfrm>
          <a:prstGeom prst="rect">
            <a:avLst/>
          </a:prstGeom>
          <a:noFill/>
          <a:ln/>
        </p:spPr>
        <p:txBody>
          <a:bodyPr wrap="square" lIns="0" tIns="0" rIns="0" bIns="0" rtlCol="0" anchor="ctr">
            <a:normAutofit/>
          </a:bodyPr>
          <a:lstStyle/>
          <a:p>
            <a:pPr algn="ctr" indent="0" marL="0">
              <a:buNone/>
            </a:pPr>
            <a:r>
              <a:rPr lang="en-US" sz="1120" b="1" spc="100" kern="0" dirty="0">
                <a:solidFill>
                  <a:srgbClr val="42D4F4"/>
                </a:solidFill>
                <a:latin typeface="Inter Display" pitchFamily="34" charset="0"/>
                <a:ea typeface="Inter Display" pitchFamily="34" charset="-122"/>
                <a:cs typeface="Inter Display" pitchFamily="34" charset="-120"/>
              </a:rPr>
              <a:t>LIVE PROTOTYPE • APPLE TV 4K SIMULATOR</a:t>
            </a:r>
            <a:endParaRPr lang="en-US" sz="1120" dirty="0"/>
          </a:p>
        </p:txBody>
      </p:sp>
      <p:sp>
        <p:nvSpPr>
          <p:cNvPr id="21" name="Text 18"/>
          <p:cNvSpPr/>
          <p:nvPr/>
        </p:nvSpPr>
        <p:spPr>
          <a:xfrm>
            <a:off x="667512" y="6236208"/>
            <a:ext cx="8915400" cy="228600"/>
          </a:xfrm>
          <a:prstGeom prst="rect">
            <a:avLst/>
          </a:prstGeom>
          <a:noFill/>
          <a:ln/>
        </p:spPr>
        <p:txBody>
          <a:bodyPr wrap="square" lIns="0" tIns="0" rIns="0" bIns="0" rtlCol="0" anchor="ctr">
            <a:normAutofit/>
          </a:bodyPr>
          <a:lstStyle/>
          <a:p>
            <a:pPr indent="0" marL="0">
              <a:buNone/>
            </a:pPr>
            <a:r>
              <a:rPr lang="en-US" sz="1100" dirty="0">
                <a:solidFill>
                  <a:srgbClr val="B6AACF"/>
                </a:solidFill>
                <a:latin typeface="Inter" pitchFamily="34" charset="0"/>
                <a:ea typeface="Inter" pitchFamily="34" charset="-122"/>
                <a:cs typeface="Inter" pitchFamily="34" charset="-120"/>
              </a:rPr>
              <a:t>SE4041 Mobile Application Design &amp; Development  •  Assignment 02 / Part B</a:t>
            </a:r>
            <a:endParaRPr lang="en-US" sz="1100" dirty="0"/>
          </a:p>
        </p:txBody>
      </p:sp>
      <p:sp>
        <p:nvSpPr>
          <p:cNvPr id="22" name="Text 19"/>
          <p:cNvSpPr/>
          <p:nvPr/>
        </p:nvSpPr>
        <p:spPr>
          <a:xfrm>
            <a:off x="10259568" y="6236208"/>
            <a:ext cx="1143000" cy="228600"/>
          </a:xfrm>
          <a:prstGeom prst="rect">
            <a:avLst/>
          </a:prstGeom>
          <a:noFill/>
          <a:ln/>
        </p:spPr>
        <p:txBody>
          <a:bodyPr wrap="square" lIns="0" tIns="0" rIns="0" bIns="0" rtlCol="0" anchor="ctr">
            <a:normAutofit/>
          </a:bodyPr>
          <a:lstStyle/>
          <a:p>
            <a:pPr algn="r" indent="0" marL="0">
              <a:buNone/>
            </a:pPr>
            <a:r>
              <a:rPr lang="en-US" sz="1100" b="1" dirty="0">
                <a:solidFill>
                  <a:srgbClr val="B6AACF"/>
                </a:solidFill>
                <a:latin typeface="Inter Display" pitchFamily="34" charset="0"/>
                <a:ea typeface="Inter Display" pitchFamily="34" charset="-122"/>
                <a:cs typeface="Inter Display" pitchFamily="34" charset="-120"/>
              </a:rPr>
              <a:t>IT22214102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Shape 1"/>
          <p:cNvSpPr/>
          <p:nvPr/>
        </p:nvSpPr>
        <p:spPr>
          <a:xfrm>
            <a:off x="9290304" y="0"/>
            <a:ext cx="2880360" cy="2880360"/>
          </a:xfrm>
          <a:prstGeom prst="ellipse">
            <a:avLst/>
          </a:prstGeom>
          <a:solidFill>
            <a:srgbClr val="402273">
              <a:alpha val="35000"/>
            </a:srgbClr>
          </a:solidFill>
          <a:ln w="12700">
            <a:solidFill>
              <a:srgbClr val="402273">
                <a:alpha val="0"/>
              </a:srgbClr>
            </a:solidFill>
            <a:prstDash val="solid"/>
          </a:ln>
        </p:spPr>
      </p:sp>
      <p:sp>
        <p:nvSpPr>
          <p:cNvPr id="4" name="Shape 2"/>
          <p:cNvSpPr/>
          <p:nvPr/>
        </p:nvSpPr>
        <p:spPr>
          <a:xfrm>
            <a:off x="0" y="5047488"/>
            <a:ext cx="1773936" cy="1773936"/>
          </a:xfrm>
          <a:prstGeom prst="ellipse">
            <a:avLst/>
          </a:prstGeom>
          <a:solidFill>
            <a:srgbClr val="2C1A61">
              <a:alpha val="36000"/>
            </a:srgbClr>
          </a:solidFill>
          <a:ln w="12700">
            <a:solidFill>
              <a:srgbClr val="2C1A61">
                <a:alpha val="0"/>
              </a:srgbClr>
            </a:solidFill>
            <a:prstDash val="solid"/>
          </a:ln>
        </p:spPr>
      </p:sp>
      <p:sp>
        <p:nvSpPr>
          <p:cNvPr id="5" name="Shape 3"/>
          <p:cNvSpPr/>
          <p:nvPr/>
        </p:nvSpPr>
        <p:spPr>
          <a:xfrm>
            <a:off x="6583680" y="5175504"/>
            <a:ext cx="1572768" cy="1572768"/>
          </a:xfrm>
          <a:prstGeom prst="ellipse">
            <a:avLst/>
          </a:prstGeom>
          <a:solidFill>
            <a:srgbClr val="3B2079">
              <a:alpha val="16000"/>
            </a:srgbClr>
          </a:solidFill>
          <a:ln w="12700">
            <a:solidFill>
              <a:srgbClr val="3B2079">
                <a:alpha val="0"/>
              </a:srgbClr>
            </a:solidFill>
            <a:prstDash val="solid"/>
          </a:ln>
        </p:spPr>
      </p:sp>
      <p:sp>
        <p:nvSpPr>
          <p:cNvPr id="6" name="Text 4"/>
          <p:cNvSpPr/>
          <p:nvPr/>
        </p:nvSpPr>
        <p:spPr>
          <a:xfrm>
            <a:off x="566928" y="329184"/>
            <a:ext cx="7315200" cy="237744"/>
          </a:xfrm>
          <a:prstGeom prst="rect">
            <a:avLst/>
          </a:prstGeom>
          <a:noFill/>
          <a:ln/>
        </p:spPr>
        <p:txBody>
          <a:bodyPr wrap="square" lIns="0" tIns="0" rIns="0" bIns="0" rtlCol="0" anchor="ctr">
            <a:normAutofit/>
          </a:bodyPr>
          <a:lstStyle/>
          <a:p>
            <a:pPr indent="0" marL="0">
              <a:buNone/>
            </a:pPr>
            <a:r>
              <a:rPr lang="en-US" sz="1050" b="1" spc="200" kern="0" dirty="0">
                <a:solidFill>
                  <a:srgbClr val="E04CF4"/>
                </a:solidFill>
                <a:latin typeface="Inter Display" pitchFamily="34" charset="0"/>
                <a:ea typeface="Inter Display" pitchFamily="34" charset="-122"/>
                <a:cs typeface="Inter Display" pitchFamily="34" charset="-120"/>
              </a:rPr>
              <a:t>01 / OPPORTUNITY</a:t>
            </a:r>
            <a:endParaRPr lang="en-US" sz="1050" dirty="0"/>
          </a:p>
        </p:txBody>
      </p:sp>
      <p:sp>
        <p:nvSpPr>
          <p:cNvPr id="7" name="Text 5"/>
          <p:cNvSpPr/>
          <p:nvPr/>
        </p:nvSpPr>
        <p:spPr>
          <a:xfrm>
            <a:off x="566928" y="768096"/>
            <a:ext cx="11082528" cy="576072"/>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Inter Display" pitchFamily="34" charset="0"/>
                <a:ea typeface="Inter Display" pitchFamily="34" charset="-122"/>
                <a:cs typeface="Inter Display" pitchFamily="34" charset="-120"/>
              </a:rPr>
              <a:t>Party games can be easier to join.</a:t>
            </a:r>
            <a:endParaRPr lang="en-US" sz="3200" dirty="0"/>
          </a:p>
        </p:txBody>
      </p:sp>
      <p:sp>
        <p:nvSpPr>
          <p:cNvPr id="8" name="Text 6"/>
          <p:cNvSpPr/>
          <p:nvPr/>
        </p:nvSpPr>
        <p:spPr>
          <a:xfrm>
            <a:off x="594360" y="1389888"/>
            <a:ext cx="10899648" cy="438912"/>
          </a:xfrm>
          <a:prstGeom prst="rect">
            <a:avLst/>
          </a:prstGeom>
          <a:noFill/>
          <a:ln/>
        </p:spPr>
        <p:txBody>
          <a:bodyPr wrap="square" lIns="0" tIns="0" rIns="0" bIns="0" rtlCol="0" anchor="ctr">
            <a:normAutofit/>
          </a:bodyPr>
          <a:lstStyle/>
          <a:p>
            <a:pPr indent="0" marL="0">
              <a:buNone/>
            </a:pPr>
            <a:r>
              <a:rPr lang="en-US" sz="1540" dirty="0">
                <a:solidFill>
                  <a:srgbClr val="B6AACF"/>
                </a:solidFill>
                <a:latin typeface="Inter" pitchFamily="34" charset="0"/>
                <a:ea typeface="Inter" pitchFamily="34" charset="-122"/>
                <a:cs typeface="Inter" pitchFamily="34" charset="-120"/>
              </a:rPr>
              <a:t>A shared television already brings people together; the interaction should be just as simple.</a:t>
            </a:r>
            <a:endParaRPr lang="en-US" sz="1540" dirty="0"/>
          </a:p>
        </p:txBody>
      </p:sp>
      <p:sp>
        <p:nvSpPr>
          <p:cNvPr id="9" name="Shape 7"/>
          <p:cNvSpPr/>
          <p:nvPr/>
        </p:nvSpPr>
        <p:spPr>
          <a:xfrm>
            <a:off x="594360" y="1993392"/>
            <a:ext cx="5440680" cy="3246120"/>
          </a:xfrm>
          <a:prstGeom prst="roundRect">
            <a:avLst>
              <a:gd name="adj" fmla="val 6197"/>
            </a:avLst>
          </a:prstGeom>
          <a:solidFill>
            <a:srgbClr val="21173B"/>
          </a:solidFill>
          <a:ln w="10160">
            <a:solidFill>
              <a:srgbClr val="4C356B"/>
            </a:solidFill>
            <a:prstDash val="solid"/>
          </a:ln>
        </p:spPr>
      </p:sp>
      <p:sp>
        <p:nvSpPr>
          <p:cNvPr id="10" name="Text 8"/>
          <p:cNvSpPr/>
          <p:nvPr/>
        </p:nvSpPr>
        <p:spPr>
          <a:xfrm>
            <a:off x="886968" y="2286000"/>
            <a:ext cx="4206240" cy="365760"/>
          </a:xfrm>
          <a:prstGeom prst="rect">
            <a:avLst/>
          </a:prstGeom>
          <a:noFill/>
          <a:ln/>
        </p:spPr>
        <p:txBody>
          <a:bodyPr wrap="square" lIns="0" tIns="0" rIns="0" bIns="0" rtlCol="0" anchor="ctr">
            <a:normAutofit/>
          </a:bodyPr>
          <a:lstStyle/>
          <a:p>
            <a:pPr indent="0" marL="0">
              <a:buNone/>
            </a:pPr>
            <a:r>
              <a:rPr lang="en-US" sz="1350" b="1" spc="170" kern="0" dirty="0">
                <a:solidFill>
                  <a:srgbClr val="E04CF4"/>
                </a:solidFill>
                <a:latin typeface="Inter Display" pitchFamily="34" charset="0"/>
                <a:ea typeface="Inter Display" pitchFamily="34" charset="-122"/>
                <a:cs typeface="Inter Display" pitchFamily="34" charset="-120"/>
              </a:rPr>
              <a:t>THE FRICTION</a:t>
            </a:r>
            <a:endParaRPr lang="en-US" sz="1350" dirty="0"/>
          </a:p>
        </p:txBody>
      </p:sp>
      <p:sp>
        <p:nvSpPr>
          <p:cNvPr id="11" name="Text 9"/>
          <p:cNvSpPr/>
          <p:nvPr/>
        </p:nvSpPr>
        <p:spPr>
          <a:xfrm>
            <a:off x="877824" y="2770632"/>
            <a:ext cx="4718304" cy="1161288"/>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Inter Display" pitchFamily="34" charset="0"/>
                <a:ea typeface="Inter Display" pitchFamily="34" charset="-122"/>
                <a:cs typeface="Inter Display" pitchFamily="34" charset="-120"/>
              </a:rPr>
              <a:t>Extra setup can</a:t>
            </a:r>
            <a:endParaRPr lang="en-US" sz="3100" dirty="0"/>
          </a:p>
          <a:p>
            <a:pPr indent="0" marL="0">
              <a:buNone/>
            </a:pPr>
            <a:r>
              <a:rPr lang="en-US" sz="3100" b="1" dirty="0">
                <a:solidFill>
                  <a:srgbClr val="FFFFFF"/>
                </a:solidFill>
                <a:latin typeface="Inter Display" pitchFamily="34" charset="0"/>
                <a:ea typeface="Inter Display" pitchFamily="34" charset="-122"/>
                <a:cs typeface="Inter Display" pitchFamily="34" charset="-120"/>
              </a:rPr>
              <a:t>slow down play.</a:t>
            </a:r>
            <a:endParaRPr lang="en-US" sz="3100" dirty="0"/>
          </a:p>
        </p:txBody>
      </p:sp>
      <p:sp>
        <p:nvSpPr>
          <p:cNvPr id="12" name="Text 10"/>
          <p:cNvSpPr/>
          <p:nvPr/>
        </p:nvSpPr>
        <p:spPr>
          <a:xfrm>
            <a:off x="896112" y="4315968"/>
            <a:ext cx="4562856" cy="658368"/>
          </a:xfrm>
          <a:prstGeom prst="rect">
            <a:avLst/>
          </a:prstGeom>
          <a:noFill/>
          <a:ln/>
        </p:spPr>
        <p:txBody>
          <a:bodyPr wrap="square" lIns="0" tIns="0" rIns="0" bIns="0" rtlCol="0" anchor="ctr">
            <a:normAutofit/>
          </a:bodyPr>
          <a:lstStyle/>
          <a:p>
            <a:pPr indent="0" marL="0">
              <a:buNone/>
            </a:pPr>
            <a:r>
              <a:rPr lang="en-US" sz="1500" dirty="0">
                <a:solidFill>
                  <a:srgbClr val="B6AACF"/>
                </a:solidFill>
                <a:latin typeface="Inter" pitchFamily="34" charset="0"/>
                <a:ea typeface="Inter" pitchFamily="34" charset="-122"/>
                <a:cs typeface="Inter" pitchFamily="34" charset="-120"/>
              </a:rPr>
              <a:t>Some drawing games rely on personal phones, browsers, drawing turns or text-entry.</a:t>
            </a:r>
            <a:endParaRPr lang="en-US" sz="1500" dirty="0"/>
          </a:p>
        </p:txBody>
      </p:sp>
      <p:sp>
        <p:nvSpPr>
          <p:cNvPr id="13" name="Shape 11"/>
          <p:cNvSpPr/>
          <p:nvPr/>
        </p:nvSpPr>
        <p:spPr>
          <a:xfrm>
            <a:off x="6245352" y="1993392"/>
            <a:ext cx="5321808" cy="3246120"/>
          </a:xfrm>
          <a:prstGeom prst="roundRect">
            <a:avLst>
              <a:gd name="adj" fmla="val 6197"/>
            </a:avLst>
          </a:prstGeom>
          <a:solidFill>
            <a:srgbClr val="2B1C4B"/>
          </a:solidFill>
          <a:ln w="10160">
            <a:solidFill>
              <a:srgbClr val="68468E"/>
            </a:solidFill>
            <a:prstDash val="solid"/>
          </a:ln>
        </p:spPr>
      </p:sp>
      <p:sp>
        <p:nvSpPr>
          <p:cNvPr id="14" name="Text 12"/>
          <p:cNvSpPr/>
          <p:nvPr/>
        </p:nvSpPr>
        <p:spPr>
          <a:xfrm>
            <a:off x="6547104" y="2286000"/>
            <a:ext cx="4297680" cy="365760"/>
          </a:xfrm>
          <a:prstGeom prst="rect">
            <a:avLst/>
          </a:prstGeom>
          <a:noFill/>
          <a:ln/>
        </p:spPr>
        <p:txBody>
          <a:bodyPr wrap="square" lIns="0" tIns="0" rIns="0" bIns="0" rtlCol="0" anchor="ctr">
            <a:normAutofit/>
          </a:bodyPr>
          <a:lstStyle/>
          <a:p>
            <a:pPr indent="0" marL="0">
              <a:buNone/>
            </a:pPr>
            <a:r>
              <a:rPr lang="en-US" sz="1350" b="1" spc="170" kern="0" dirty="0">
                <a:solidFill>
                  <a:srgbClr val="42D4F4"/>
                </a:solidFill>
                <a:latin typeface="Inter Display" pitchFamily="34" charset="0"/>
                <a:ea typeface="Inter Display" pitchFamily="34" charset="-122"/>
                <a:cs typeface="Inter Display" pitchFamily="34" charset="-120"/>
              </a:rPr>
              <a:t>OUR DIRECTION</a:t>
            </a:r>
            <a:endParaRPr lang="en-US" sz="1350" dirty="0"/>
          </a:p>
        </p:txBody>
      </p:sp>
      <p:sp>
        <p:nvSpPr>
          <p:cNvPr id="15" name="Text 13"/>
          <p:cNvSpPr/>
          <p:nvPr/>
        </p:nvSpPr>
        <p:spPr>
          <a:xfrm>
            <a:off x="6537960" y="2770632"/>
            <a:ext cx="4572000" cy="1161288"/>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Inter Display" pitchFamily="34" charset="0"/>
                <a:ea typeface="Inter Display" pitchFamily="34" charset="-122"/>
                <a:cs typeface="Inter Display" pitchFamily="34" charset="-120"/>
              </a:rPr>
              <a:t>Sit down. Look up.</a:t>
            </a:r>
            <a:endParaRPr lang="en-US" sz="3100" dirty="0"/>
          </a:p>
          <a:p>
            <a:pPr indent="0" marL="0">
              <a:buNone/>
            </a:pPr>
            <a:r>
              <a:rPr lang="en-US" sz="3100" b="1" dirty="0">
                <a:solidFill>
                  <a:srgbClr val="FFFFFF"/>
                </a:solidFill>
                <a:latin typeface="Inter Display" pitchFamily="34" charset="0"/>
                <a:ea typeface="Inter Display" pitchFamily="34" charset="-122"/>
                <a:cs typeface="Inter Display" pitchFamily="34" charset="-120"/>
              </a:rPr>
              <a:t>Start guessing.</a:t>
            </a:r>
            <a:endParaRPr lang="en-US" sz="3100" dirty="0"/>
          </a:p>
        </p:txBody>
      </p:sp>
      <p:sp>
        <p:nvSpPr>
          <p:cNvPr id="16" name="Text 14"/>
          <p:cNvSpPr/>
          <p:nvPr/>
        </p:nvSpPr>
        <p:spPr>
          <a:xfrm>
            <a:off x="6547104" y="4315968"/>
            <a:ext cx="4562856" cy="658368"/>
          </a:xfrm>
          <a:prstGeom prst="rect">
            <a:avLst/>
          </a:prstGeom>
          <a:noFill/>
          <a:ln/>
        </p:spPr>
        <p:txBody>
          <a:bodyPr wrap="square" lIns="0" tIns="0" rIns="0" bIns="0" rtlCol="0" anchor="ctr">
            <a:normAutofit/>
          </a:bodyPr>
          <a:lstStyle/>
          <a:p>
            <a:pPr indent="0" marL="0">
              <a:buNone/>
            </a:pPr>
            <a:r>
              <a:rPr lang="en-US" sz="1500" dirty="0">
                <a:solidFill>
                  <a:srgbClr val="B6AACF"/>
                </a:solidFill>
                <a:latin typeface="Inter" pitchFamily="34" charset="0"/>
                <a:ea typeface="Inter" pitchFamily="34" charset="-122"/>
                <a:cs typeface="Inter" pitchFamily="34" charset="-120"/>
              </a:rPr>
              <a:t>One shared remote, clear vector drawings, quick choices and a visible scoreboard.</a:t>
            </a:r>
            <a:endParaRPr lang="en-US" sz="1500" dirty="0"/>
          </a:p>
        </p:txBody>
      </p:sp>
      <p:sp>
        <p:nvSpPr>
          <p:cNvPr id="17" name="Shape 15"/>
          <p:cNvSpPr/>
          <p:nvPr/>
        </p:nvSpPr>
        <p:spPr>
          <a:xfrm>
            <a:off x="3483864" y="5760720"/>
            <a:ext cx="5276088" cy="365760"/>
          </a:xfrm>
          <a:prstGeom prst="roundRect">
            <a:avLst>
              <a:gd name="adj" fmla="val 47500"/>
            </a:avLst>
          </a:prstGeom>
          <a:solidFill>
            <a:srgbClr val="39255F"/>
          </a:solidFill>
          <a:ln w="12700">
            <a:solidFill>
              <a:srgbClr val="39255F">
                <a:alpha val="0"/>
              </a:srgbClr>
            </a:solidFill>
            <a:prstDash val="solid"/>
          </a:ln>
        </p:spPr>
      </p:sp>
      <p:sp>
        <p:nvSpPr>
          <p:cNvPr id="18" name="Text 16"/>
          <p:cNvSpPr/>
          <p:nvPr/>
        </p:nvSpPr>
        <p:spPr>
          <a:xfrm>
            <a:off x="3593592" y="5801868"/>
            <a:ext cx="5056632" cy="256032"/>
          </a:xfrm>
          <a:prstGeom prst="rect">
            <a:avLst/>
          </a:prstGeom>
          <a:noFill/>
          <a:ln/>
        </p:spPr>
        <p:txBody>
          <a:bodyPr wrap="square" lIns="0" tIns="0" rIns="0" bIns="0" rtlCol="0" anchor="ctr">
            <a:normAutofit/>
          </a:bodyPr>
          <a:lstStyle/>
          <a:p>
            <a:pPr algn="ctr" indent="0" marL="0">
              <a:buNone/>
            </a:pPr>
            <a:r>
              <a:rPr lang="en-US" sz="1050" b="1" dirty="0">
                <a:solidFill>
                  <a:srgbClr val="E9E0FF"/>
                </a:solidFill>
                <a:latin typeface="Inter Display" pitchFamily="34" charset="0"/>
                <a:ea typeface="Inter Display" pitchFamily="34" charset="-122"/>
                <a:cs typeface="Inter Display" pitchFamily="34" charset="-120"/>
              </a:rPr>
              <a:t>DESIGN GOAL: LOW-FRICTION LOCAL PLAY</a:t>
            </a:r>
            <a:endParaRPr lang="en-US" sz="1050" dirty="0"/>
          </a:p>
        </p:txBody>
      </p:sp>
      <p:sp>
        <p:nvSpPr>
          <p:cNvPr id="19" name="Shape 17"/>
          <p:cNvSpPr/>
          <p:nvPr/>
        </p:nvSpPr>
        <p:spPr>
          <a:xfrm>
            <a:off x="566928" y="6556248"/>
            <a:ext cx="11045952" cy="0"/>
          </a:xfrm>
          <a:prstGeom prst="line">
            <a:avLst/>
          </a:prstGeom>
          <a:noFill/>
          <a:ln w="8890">
            <a:solidFill>
              <a:srgbClr val="44365D">
                <a:alpha val="80000"/>
              </a:srgbClr>
            </a:solidFill>
            <a:prstDash val="solid"/>
          </a:ln>
        </p:spPr>
      </p:sp>
      <p:sp>
        <p:nvSpPr>
          <p:cNvPr id="20" name="Text 18"/>
          <p:cNvSpPr/>
          <p:nvPr/>
        </p:nvSpPr>
        <p:spPr>
          <a:xfrm>
            <a:off x="585216" y="6601968"/>
            <a:ext cx="7772400" cy="155448"/>
          </a:xfrm>
          <a:prstGeom prst="rect">
            <a:avLst/>
          </a:prstGeom>
          <a:noFill/>
          <a:ln/>
        </p:spPr>
        <p:txBody>
          <a:bodyPr wrap="square" lIns="0" tIns="0" rIns="0" bIns="0" rtlCol="0" anchor="ctr">
            <a:normAutofit/>
          </a:bodyPr>
          <a:lstStyle/>
          <a:p>
            <a:pPr indent="0" marL="0">
              <a:buNone/>
            </a:pPr>
            <a:r>
              <a:rPr lang="en-US" sz="900" b="1" spc="50" kern="0" dirty="0">
                <a:solidFill>
                  <a:srgbClr val="B6AACF"/>
                </a:solidFill>
                <a:latin typeface="Inter Display" pitchFamily="34" charset="0"/>
                <a:ea typeface="Inter Display" pitchFamily="34" charset="-122"/>
                <a:cs typeface="Inter Display" pitchFamily="34" charset="-120"/>
              </a:rPr>
              <a:t>SKETCHQUEST PARTY  /  SE4041 — PART B</a:t>
            </a:r>
            <a:endParaRPr lang="en-US" sz="900" dirty="0"/>
          </a:p>
        </p:txBody>
      </p:sp>
      <p:sp>
        <p:nvSpPr>
          <p:cNvPr id="21" name="Text 19"/>
          <p:cNvSpPr/>
          <p:nvPr/>
        </p:nvSpPr>
        <p:spPr>
          <a:xfrm>
            <a:off x="11155680" y="6583680"/>
            <a:ext cx="457200" cy="201168"/>
          </a:xfrm>
          <a:prstGeom prst="rect">
            <a:avLst/>
          </a:prstGeom>
          <a:noFill/>
          <a:ln/>
        </p:spPr>
        <p:txBody>
          <a:bodyPr wrap="square" lIns="0" tIns="0" rIns="0" bIns="0" rtlCol="0" anchor="ctr">
            <a:normAutofit/>
          </a:bodyPr>
          <a:lstStyle/>
          <a:p>
            <a:pPr algn="r" indent="0" marL="0">
              <a:buNone/>
            </a:pPr>
            <a:r>
              <a:rPr lang="en-US" sz="950" b="1" dirty="0">
                <a:solidFill>
                  <a:srgbClr val="B6AACF"/>
                </a:solidFill>
                <a:latin typeface="Inter Display" pitchFamily="34" charset="0"/>
                <a:ea typeface="Inter Display" pitchFamily="34" charset="-122"/>
                <a:cs typeface="Inter Display"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Shape 1"/>
          <p:cNvSpPr/>
          <p:nvPr/>
        </p:nvSpPr>
        <p:spPr>
          <a:xfrm>
            <a:off x="9290304" y="0"/>
            <a:ext cx="2880360" cy="2880360"/>
          </a:xfrm>
          <a:prstGeom prst="ellipse">
            <a:avLst/>
          </a:prstGeom>
          <a:solidFill>
            <a:srgbClr val="402273">
              <a:alpha val="35000"/>
            </a:srgbClr>
          </a:solidFill>
          <a:ln w="12700">
            <a:solidFill>
              <a:srgbClr val="402273">
                <a:alpha val="0"/>
              </a:srgbClr>
            </a:solidFill>
            <a:prstDash val="solid"/>
          </a:ln>
        </p:spPr>
      </p:sp>
      <p:sp>
        <p:nvSpPr>
          <p:cNvPr id="4" name="Shape 2"/>
          <p:cNvSpPr/>
          <p:nvPr/>
        </p:nvSpPr>
        <p:spPr>
          <a:xfrm>
            <a:off x="0" y="5047488"/>
            <a:ext cx="1773936" cy="1773936"/>
          </a:xfrm>
          <a:prstGeom prst="ellipse">
            <a:avLst/>
          </a:prstGeom>
          <a:solidFill>
            <a:srgbClr val="2C1A61">
              <a:alpha val="36000"/>
            </a:srgbClr>
          </a:solidFill>
          <a:ln w="12700">
            <a:solidFill>
              <a:srgbClr val="2C1A61">
                <a:alpha val="0"/>
              </a:srgbClr>
            </a:solidFill>
            <a:prstDash val="solid"/>
          </a:ln>
        </p:spPr>
      </p:sp>
      <p:sp>
        <p:nvSpPr>
          <p:cNvPr id="5" name="Shape 3"/>
          <p:cNvSpPr/>
          <p:nvPr/>
        </p:nvSpPr>
        <p:spPr>
          <a:xfrm>
            <a:off x="6583680" y="5175504"/>
            <a:ext cx="1572768" cy="1572768"/>
          </a:xfrm>
          <a:prstGeom prst="ellipse">
            <a:avLst/>
          </a:prstGeom>
          <a:solidFill>
            <a:srgbClr val="3B2079">
              <a:alpha val="16000"/>
            </a:srgbClr>
          </a:solidFill>
          <a:ln w="12700">
            <a:solidFill>
              <a:srgbClr val="3B2079">
                <a:alpha val="0"/>
              </a:srgbClr>
            </a:solidFill>
            <a:prstDash val="solid"/>
          </a:ln>
        </p:spPr>
      </p:sp>
      <p:sp>
        <p:nvSpPr>
          <p:cNvPr id="6" name="Text 4"/>
          <p:cNvSpPr/>
          <p:nvPr/>
        </p:nvSpPr>
        <p:spPr>
          <a:xfrm>
            <a:off x="566928" y="329184"/>
            <a:ext cx="7315200" cy="237744"/>
          </a:xfrm>
          <a:prstGeom prst="rect">
            <a:avLst/>
          </a:prstGeom>
          <a:noFill/>
          <a:ln/>
        </p:spPr>
        <p:txBody>
          <a:bodyPr wrap="square" lIns="0" tIns="0" rIns="0" bIns="0" rtlCol="0" anchor="ctr">
            <a:normAutofit/>
          </a:bodyPr>
          <a:lstStyle/>
          <a:p>
            <a:pPr indent="0" marL="0">
              <a:buNone/>
            </a:pPr>
            <a:r>
              <a:rPr lang="en-US" sz="1050" b="1" spc="200" kern="0" dirty="0">
                <a:solidFill>
                  <a:srgbClr val="E04CF4"/>
                </a:solidFill>
                <a:latin typeface="Inter Display" pitchFamily="34" charset="0"/>
                <a:ea typeface="Inter Display" pitchFamily="34" charset="-122"/>
                <a:cs typeface="Inter Display" pitchFamily="34" charset="-120"/>
              </a:rPr>
              <a:t>02 / THE SOLUTION</a:t>
            </a:r>
            <a:endParaRPr lang="en-US" sz="1050" dirty="0"/>
          </a:p>
        </p:txBody>
      </p:sp>
      <p:sp>
        <p:nvSpPr>
          <p:cNvPr id="7" name="Text 5"/>
          <p:cNvSpPr/>
          <p:nvPr/>
        </p:nvSpPr>
        <p:spPr>
          <a:xfrm>
            <a:off x="566928" y="768096"/>
            <a:ext cx="11082528" cy="576072"/>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Inter Display" pitchFamily="34" charset="0"/>
                <a:ea typeface="Inter Display" pitchFamily="34" charset="-122"/>
                <a:cs typeface="Inter Display" pitchFamily="34" charset="-120"/>
              </a:rPr>
              <a:t>A sketch quiz built for the big screen.</a:t>
            </a:r>
            <a:endParaRPr lang="en-US" sz="3200" dirty="0"/>
          </a:p>
        </p:txBody>
      </p:sp>
      <p:sp>
        <p:nvSpPr>
          <p:cNvPr id="8" name="Text 6"/>
          <p:cNvSpPr/>
          <p:nvPr/>
        </p:nvSpPr>
        <p:spPr>
          <a:xfrm>
            <a:off x="594360" y="1389888"/>
            <a:ext cx="10899648" cy="438912"/>
          </a:xfrm>
          <a:prstGeom prst="rect">
            <a:avLst/>
          </a:prstGeom>
          <a:noFill/>
          <a:ln/>
        </p:spPr>
        <p:txBody>
          <a:bodyPr wrap="square" lIns="0" tIns="0" rIns="0" bIns="0" rtlCol="0" anchor="ctr">
            <a:normAutofit/>
          </a:bodyPr>
          <a:lstStyle/>
          <a:p>
            <a:pPr indent="0" marL="0">
              <a:buNone/>
            </a:pPr>
            <a:r>
              <a:rPr lang="en-US" sz="1540" dirty="0">
                <a:solidFill>
                  <a:srgbClr val="B6AACF"/>
                </a:solidFill>
                <a:latin typeface="Inter" pitchFamily="34" charset="0"/>
                <a:ea typeface="Inter" pitchFamily="34" charset="-122"/>
                <a:cs typeface="Inter" pitchFamily="34" charset="-120"/>
              </a:rPr>
              <a:t>Large visual prompts, four choices, turn-based fun — no drawing skills required.</a:t>
            </a:r>
            <a:endParaRPr lang="en-US" sz="1540" dirty="0"/>
          </a:p>
        </p:txBody>
      </p:sp>
      <p:sp>
        <p:nvSpPr>
          <p:cNvPr id="9" name="Shape 7"/>
          <p:cNvSpPr/>
          <p:nvPr/>
        </p:nvSpPr>
        <p:spPr>
          <a:xfrm>
            <a:off x="621792" y="1993392"/>
            <a:ext cx="7424928" cy="4041648"/>
          </a:xfrm>
          <a:prstGeom prst="roundRect">
            <a:avLst>
              <a:gd name="adj" fmla="val 4525"/>
            </a:avLst>
          </a:prstGeom>
          <a:solidFill>
            <a:srgbClr val="21183E"/>
          </a:solidFill>
          <a:ln w="11430">
            <a:solidFill>
              <a:srgbClr val="55416E"/>
            </a:solidFill>
            <a:prstDash val="solid"/>
          </a:ln>
        </p:spPr>
      </p:sp>
      <p:pic>
        <p:nvPicPr>
          <p:cNvPr id="10" name="Image 0" descr="/mnt/data/sq_pitch_assets/gameplay.png">    </p:cNvPr>
          <p:cNvPicPr>
            <a:picLocks noChangeAspect="1"/>
          </p:cNvPicPr>
          <p:nvPr/>
        </p:nvPicPr>
        <p:blipFill>
          <a:blip r:embed="rId1"/>
          <a:stretch>
            <a:fillRect/>
          </a:stretch>
        </p:blipFill>
        <p:spPr>
          <a:xfrm>
            <a:off x="749808" y="2148840"/>
            <a:ext cx="7168896" cy="3730752"/>
          </a:xfrm>
          <a:prstGeom prst="rect">
            <a:avLst/>
          </a:prstGeom>
        </p:spPr>
      </p:pic>
      <p:sp>
        <p:nvSpPr>
          <p:cNvPr id="11" name="Shape 8"/>
          <p:cNvSpPr/>
          <p:nvPr/>
        </p:nvSpPr>
        <p:spPr>
          <a:xfrm>
            <a:off x="8257032" y="2029968"/>
            <a:ext cx="3282696" cy="1188720"/>
          </a:xfrm>
          <a:prstGeom prst="roundRect">
            <a:avLst>
              <a:gd name="adj" fmla="val 15385"/>
            </a:avLst>
          </a:prstGeom>
          <a:solidFill>
            <a:srgbClr val="21183E">
              <a:alpha val="97000"/>
            </a:srgbClr>
          </a:solidFill>
          <a:ln w="8890">
            <a:solidFill>
              <a:srgbClr val="554071"/>
            </a:solidFill>
            <a:prstDash val="solid"/>
          </a:ln>
        </p:spPr>
      </p:sp>
      <p:sp>
        <p:nvSpPr>
          <p:cNvPr id="12" name="Shape 9"/>
          <p:cNvSpPr/>
          <p:nvPr/>
        </p:nvSpPr>
        <p:spPr>
          <a:xfrm>
            <a:off x="8439912" y="2249424"/>
            <a:ext cx="73152" cy="457200"/>
          </a:xfrm>
          <a:prstGeom prst="roundRect">
            <a:avLst>
              <a:gd name="adj" fmla="val 50000"/>
            </a:avLst>
          </a:prstGeom>
          <a:solidFill>
            <a:srgbClr val="E04CF4"/>
          </a:solidFill>
          <a:ln w="12700">
            <a:solidFill>
              <a:srgbClr val="E04CF4">
                <a:alpha val="0"/>
              </a:srgbClr>
            </a:solidFill>
            <a:prstDash val="solid"/>
          </a:ln>
        </p:spPr>
      </p:sp>
      <p:sp>
        <p:nvSpPr>
          <p:cNvPr id="13" name="Text 10"/>
          <p:cNvSpPr/>
          <p:nvPr/>
        </p:nvSpPr>
        <p:spPr>
          <a:xfrm>
            <a:off x="8686800" y="2212848"/>
            <a:ext cx="2642616" cy="39319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Inter Display" pitchFamily="34" charset="0"/>
                <a:ea typeface="Inter Display" pitchFamily="34" charset="-122"/>
                <a:cs typeface="Inter Display" pitchFamily="34" charset="-120"/>
              </a:rPr>
              <a:t>LOOK</a:t>
            </a:r>
            <a:endParaRPr lang="en-US" sz="1900" dirty="0"/>
          </a:p>
        </p:txBody>
      </p:sp>
      <p:sp>
        <p:nvSpPr>
          <p:cNvPr id="14" name="Text 11"/>
          <p:cNvSpPr/>
          <p:nvPr/>
        </p:nvSpPr>
        <p:spPr>
          <a:xfrm>
            <a:off x="8686800" y="2761488"/>
            <a:ext cx="2569464" cy="320040"/>
          </a:xfrm>
          <a:prstGeom prst="rect">
            <a:avLst/>
          </a:prstGeom>
          <a:noFill/>
          <a:ln/>
        </p:spPr>
        <p:txBody>
          <a:bodyPr wrap="square" lIns="0" tIns="0" rIns="0" bIns="0" rtlCol="0" anchor="t">
            <a:normAutofit/>
          </a:bodyPr>
          <a:lstStyle/>
          <a:p>
            <a:pPr indent="0" marL="0">
              <a:buNone/>
            </a:pPr>
            <a:r>
              <a:rPr lang="en-US" sz="1250" dirty="0">
                <a:solidFill>
                  <a:srgbClr val="B6AACF"/>
                </a:solidFill>
                <a:latin typeface="Inter" pitchFamily="34" charset="0"/>
                <a:ea typeface="Inter" pitchFamily="34" charset="-122"/>
                <a:cs typeface="Inter" pitchFamily="34" charset="-120"/>
              </a:rPr>
              <a:t>Clear, code-drawn artwork</a:t>
            </a:r>
            <a:endParaRPr lang="en-US" sz="1250" dirty="0"/>
          </a:p>
        </p:txBody>
      </p:sp>
      <p:sp>
        <p:nvSpPr>
          <p:cNvPr id="15" name="Shape 12"/>
          <p:cNvSpPr/>
          <p:nvPr/>
        </p:nvSpPr>
        <p:spPr>
          <a:xfrm>
            <a:off x="8257032" y="3392424"/>
            <a:ext cx="3282696" cy="1188720"/>
          </a:xfrm>
          <a:prstGeom prst="roundRect">
            <a:avLst>
              <a:gd name="adj" fmla="val 15385"/>
            </a:avLst>
          </a:prstGeom>
          <a:solidFill>
            <a:srgbClr val="21183E">
              <a:alpha val="97000"/>
            </a:srgbClr>
          </a:solidFill>
          <a:ln w="8890">
            <a:solidFill>
              <a:srgbClr val="554071"/>
            </a:solidFill>
            <a:prstDash val="solid"/>
          </a:ln>
        </p:spPr>
      </p:sp>
      <p:sp>
        <p:nvSpPr>
          <p:cNvPr id="16" name="Shape 13"/>
          <p:cNvSpPr/>
          <p:nvPr/>
        </p:nvSpPr>
        <p:spPr>
          <a:xfrm>
            <a:off x="8439912" y="3611880"/>
            <a:ext cx="73152" cy="457200"/>
          </a:xfrm>
          <a:prstGeom prst="roundRect">
            <a:avLst>
              <a:gd name="adj" fmla="val 50000"/>
            </a:avLst>
          </a:prstGeom>
          <a:solidFill>
            <a:srgbClr val="42D4F4"/>
          </a:solidFill>
          <a:ln w="12700">
            <a:solidFill>
              <a:srgbClr val="42D4F4">
                <a:alpha val="0"/>
              </a:srgbClr>
            </a:solidFill>
            <a:prstDash val="solid"/>
          </a:ln>
        </p:spPr>
      </p:sp>
      <p:sp>
        <p:nvSpPr>
          <p:cNvPr id="17" name="Text 14"/>
          <p:cNvSpPr/>
          <p:nvPr/>
        </p:nvSpPr>
        <p:spPr>
          <a:xfrm>
            <a:off x="8686800" y="3575304"/>
            <a:ext cx="2642616" cy="39319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Inter Display" pitchFamily="34" charset="0"/>
                <a:ea typeface="Inter Display" pitchFamily="34" charset="-122"/>
                <a:cs typeface="Inter Display" pitchFamily="34" charset="-120"/>
              </a:rPr>
              <a:t>GUESS</a:t>
            </a:r>
            <a:endParaRPr lang="en-US" sz="1900" dirty="0"/>
          </a:p>
        </p:txBody>
      </p:sp>
      <p:sp>
        <p:nvSpPr>
          <p:cNvPr id="18" name="Text 15"/>
          <p:cNvSpPr/>
          <p:nvPr/>
        </p:nvSpPr>
        <p:spPr>
          <a:xfrm>
            <a:off x="8686800" y="4123944"/>
            <a:ext cx="2569464" cy="320040"/>
          </a:xfrm>
          <a:prstGeom prst="rect">
            <a:avLst/>
          </a:prstGeom>
          <a:noFill/>
          <a:ln/>
        </p:spPr>
        <p:txBody>
          <a:bodyPr wrap="square" lIns="0" tIns="0" rIns="0" bIns="0" rtlCol="0" anchor="t">
            <a:normAutofit/>
          </a:bodyPr>
          <a:lstStyle/>
          <a:p>
            <a:pPr indent="0" marL="0">
              <a:buNone/>
            </a:pPr>
            <a:r>
              <a:rPr lang="en-US" sz="1250" dirty="0">
                <a:solidFill>
                  <a:srgbClr val="B6AACF"/>
                </a:solidFill>
                <a:latin typeface="Inter" pitchFamily="34" charset="0"/>
                <a:ea typeface="Inter" pitchFamily="34" charset="-122"/>
                <a:cs typeface="Inter" pitchFamily="34" charset="-120"/>
              </a:rPr>
              <a:t>4 remote-selectable options</a:t>
            </a:r>
            <a:endParaRPr lang="en-US" sz="1250" dirty="0"/>
          </a:p>
        </p:txBody>
      </p:sp>
      <p:sp>
        <p:nvSpPr>
          <p:cNvPr id="19" name="Shape 16"/>
          <p:cNvSpPr/>
          <p:nvPr/>
        </p:nvSpPr>
        <p:spPr>
          <a:xfrm>
            <a:off x="8257032" y="4754880"/>
            <a:ext cx="3282696" cy="1188720"/>
          </a:xfrm>
          <a:prstGeom prst="roundRect">
            <a:avLst>
              <a:gd name="adj" fmla="val 15385"/>
            </a:avLst>
          </a:prstGeom>
          <a:solidFill>
            <a:srgbClr val="21183E">
              <a:alpha val="97000"/>
            </a:srgbClr>
          </a:solidFill>
          <a:ln w="8890">
            <a:solidFill>
              <a:srgbClr val="554071"/>
            </a:solidFill>
            <a:prstDash val="solid"/>
          </a:ln>
        </p:spPr>
      </p:sp>
      <p:sp>
        <p:nvSpPr>
          <p:cNvPr id="20" name="Shape 17"/>
          <p:cNvSpPr/>
          <p:nvPr/>
        </p:nvSpPr>
        <p:spPr>
          <a:xfrm>
            <a:off x="8439912" y="4974336"/>
            <a:ext cx="73152" cy="457200"/>
          </a:xfrm>
          <a:prstGeom prst="roundRect">
            <a:avLst>
              <a:gd name="adj" fmla="val 50000"/>
            </a:avLst>
          </a:prstGeom>
          <a:solidFill>
            <a:srgbClr val="31DDA1"/>
          </a:solidFill>
          <a:ln w="12700">
            <a:solidFill>
              <a:srgbClr val="31DDA1">
                <a:alpha val="0"/>
              </a:srgbClr>
            </a:solidFill>
            <a:prstDash val="solid"/>
          </a:ln>
        </p:spPr>
      </p:sp>
      <p:sp>
        <p:nvSpPr>
          <p:cNvPr id="21" name="Text 18"/>
          <p:cNvSpPr/>
          <p:nvPr/>
        </p:nvSpPr>
        <p:spPr>
          <a:xfrm>
            <a:off x="8686800" y="4937760"/>
            <a:ext cx="2642616" cy="39319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Inter Display" pitchFamily="34" charset="0"/>
                <a:ea typeface="Inter Display" pitchFamily="34" charset="-122"/>
                <a:cs typeface="Inter Display" pitchFamily="34" charset="-120"/>
              </a:rPr>
              <a:t>SCORE</a:t>
            </a:r>
            <a:endParaRPr lang="en-US" sz="1900" dirty="0"/>
          </a:p>
        </p:txBody>
      </p:sp>
      <p:sp>
        <p:nvSpPr>
          <p:cNvPr id="22" name="Text 19"/>
          <p:cNvSpPr/>
          <p:nvPr/>
        </p:nvSpPr>
        <p:spPr>
          <a:xfrm>
            <a:off x="8686800" y="5486400"/>
            <a:ext cx="2569464" cy="320040"/>
          </a:xfrm>
          <a:prstGeom prst="rect">
            <a:avLst/>
          </a:prstGeom>
          <a:noFill/>
          <a:ln/>
        </p:spPr>
        <p:txBody>
          <a:bodyPr wrap="square" lIns="0" tIns="0" rIns="0" bIns="0" rtlCol="0" anchor="t">
            <a:normAutofit/>
          </a:bodyPr>
          <a:lstStyle/>
          <a:p>
            <a:pPr indent="0" marL="0">
              <a:buNone/>
            </a:pPr>
            <a:r>
              <a:rPr lang="en-US" sz="1250" dirty="0">
                <a:solidFill>
                  <a:srgbClr val="B6AACF"/>
                </a:solidFill>
                <a:latin typeface="Inter" pitchFamily="34" charset="0"/>
                <a:ea typeface="Inter" pitchFamily="34" charset="-122"/>
                <a:cs typeface="Inter" pitchFamily="34" charset="-120"/>
              </a:rPr>
              <a:t>Points + final ranking</a:t>
            </a:r>
            <a:endParaRPr lang="en-US" sz="1250" dirty="0"/>
          </a:p>
        </p:txBody>
      </p:sp>
      <p:sp>
        <p:nvSpPr>
          <p:cNvPr id="23" name="Shape 20"/>
          <p:cNvSpPr/>
          <p:nvPr/>
        </p:nvSpPr>
        <p:spPr>
          <a:xfrm>
            <a:off x="566928" y="6556248"/>
            <a:ext cx="11045952" cy="0"/>
          </a:xfrm>
          <a:prstGeom prst="line">
            <a:avLst/>
          </a:prstGeom>
          <a:noFill/>
          <a:ln w="8890">
            <a:solidFill>
              <a:srgbClr val="44365D">
                <a:alpha val="80000"/>
              </a:srgbClr>
            </a:solidFill>
            <a:prstDash val="solid"/>
          </a:ln>
        </p:spPr>
      </p:sp>
      <p:sp>
        <p:nvSpPr>
          <p:cNvPr id="24" name="Text 21"/>
          <p:cNvSpPr/>
          <p:nvPr/>
        </p:nvSpPr>
        <p:spPr>
          <a:xfrm>
            <a:off x="585216" y="6601968"/>
            <a:ext cx="7772400" cy="155448"/>
          </a:xfrm>
          <a:prstGeom prst="rect">
            <a:avLst/>
          </a:prstGeom>
          <a:noFill/>
          <a:ln/>
        </p:spPr>
        <p:txBody>
          <a:bodyPr wrap="square" lIns="0" tIns="0" rIns="0" bIns="0" rtlCol="0" anchor="ctr">
            <a:normAutofit/>
          </a:bodyPr>
          <a:lstStyle/>
          <a:p>
            <a:pPr indent="0" marL="0">
              <a:buNone/>
            </a:pPr>
            <a:r>
              <a:rPr lang="en-US" sz="900" b="1" spc="50" kern="0" dirty="0">
                <a:solidFill>
                  <a:srgbClr val="B6AACF"/>
                </a:solidFill>
                <a:latin typeface="Inter Display" pitchFamily="34" charset="0"/>
                <a:ea typeface="Inter Display" pitchFamily="34" charset="-122"/>
                <a:cs typeface="Inter Display" pitchFamily="34" charset="-120"/>
              </a:rPr>
              <a:t>SKETCHQUEST PARTY  /  SE4041 — PART B</a:t>
            </a:r>
            <a:endParaRPr lang="en-US" sz="900" dirty="0"/>
          </a:p>
        </p:txBody>
      </p:sp>
      <p:sp>
        <p:nvSpPr>
          <p:cNvPr id="25" name="Text 22"/>
          <p:cNvSpPr/>
          <p:nvPr/>
        </p:nvSpPr>
        <p:spPr>
          <a:xfrm>
            <a:off x="11155680" y="6583680"/>
            <a:ext cx="457200" cy="201168"/>
          </a:xfrm>
          <a:prstGeom prst="rect">
            <a:avLst/>
          </a:prstGeom>
          <a:noFill/>
          <a:ln/>
        </p:spPr>
        <p:txBody>
          <a:bodyPr wrap="square" lIns="0" tIns="0" rIns="0" bIns="0" rtlCol="0" anchor="ctr">
            <a:normAutofit/>
          </a:bodyPr>
          <a:lstStyle/>
          <a:p>
            <a:pPr algn="r" indent="0" marL="0">
              <a:buNone/>
            </a:pPr>
            <a:r>
              <a:rPr lang="en-US" sz="950" b="1" dirty="0">
                <a:solidFill>
                  <a:srgbClr val="B6AACF"/>
                </a:solidFill>
                <a:latin typeface="Inter Display" pitchFamily="34" charset="0"/>
                <a:ea typeface="Inter Display" pitchFamily="34" charset="-122"/>
                <a:cs typeface="Inter Display"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Shape 1"/>
          <p:cNvSpPr/>
          <p:nvPr/>
        </p:nvSpPr>
        <p:spPr>
          <a:xfrm>
            <a:off x="9290304" y="0"/>
            <a:ext cx="2880360" cy="2880360"/>
          </a:xfrm>
          <a:prstGeom prst="ellipse">
            <a:avLst/>
          </a:prstGeom>
          <a:solidFill>
            <a:srgbClr val="402273">
              <a:alpha val="35000"/>
            </a:srgbClr>
          </a:solidFill>
          <a:ln w="12700">
            <a:solidFill>
              <a:srgbClr val="402273">
                <a:alpha val="0"/>
              </a:srgbClr>
            </a:solidFill>
            <a:prstDash val="solid"/>
          </a:ln>
        </p:spPr>
      </p:sp>
      <p:sp>
        <p:nvSpPr>
          <p:cNvPr id="4" name="Shape 2"/>
          <p:cNvSpPr/>
          <p:nvPr/>
        </p:nvSpPr>
        <p:spPr>
          <a:xfrm>
            <a:off x="0" y="5047488"/>
            <a:ext cx="1773936" cy="1773936"/>
          </a:xfrm>
          <a:prstGeom prst="ellipse">
            <a:avLst/>
          </a:prstGeom>
          <a:solidFill>
            <a:srgbClr val="2C1A61">
              <a:alpha val="36000"/>
            </a:srgbClr>
          </a:solidFill>
          <a:ln w="12700">
            <a:solidFill>
              <a:srgbClr val="2C1A61">
                <a:alpha val="0"/>
              </a:srgbClr>
            </a:solidFill>
            <a:prstDash val="solid"/>
          </a:ln>
        </p:spPr>
      </p:sp>
      <p:sp>
        <p:nvSpPr>
          <p:cNvPr id="5" name="Shape 3"/>
          <p:cNvSpPr/>
          <p:nvPr/>
        </p:nvSpPr>
        <p:spPr>
          <a:xfrm>
            <a:off x="6583680" y="5175504"/>
            <a:ext cx="1572768" cy="1572768"/>
          </a:xfrm>
          <a:prstGeom prst="ellipse">
            <a:avLst/>
          </a:prstGeom>
          <a:solidFill>
            <a:srgbClr val="3B2079">
              <a:alpha val="16000"/>
            </a:srgbClr>
          </a:solidFill>
          <a:ln w="12700">
            <a:solidFill>
              <a:srgbClr val="3B2079">
                <a:alpha val="0"/>
              </a:srgbClr>
            </a:solidFill>
            <a:prstDash val="solid"/>
          </a:ln>
        </p:spPr>
      </p:sp>
      <p:sp>
        <p:nvSpPr>
          <p:cNvPr id="6" name="Text 4"/>
          <p:cNvSpPr/>
          <p:nvPr/>
        </p:nvSpPr>
        <p:spPr>
          <a:xfrm>
            <a:off x="566928" y="329184"/>
            <a:ext cx="7315200" cy="237744"/>
          </a:xfrm>
          <a:prstGeom prst="rect">
            <a:avLst/>
          </a:prstGeom>
          <a:noFill/>
          <a:ln/>
        </p:spPr>
        <p:txBody>
          <a:bodyPr wrap="square" lIns="0" tIns="0" rIns="0" bIns="0" rtlCol="0" anchor="ctr">
            <a:normAutofit/>
          </a:bodyPr>
          <a:lstStyle/>
          <a:p>
            <a:pPr indent="0" marL="0">
              <a:buNone/>
            </a:pPr>
            <a:r>
              <a:rPr lang="en-US" sz="1050" b="1" spc="200" kern="0" dirty="0">
                <a:solidFill>
                  <a:srgbClr val="E04CF4"/>
                </a:solidFill>
                <a:latin typeface="Inter Display" pitchFamily="34" charset="0"/>
                <a:ea typeface="Inter Display" pitchFamily="34" charset="-122"/>
                <a:cs typeface="Inter Display" pitchFamily="34" charset="-120"/>
              </a:rPr>
              <a:t>03 / PLAYER JOURNEY</a:t>
            </a:r>
            <a:endParaRPr lang="en-US" sz="1050" dirty="0"/>
          </a:p>
        </p:txBody>
      </p:sp>
      <p:sp>
        <p:nvSpPr>
          <p:cNvPr id="7" name="Text 5"/>
          <p:cNvSpPr/>
          <p:nvPr/>
        </p:nvSpPr>
        <p:spPr>
          <a:xfrm>
            <a:off x="566928" y="768096"/>
            <a:ext cx="11082528" cy="576072"/>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Inter Display" pitchFamily="34" charset="0"/>
                <a:ea typeface="Inter Display" pitchFamily="34" charset="-122"/>
                <a:cs typeface="Inter Display" pitchFamily="34" charset="-120"/>
              </a:rPr>
              <a:t>From launch to first guess in three steps.</a:t>
            </a:r>
            <a:endParaRPr lang="en-US" sz="3200" dirty="0"/>
          </a:p>
        </p:txBody>
      </p:sp>
      <p:sp>
        <p:nvSpPr>
          <p:cNvPr id="8" name="Text 6"/>
          <p:cNvSpPr/>
          <p:nvPr/>
        </p:nvSpPr>
        <p:spPr>
          <a:xfrm>
            <a:off x="594360" y="1389888"/>
            <a:ext cx="10899648" cy="438912"/>
          </a:xfrm>
          <a:prstGeom prst="rect">
            <a:avLst/>
          </a:prstGeom>
          <a:noFill/>
          <a:ln/>
        </p:spPr>
        <p:txBody>
          <a:bodyPr wrap="square" lIns="0" tIns="0" rIns="0" bIns="0" rtlCol="0" anchor="ctr">
            <a:normAutofit/>
          </a:bodyPr>
          <a:lstStyle/>
          <a:p>
            <a:pPr indent="0" marL="0">
              <a:buNone/>
            </a:pPr>
            <a:r>
              <a:rPr lang="en-US" sz="1540" dirty="0">
                <a:solidFill>
                  <a:srgbClr val="B6AACF"/>
                </a:solidFill>
                <a:latin typeface="Inter" pitchFamily="34" charset="0"/>
                <a:ea typeface="Inter" pitchFamily="34" charset="-122"/>
                <a:cs typeface="Inter" pitchFamily="34" charset="-120"/>
              </a:rPr>
              <a:t>The entire flow is readable from a sofa and navigable with tvOS focus.</a:t>
            </a:r>
            <a:endParaRPr lang="en-US" sz="1540" dirty="0"/>
          </a:p>
        </p:txBody>
      </p:sp>
      <p:sp>
        <p:nvSpPr>
          <p:cNvPr id="9" name="Shape 7"/>
          <p:cNvSpPr/>
          <p:nvPr/>
        </p:nvSpPr>
        <p:spPr>
          <a:xfrm>
            <a:off x="548640" y="1956816"/>
            <a:ext cx="3639312" cy="2907792"/>
          </a:xfrm>
          <a:prstGeom prst="roundRect">
            <a:avLst>
              <a:gd name="adj" fmla="val 6289"/>
            </a:avLst>
          </a:prstGeom>
          <a:solidFill>
            <a:srgbClr val="23193F"/>
          </a:solidFill>
          <a:ln w="10160">
            <a:solidFill>
              <a:srgbClr val="563F76"/>
            </a:solidFill>
            <a:prstDash val="solid"/>
          </a:ln>
        </p:spPr>
      </p:sp>
      <p:pic>
        <p:nvPicPr>
          <p:cNvPr id="10" name="Image 0" descr="/mnt/data/sq_pitch_assets/home.png">    </p:cNvPr>
          <p:cNvPicPr>
            <a:picLocks noChangeAspect="1"/>
          </p:cNvPicPr>
          <p:nvPr/>
        </p:nvPicPr>
        <p:blipFill>
          <a:blip r:embed="rId1"/>
          <a:stretch>
            <a:fillRect/>
          </a:stretch>
        </p:blipFill>
        <p:spPr>
          <a:xfrm>
            <a:off x="667512" y="2084832"/>
            <a:ext cx="3401568" cy="1911096"/>
          </a:xfrm>
          <a:prstGeom prst="rect">
            <a:avLst/>
          </a:prstGeom>
        </p:spPr>
      </p:pic>
      <p:sp>
        <p:nvSpPr>
          <p:cNvPr id="11" name="Text 8"/>
          <p:cNvSpPr/>
          <p:nvPr/>
        </p:nvSpPr>
        <p:spPr>
          <a:xfrm>
            <a:off x="667512" y="4261104"/>
            <a:ext cx="475488" cy="310896"/>
          </a:xfrm>
          <a:prstGeom prst="rect">
            <a:avLst/>
          </a:prstGeom>
          <a:noFill/>
          <a:ln/>
        </p:spPr>
        <p:txBody>
          <a:bodyPr wrap="square" lIns="0" tIns="0" rIns="0" bIns="0" rtlCol="0" anchor="ctr">
            <a:normAutofit/>
          </a:bodyPr>
          <a:lstStyle/>
          <a:p>
            <a:pPr indent="0" marL="0">
              <a:buNone/>
            </a:pPr>
            <a:r>
              <a:rPr lang="en-US" sz="1900" b="1" dirty="0">
                <a:solidFill>
                  <a:srgbClr val="E04CF4"/>
                </a:solidFill>
                <a:latin typeface="Inter Display" pitchFamily="34" charset="0"/>
                <a:ea typeface="Inter Display" pitchFamily="34" charset="-122"/>
                <a:cs typeface="Inter Display" pitchFamily="34" charset="-120"/>
              </a:rPr>
              <a:t>01</a:t>
            </a:r>
            <a:endParaRPr lang="en-US" sz="1900" dirty="0"/>
          </a:p>
        </p:txBody>
      </p:sp>
      <p:sp>
        <p:nvSpPr>
          <p:cNvPr id="12" name="Text 9"/>
          <p:cNvSpPr/>
          <p:nvPr/>
        </p:nvSpPr>
        <p:spPr>
          <a:xfrm>
            <a:off x="1207008" y="4251960"/>
            <a:ext cx="2743200" cy="365760"/>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Inter Display" pitchFamily="34" charset="0"/>
                <a:ea typeface="Inter Display" pitchFamily="34" charset="-122"/>
                <a:cs typeface="Inter Display" pitchFamily="34" charset="-120"/>
              </a:rPr>
              <a:t>Start Party</a:t>
            </a:r>
            <a:endParaRPr lang="en-US" sz="1900" dirty="0"/>
          </a:p>
        </p:txBody>
      </p:sp>
      <p:sp>
        <p:nvSpPr>
          <p:cNvPr id="13" name="Text 10"/>
          <p:cNvSpPr/>
          <p:nvPr/>
        </p:nvSpPr>
        <p:spPr>
          <a:xfrm>
            <a:off x="676656" y="5056632"/>
            <a:ext cx="3419856" cy="566928"/>
          </a:xfrm>
          <a:prstGeom prst="rect">
            <a:avLst/>
          </a:prstGeom>
          <a:noFill/>
          <a:ln/>
        </p:spPr>
        <p:txBody>
          <a:bodyPr wrap="square" lIns="0" tIns="0" rIns="0" bIns="0" rtlCol="0" anchor="t">
            <a:normAutofit/>
          </a:bodyPr>
          <a:lstStyle/>
          <a:p>
            <a:pPr indent="0" marL="0">
              <a:buNone/>
            </a:pPr>
            <a:r>
              <a:rPr lang="en-US" sz="1340" dirty="0">
                <a:solidFill>
                  <a:srgbClr val="B6AACF"/>
                </a:solidFill>
                <a:latin typeface="Inter" pitchFamily="34" charset="0"/>
                <a:ea typeface="Inter" pitchFamily="34" charset="-122"/>
                <a:cs typeface="Inter" pitchFamily="34" charset="-120"/>
              </a:rPr>
              <a:t>Choose the shared-screen game mode.</a:t>
            </a:r>
            <a:endParaRPr lang="en-US" sz="1340" dirty="0"/>
          </a:p>
        </p:txBody>
      </p:sp>
      <p:sp>
        <p:nvSpPr>
          <p:cNvPr id="14" name="Shape 11"/>
          <p:cNvSpPr/>
          <p:nvPr/>
        </p:nvSpPr>
        <p:spPr>
          <a:xfrm>
            <a:off x="4434840" y="1956816"/>
            <a:ext cx="3639312" cy="2907792"/>
          </a:xfrm>
          <a:prstGeom prst="roundRect">
            <a:avLst>
              <a:gd name="adj" fmla="val 6289"/>
            </a:avLst>
          </a:prstGeom>
          <a:solidFill>
            <a:srgbClr val="23193F"/>
          </a:solidFill>
          <a:ln w="10160">
            <a:solidFill>
              <a:srgbClr val="563F76"/>
            </a:solidFill>
            <a:prstDash val="solid"/>
          </a:ln>
        </p:spPr>
      </p:sp>
      <p:pic>
        <p:nvPicPr>
          <p:cNvPr id="15" name="Image 1" descr="/mnt/data/sq_pitch_assets/players.png">    </p:cNvPr>
          <p:cNvPicPr>
            <a:picLocks noChangeAspect="1"/>
          </p:cNvPicPr>
          <p:nvPr/>
        </p:nvPicPr>
        <p:blipFill>
          <a:blip r:embed="rId2"/>
          <a:stretch>
            <a:fillRect/>
          </a:stretch>
        </p:blipFill>
        <p:spPr>
          <a:xfrm>
            <a:off x="4553712" y="2084832"/>
            <a:ext cx="3401568" cy="1911096"/>
          </a:xfrm>
          <a:prstGeom prst="rect">
            <a:avLst/>
          </a:prstGeom>
        </p:spPr>
      </p:pic>
      <p:sp>
        <p:nvSpPr>
          <p:cNvPr id="16" name="Text 12"/>
          <p:cNvSpPr/>
          <p:nvPr/>
        </p:nvSpPr>
        <p:spPr>
          <a:xfrm>
            <a:off x="4553712" y="4261104"/>
            <a:ext cx="475488" cy="310896"/>
          </a:xfrm>
          <a:prstGeom prst="rect">
            <a:avLst/>
          </a:prstGeom>
          <a:noFill/>
          <a:ln/>
        </p:spPr>
        <p:txBody>
          <a:bodyPr wrap="square" lIns="0" tIns="0" rIns="0" bIns="0" rtlCol="0" anchor="ctr">
            <a:normAutofit/>
          </a:bodyPr>
          <a:lstStyle/>
          <a:p>
            <a:pPr indent="0" marL="0">
              <a:buNone/>
            </a:pPr>
            <a:r>
              <a:rPr lang="en-US" sz="1900" b="1" dirty="0">
                <a:solidFill>
                  <a:srgbClr val="E04CF4"/>
                </a:solidFill>
                <a:latin typeface="Inter Display" pitchFamily="34" charset="0"/>
                <a:ea typeface="Inter Display" pitchFamily="34" charset="-122"/>
                <a:cs typeface="Inter Display" pitchFamily="34" charset="-120"/>
              </a:rPr>
              <a:t>02</a:t>
            </a:r>
            <a:endParaRPr lang="en-US" sz="1900" dirty="0"/>
          </a:p>
        </p:txBody>
      </p:sp>
      <p:sp>
        <p:nvSpPr>
          <p:cNvPr id="17" name="Text 13"/>
          <p:cNvSpPr/>
          <p:nvPr/>
        </p:nvSpPr>
        <p:spPr>
          <a:xfrm>
            <a:off x="5093208" y="4251960"/>
            <a:ext cx="2743200" cy="365760"/>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Inter Display" pitchFamily="34" charset="0"/>
                <a:ea typeface="Inter Display" pitchFamily="34" charset="-122"/>
                <a:cs typeface="Inter Display" pitchFamily="34" charset="-120"/>
              </a:rPr>
              <a:t>Choose players</a:t>
            </a:r>
            <a:endParaRPr lang="en-US" sz="1900" dirty="0"/>
          </a:p>
        </p:txBody>
      </p:sp>
      <p:sp>
        <p:nvSpPr>
          <p:cNvPr id="18" name="Text 14"/>
          <p:cNvSpPr/>
          <p:nvPr/>
        </p:nvSpPr>
        <p:spPr>
          <a:xfrm>
            <a:off x="4562856" y="5056632"/>
            <a:ext cx="3419856" cy="566928"/>
          </a:xfrm>
          <a:prstGeom prst="rect">
            <a:avLst/>
          </a:prstGeom>
          <a:noFill/>
          <a:ln/>
        </p:spPr>
        <p:txBody>
          <a:bodyPr wrap="square" lIns="0" tIns="0" rIns="0" bIns="0" rtlCol="0" anchor="t">
            <a:normAutofit/>
          </a:bodyPr>
          <a:lstStyle/>
          <a:p>
            <a:pPr indent="0" marL="0">
              <a:buNone/>
            </a:pPr>
            <a:r>
              <a:rPr lang="en-US" sz="1340" dirty="0">
                <a:solidFill>
                  <a:srgbClr val="B6AACF"/>
                </a:solidFill>
                <a:latin typeface="Inter" pitchFamily="34" charset="0"/>
                <a:ea typeface="Inter" pitchFamily="34" charset="-122"/>
                <a:cs typeface="Inter" pitchFamily="34" charset="-120"/>
              </a:rPr>
              <a:t>Set 2, 3 or 4 participants.</a:t>
            </a:r>
            <a:endParaRPr lang="en-US" sz="1340" dirty="0"/>
          </a:p>
        </p:txBody>
      </p:sp>
      <p:sp>
        <p:nvSpPr>
          <p:cNvPr id="19" name="Shape 15"/>
          <p:cNvSpPr/>
          <p:nvPr/>
        </p:nvSpPr>
        <p:spPr>
          <a:xfrm>
            <a:off x="8321040" y="1956816"/>
            <a:ext cx="3639312" cy="2907792"/>
          </a:xfrm>
          <a:prstGeom prst="roundRect">
            <a:avLst>
              <a:gd name="adj" fmla="val 6289"/>
            </a:avLst>
          </a:prstGeom>
          <a:solidFill>
            <a:srgbClr val="23193F"/>
          </a:solidFill>
          <a:ln w="10160">
            <a:solidFill>
              <a:srgbClr val="563F76"/>
            </a:solidFill>
            <a:prstDash val="solid"/>
          </a:ln>
        </p:spPr>
      </p:sp>
      <p:pic>
        <p:nvPicPr>
          <p:cNvPr id="20" name="Image 2" descr="/mnt/data/sq_pitch_assets/gameplay.png">    </p:cNvPr>
          <p:cNvPicPr>
            <a:picLocks noChangeAspect="1"/>
          </p:cNvPicPr>
          <p:nvPr/>
        </p:nvPicPr>
        <p:blipFill>
          <a:blip r:embed="rId3"/>
          <a:stretch>
            <a:fillRect/>
          </a:stretch>
        </p:blipFill>
        <p:spPr>
          <a:xfrm>
            <a:off x="8439912" y="2084832"/>
            <a:ext cx="3401568" cy="1911096"/>
          </a:xfrm>
          <a:prstGeom prst="rect">
            <a:avLst/>
          </a:prstGeom>
        </p:spPr>
      </p:pic>
      <p:sp>
        <p:nvSpPr>
          <p:cNvPr id="21" name="Text 16"/>
          <p:cNvSpPr/>
          <p:nvPr/>
        </p:nvSpPr>
        <p:spPr>
          <a:xfrm>
            <a:off x="8439912" y="4261104"/>
            <a:ext cx="475488" cy="310896"/>
          </a:xfrm>
          <a:prstGeom prst="rect">
            <a:avLst/>
          </a:prstGeom>
          <a:noFill/>
          <a:ln/>
        </p:spPr>
        <p:txBody>
          <a:bodyPr wrap="square" lIns="0" tIns="0" rIns="0" bIns="0" rtlCol="0" anchor="ctr">
            <a:normAutofit/>
          </a:bodyPr>
          <a:lstStyle/>
          <a:p>
            <a:pPr indent="0" marL="0">
              <a:buNone/>
            </a:pPr>
            <a:r>
              <a:rPr lang="en-US" sz="1900" b="1" dirty="0">
                <a:solidFill>
                  <a:srgbClr val="E04CF4"/>
                </a:solidFill>
                <a:latin typeface="Inter Display" pitchFamily="34" charset="0"/>
                <a:ea typeface="Inter Display" pitchFamily="34" charset="-122"/>
                <a:cs typeface="Inter Display" pitchFamily="34" charset="-120"/>
              </a:rPr>
              <a:t>03</a:t>
            </a:r>
            <a:endParaRPr lang="en-US" sz="1900" dirty="0"/>
          </a:p>
        </p:txBody>
      </p:sp>
      <p:sp>
        <p:nvSpPr>
          <p:cNvPr id="22" name="Text 17"/>
          <p:cNvSpPr/>
          <p:nvPr/>
        </p:nvSpPr>
        <p:spPr>
          <a:xfrm>
            <a:off x="8979408" y="4251960"/>
            <a:ext cx="2743200" cy="365760"/>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Inter Display" pitchFamily="34" charset="0"/>
                <a:ea typeface="Inter Display" pitchFamily="34" charset="-122"/>
                <a:cs typeface="Inter Display" pitchFamily="34" charset="-120"/>
              </a:rPr>
              <a:t>Guess a sketch</a:t>
            </a:r>
            <a:endParaRPr lang="en-US" sz="1900" dirty="0"/>
          </a:p>
        </p:txBody>
      </p:sp>
      <p:sp>
        <p:nvSpPr>
          <p:cNvPr id="23" name="Text 18"/>
          <p:cNvSpPr/>
          <p:nvPr/>
        </p:nvSpPr>
        <p:spPr>
          <a:xfrm>
            <a:off x="8449056" y="5056632"/>
            <a:ext cx="3419856" cy="566928"/>
          </a:xfrm>
          <a:prstGeom prst="rect">
            <a:avLst/>
          </a:prstGeom>
          <a:noFill/>
          <a:ln/>
        </p:spPr>
        <p:txBody>
          <a:bodyPr wrap="square" lIns="0" tIns="0" rIns="0" bIns="0" rtlCol="0" anchor="t">
            <a:normAutofit/>
          </a:bodyPr>
          <a:lstStyle/>
          <a:p>
            <a:pPr indent="0" marL="0">
              <a:buNone/>
            </a:pPr>
            <a:r>
              <a:rPr lang="en-US" sz="1340" dirty="0">
                <a:solidFill>
                  <a:srgbClr val="B6AACF"/>
                </a:solidFill>
                <a:latin typeface="Inter" pitchFamily="34" charset="0"/>
                <a:ea typeface="Inter" pitchFamily="34" charset="-122"/>
                <a:cs typeface="Inter" pitchFamily="34" charset="-120"/>
              </a:rPr>
              <a:t>Answer before the 30-second timer ends.</a:t>
            </a:r>
            <a:endParaRPr lang="en-US" sz="1340" dirty="0"/>
          </a:p>
        </p:txBody>
      </p:sp>
      <p:sp>
        <p:nvSpPr>
          <p:cNvPr id="24" name="Shape 19"/>
          <p:cNvSpPr/>
          <p:nvPr/>
        </p:nvSpPr>
        <p:spPr>
          <a:xfrm>
            <a:off x="3941064" y="2889504"/>
            <a:ext cx="402336" cy="402336"/>
          </a:xfrm>
          <a:prstGeom prst="ellipse">
            <a:avLst/>
          </a:prstGeom>
          <a:solidFill>
            <a:srgbClr val="8A4CF6"/>
          </a:solidFill>
          <a:ln w="12700">
            <a:solidFill>
              <a:srgbClr val="8A4CF6">
                <a:alpha val="0"/>
              </a:srgbClr>
            </a:solidFill>
            <a:prstDash val="solid"/>
          </a:ln>
        </p:spPr>
      </p:sp>
      <p:sp>
        <p:nvSpPr>
          <p:cNvPr id="25" name="Text 20"/>
          <p:cNvSpPr/>
          <p:nvPr/>
        </p:nvSpPr>
        <p:spPr>
          <a:xfrm>
            <a:off x="3941064" y="2871216"/>
            <a:ext cx="402336" cy="338328"/>
          </a:xfrm>
          <a:prstGeom prst="rect">
            <a:avLst/>
          </a:prstGeom>
          <a:noFill/>
          <a:ln/>
        </p:spPr>
        <p:txBody>
          <a:bodyPr wrap="square" lIns="0" tIns="0" rIns="0" bIns="0" rtlCol="0" anchor="ctr">
            <a:normAutofit/>
          </a:bodyPr>
          <a:lstStyle/>
          <a:p>
            <a:pPr algn="ctr" indent="0" marL="0">
              <a:buNone/>
            </a:pPr>
            <a:r>
              <a:rPr lang="en-US" sz="2300" b="1" dirty="0">
                <a:solidFill>
                  <a:srgbClr val="FFFFFF"/>
                </a:solidFill>
                <a:latin typeface="Inter Display" pitchFamily="34" charset="0"/>
                <a:ea typeface="Inter Display" pitchFamily="34" charset="-122"/>
                <a:cs typeface="Inter Display" pitchFamily="34" charset="-120"/>
              </a:rPr>
              <a:t>›</a:t>
            </a:r>
            <a:endParaRPr lang="en-US" sz="2300" dirty="0"/>
          </a:p>
        </p:txBody>
      </p:sp>
      <p:sp>
        <p:nvSpPr>
          <p:cNvPr id="26" name="Shape 21"/>
          <p:cNvSpPr/>
          <p:nvPr/>
        </p:nvSpPr>
        <p:spPr>
          <a:xfrm>
            <a:off x="7818120" y="2889504"/>
            <a:ext cx="402336" cy="402336"/>
          </a:xfrm>
          <a:prstGeom prst="ellipse">
            <a:avLst/>
          </a:prstGeom>
          <a:solidFill>
            <a:srgbClr val="8A4CF6"/>
          </a:solidFill>
          <a:ln w="12700">
            <a:solidFill>
              <a:srgbClr val="8A4CF6">
                <a:alpha val="0"/>
              </a:srgbClr>
            </a:solidFill>
            <a:prstDash val="solid"/>
          </a:ln>
        </p:spPr>
      </p:sp>
      <p:sp>
        <p:nvSpPr>
          <p:cNvPr id="27" name="Text 22"/>
          <p:cNvSpPr/>
          <p:nvPr/>
        </p:nvSpPr>
        <p:spPr>
          <a:xfrm>
            <a:off x="7818120" y="2871216"/>
            <a:ext cx="402336" cy="338328"/>
          </a:xfrm>
          <a:prstGeom prst="rect">
            <a:avLst/>
          </a:prstGeom>
          <a:noFill/>
          <a:ln/>
        </p:spPr>
        <p:txBody>
          <a:bodyPr wrap="square" lIns="0" tIns="0" rIns="0" bIns="0" rtlCol="0" anchor="ctr">
            <a:normAutofit/>
          </a:bodyPr>
          <a:lstStyle/>
          <a:p>
            <a:pPr algn="ctr" indent="0" marL="0">
              <a:buNone/>
            </a:pPr>
            <a:r>
              <a:rPr lang="en-US" sz="2300" b="1" dirty="0">
                <a:solidFill>
                  <a:srgbClr val="FFFFFF"/>
                </a:solidFill>
                <a:latin typeface="Inter Display" pitchFamily="34" charset="0"/>
                <a:ea typeface="Inter Display" pitchFamily="34" charset="-122"/>
                <a:cs typeface="Inter Display" pitchFamily="34" charset="-120"/>
              </a:rPr>
              <a:t>›</a:t>
            </a:r>
            <a:endParaRPr lang="en-US" sz="2300" dirty="0"/>
          </a:p>
        </p:txBody>
      </p:sp>
      <p:sp>
        <p:nvSpPr>
          <p:cNvPr id="28" name="Shape 23"/>
          <p:cNvSpPr/>
          <p:nvPr/>
        </p:nvSpPr>
        <p:spPr>
          <a:xfrm>
            <a:off x="566928" y="6556248"/>
            <a:ext cx="11045952" cy="0"/>
          </a:xfrm>
          <a:prstGeom prst="line">
            <a:avLst/>
          </a:prstGeom>
          <a:noFill/>
          <a:ln w="8890">
            <a:solidFill>
              <a:srgbClr val="44365D">
                <a:alpha val="80000"/>
              </a:srgbClr>
            </a:solidFill>
            <a:prstDash val="solid"/>
          </a:ln>
        </p:spPr>
      </p:sp>
      <p:sp>
        <p:nvSpPr>
          <p:cNvPr id="29" name="Text 24"/>
          <p:cNvSpPr/>
          <p:nvPr/>
        </p:nvSpPr>
        <p:spPr>
          <a:xfrm>
            <a:off x="585216" y="6601968"/>
            <a:ext cx="7772400" cy="155448"/>
          </a:xfrm>
          <a:prstGeom prst="rect">
            <a:avLst/>
          </a:prstGeom>
          <a:noFill/>
          <a:ln/>
        </p:spPr>
        <p:txBody>
          <a:bodyPr wrap="square" lIns="0" tIns="0" rIns="0" bIns="0" rtlCol="0" anchor="ctr">
            <a:normAutofit/>
          </a:bodyPr>
          <a:lstStyle/>
          <a:p>
            <a:pPr indent="0" marL="0">
              <a:buNone/>
            </a:pPr>
            <a:r>
              <a:rPr lang="en-US" sz="900" b="1" spc="50" kern="0" dirty="0">
                <a:solidFill>
                  <a:srgbClr val="B6AACF"/>
                </a:solidFill>
                <a:latin typeface="Inter Display" pitchFamily="34" charset="0"/>
                <a:ea typeface="Inter Display" pitchFamily="34" charset="-122"/>
                <a:cs typeface="Inter Display" pitchFamily="34" charset="-120"/>
              </a:rPr>
              <a:t>SKETCHQUEST PARTY  /  SE4041 — PART B</a:t>
            </a:r>
            <a:endParaRPr lang="en-US" sz="900" dirty="0"/>
          </a:p>
        </p:txBody>
      </p:sp>
      <p:sp>
        <p:nvSpPr>
          <p:cNvPr id="30" name="Text 25"/>
          <p:cNvSpPr/>
          <p:nvPr/>
        </p:nvSpPr>
        <p:spPr>
          <a:xfrm>
            <a:off x="11155680" y="6583680"/>
            <a:ext cx="457200" cy="201168"/>
          </a:xfrm>
          <a:prstGeom prst="rect">
            <a:avLst/>
          </a:prstGeom>
          <a:noFill/>
          <a:ln/>
        </p:spPr>
        <p:txBody>
          <a:bodyPr wrap="square" lIns="0" tIns="0" rIns="0" bIns="0" rtlCol="0" anchor="ctr">
            <a:normAutofit/>
          </a:bodyPr>
          <a:lstStyle/>
          <a:p>
            <a:pPr algn="r" indent="0" marL="0">
              <a:buNone/>
            </a:pPr>
            <a:r>
              <a:rPr lang="en-US" sz="950" b="1" dirty="0">
                <a:solidFill>
                  <a:srgbClr val="B6AACF"/>
                </a:solidFill>
                <a:latin typeface="Inter Display" pitchFamily="34" charset="0"/>
                <a:ea typeface="Inter Display" pitchFamily="34" charset="-122"/>
                <a:cs typeface="Inter Display"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Shape 1"/>
          <p:cNvSpPr/>
          <p:nvPr/>
        </p:nvSpPr>
        <p:spPr>
          <a:xfrm>
            <a:off x="9290304" y="0"/>
            <a:ext cx="2880360" cy="2880360"/>
          </a:xfrm>
          <a:prstGeom prst="ellipse">
            <a:avLst/>
          </a:prstGeom>
          <a:solidFill>
            <a:srgbClr val="402273">
              <a:alpha val="35000"/>
            </a:srgbClr>
          </a:solidFill>
          <a:ln w="12700">
            <a:solidFill>
              <a:srgbClr val="402273">
                <a:alpha val="0"/>
              </a:srgbClr>
            </a:solidFill>
            <a:prstDash val="solid"/>
          </a:ln>
        </p:spPr>
      </p:sp>
      <p:sp>
        <p:nvSpPr>
          <p:cNvPr id="4" name="Shape 2"/>
          <p:cNvSpPr/>
          <p:nvPr/>
        </p:nvSpPr>
        <p:spPr>
          <a:xfrm>
            <a:off x="0" y="5047488"/>
            <a:ext cx="1773936" cy="1773936"/>
          </a:xfrm>
          <a:prstGeom prst="ellipse">
            <a:avLst/>
          </a:prstGeom>
          <a:solidFill>
            <a:srgbClr val="2C1A61">
              <a:alpha val="36000"/>
            </a:srgbClr>
          </a:solidFill>
          <a:ln w="12700">
            <a:solidFill>
              <a:srgbClr val="2C1A61">
                <a:alpha val="0"/>
              </a:srgbClr>
            </a:solidFill>
            <a:prstDash val="solid"/>
          </a:ln>
        </p:spPr>
      </p:sp>
      <p:sp>
        <p:nvSpPr>
          <p:cNvPr id="5" name="Shape 3"/>
          <p:cNvSpPr/>
          <p:nvPr/>
        </p:nvSpPr>
        <p:spPr>
          <a:xfrm>
            <a:off x="6583680" y="5175504"/>
            <a:ext cx="1572768" cy="1572768"/>
          </a:xfrm>
          <a:prstGeom prst="ellipse">
            <a:avLst/>
          </a:prstGeom>
          <a:solidFill>
            <a:srgbClr val="3B2079">
              <a:alpha val="16000"/>
            </a:srgbClr>
          </a:solidFill>
          <a:ln w="12700">
            <a:solidFill>
              <a:srgbClr val="3B2079">
                <a:alpha val="0"/>
              </a:srgbClr>
            </a:solidFill>
            <a:prstDash val="solid"/>
          </a:ln>
        </p:spPr>
      </p:sp>
      <p:sp>
        <p:nvSpPr>
          <p:cNvPr id="6" name="Text 4"/>
          <p:cNvSpPr/>
          <p:nvPr/>
        </p:nvSpPr>
        <p:spPr>
          <a:xfrm>
            <a:off x="566928" y="329184"/>
            <a:ext cx="7315200" cy="237744"/>
          </a:xfrm>
          <a:prstGeom prst="rect">
            <a:avLst/>
          </a:prstGeom>
          <a:noFill/>
          <a:ln/>
        </p:spPr>
        <p:txBody>
          <a:bodyPr wrap="square" lIns="0" tIns="0" rIns="0" bIns="0" rtlCol="0" anchor="ctr">
            <a:normAutofit/>
          </a:bodyPr>
          <a:lstStyle/>
          <a:p>
            <a:pPr indent="0" marL="0">
              <a:buNone/>
            </a:pPr>
            <a:r>
              <a:rPr lang="en-US" sz="1050" b="1" spc="200" kern="0" dirty="0">
                <a:solidFill>
                  <a:srgbClr val="E04CF4"/>
                </a:solidFill>
                <a:latin typeface="Inter Display" pitchFamily="34" charset="0"/>
                <a:ea typeface="Inter Display" pitchFamily="34" charset="-122"/>
                <a:cs typeface="Inter Display" pitchFamily="34" charset="-120"/>
              </a:rPr>
              <a:t>04 / GAMEPLAY</a:t>
            </a:r>
            <a:endParaRPr lang="en-US" sz="1050" dirty="0"/>
          </a:p>
        </p:txBody>
      </p:sp>
      <p:sp>
        <p:nvSpPr>
          <p:cNvPr id="7" name="Text 5"/>
          <p:cNvSpPr/>
          <p:nvPr/>
        </p:nvSpPr>
        <p:spPr>
          <a:xfrm>
            <a:off x="566928" y="768096"/>
            <a:ext cx="11082528" cy="576072"/>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Inter Display" pitchFamily="34" charset="0"/>
                <a:ea typeface="Inter Display" pitchFamily="34" charset="-122"/>
                <a:cs typeface="Inter Display" pitchFamily="34" charset="-120"/>
              </a:rPr>
              <a:t>A repeatable loop with real stakes.</a:t>
            </a:r>
            <a:endParaRPr lang="en-US" sz="3200" dirty="0"/>
          </a:p>
        </p:txBody>
      </p:sp>
      <p:sp>
        <p:nvSpPr>
          <p:cNvPr id="8" name="Text 6"/>
          <p:cNvSpPr/>
          <p:nvPr/>
        </p:nvSpPr>
        <p:spPr>
          <a:xfrm>
            <a:off x="594360" y="1389888"/>
            <a:ext cx="10899648" cy="438912"/>
          </a:xfrm>
          <a:prstGeom prst="rect">
            <a:avLst/>
          </a:prstGeom>
          <a:noFill/>
          <a:ln/>
        </p:spPr>
        <p:txBody>
          <a:bodyPr wrap="square" lIns="0" tIns="0" rIns="0" bIns="0" rtlCol="0" anchor="ctr">
            <a:normAutofit/>
          </a:bodyPr>
          <a:lstStyle/>
          <a:p>
            <a:pPr indent="0" marL="0">
              <a:buNone/>
            </a:pPr>
            <a:r>
              <a:rPr lang="en-US" sz="1540" dirty="0">
                <a:solidFill>
                  <a:srgbClr val="B6AACF"/>
                </a:solidFill>
                <a:latin typeface="Inter" pitchFamily="34" charset="0"/>
                <a:ea typeface="Inter" pitchFamily="34" charset="-122"/>
                <a:cs typeface="Inter" pitchFamily="34" charset="-120"/>
              </a:rPr>
              <a:t>Every player gets three turns; each turn starts only when that player is ready.</a:t>
            </a:r>
            <a:endParaRPr lang="en-US" sz="1540" dirty="0"/>
          </a:p>
        </p:txBody>
      </p:sp>
      <p:pic>
        <p:nvPicPr>
          <p:cNvPr id="9" name="Image 0" descr="/mnt/data/sq_pitch_assets/correct.png">    </p:cNvPr>
          <p:cNvPicPr>
            <a:picLocks noChangeAspect="1"/>
          </p:cNvPicPr>
          <p:nvPr/>
        </p:nvPicPr>
        <p:blipFill>
          <a:blip r:embed="rId1"/>
          <a:stretch>
            <a:fillRect/>
          </a:stretch>
        </p:blipFill>
        <p:spPr>
          <a:xfrm>
            <a:off x="630936" y="2011680"/>
            <a:ext cx="5715000" cy="3227832"/>
          </a:xfrm>
          <a:prstGeom prst="rect">
            <a:avLst/>
          </a:prstGeom>
        </p:spPr>
      </p:pic>
      <p:sp>
        <p:nvSpPr>
          <p:cNvPr id="10" name="Shape 7"/>
          <p:cNvSpPr/>
          <p:nvPr/>
        </p:nvSpPr>
        <p:spPr>
          <a:xfrm>
            <a:off x="6583680" y="1965960"/>
            <a:ext cx="4946904" cy="1243584"/>
          </a:xfrm>
          <a:prstGeom prst="roundRect">
            <a:avLst>
              <a:gd name="adj" fmla="val 11765"/>
            </a:avLst>
          </a:prstGeom>
          <a:solidFill>
            <a:srgbClr val="21183E"/>
          </a:solidFill>
          <a:ln w="10160">
            <a:solidFill>
              <a:srgbClr val="43325E"/>
            </a:solidFill>
            <a:prstDash val="solid"/>
          </a:ln>
        </p:spPr>
      </p:sp>
      <p:sp>
        <p:nvSpPr>
          <p:cNvPr id="11" name="Text 8"/>
          <p:cNvSpPr/>
          <p:nvPr/>
        </p:nvSpPr>
        <p:spPr>
          <a:xfrm>
            <a:off x="6766560" y="2093976"/>
            <a:ext cx="594360" cy="393192"/>
          </a:xfrm>
          <a:prstGeom prst="rect">
            <a:avLst/>
          </a:prstGeom>
          <a:noFill/>
          <a:ln/>
        </p:spPr>
        <p:txBody>
          <a:bodyPr wrap="square" lIns="0" tIns="0" rIns="0" bIns="0" rtlCol="0" anchor="ctr">
            <a:normAutofit/>
          </a:bodyPr>
          <a:lstStyle/>
          <a:p>
            <a:pPr indent="0" marL="0">
              <a:buNone/>
            </a:pPr>
            <a:r>
              <a:rPr lang="en-US" sz="2400" b="1" dirty="0">
                <a:solidFill>
                  <a:srgbClr val="E04CF4"/>
                </a:solidFill>
                <a:latin typeface="Inter Display" pitchFamily="34" charset="0"/>
                <a:ea typeface="Inter Display" pitchFamily="34" charset="-122"/>
                <a:cs typeface="Inter Display" pitchFamily="34" charset="-120"/>
              </a:rPr>
              <a:t>30s</a:t>
            </a:r>
            <a:endParaRPr lang="en-US" sz="2400" dirty="0"/>
          </a:p>
        </p:txBody>
      </p:sp>
      <p:sp>
        <p:nvSpPr>
          <p:cNvPr id="12" name="Text 9"/>
          <p:cNvSpPr/>
          <p:nvPr/>
        </p:nvSpPr>
        <p:spPr>
          <a:xfrm>
            <a:off x="7388352" y="2084832"/>
            <a:ext cx="3959352" cy="356616"/>
          </a:xfrm>
          <a:prstGeom prst="rect">
            <a:avLst/>
          </a:prstGeom>
          <a:noFill/>
          <a:ln/>
        </p:spPr>
        <p:txBody>
          <a:bodyPr wrap="square" lIns="0" tIns="0" rIns="0" bIns="0" rtlCol="0" anchor="ctr">
            <a:normAutofit/>
          </a:bodyPr>
          <a:lstStyle/>
          <a:p>
            <a:pPr indent="0" marL="0">
              <a:buNone/>
            </a:pPr>
            <a:r>
              <a:rPr lang="en-US" sz="1620" b="1" dirty="0">
                <a:solidFill>
                  <a:srgbClr val="FFFFFF"/>
                </a:solidFill>
                <a:latin typeface="Inter Display" pitchFamily="34" charset="0"/>
                <a:ea typeface="Inter Display" pitchFamily="34" charset="-122"/>
                <a:cs typeface="Inter Display" pitchFamily="34" charset="-120"/>
              </a:rPr>
              <a:t>Count down</a:t>
            </a:r>
            <a:endParaRPr lang="en-US" sz="1620" dirty="0"/>
          </a:p>
        </p:txBody>
      </p:sp>
      <p:sp>
        <p:nvSpPr>
          <p:cNvPr id="13" name="Text 10"/>
          <p:cNvSpPr/>
          <p:nvPr/>
        </p:nvSpPr>
        <p:spPr>
          <a:xfrm>
            <a:off x="7388352" y="2514600"/>
            <a:ext cx="4014216" cy="512064"/>
          </a:xfrm>
          <a:prstGeom prst="rect">
            <a:avLst/>
          </a:prstGeom>
          <a:noFill/>
          <a:ln/>
        </p:spPr>
        <p:txBody>
          <a:bodyPr wrap="square" lIns="0" tIns="0" rIns="0" bIns="0" rtlCol="0" anchor="t">
            <a:normAutofit/>
          </a:bodyPr>
          <a:lstStyle/>
          <a:p>
            <a:pPr indent="0" marL="0">
              <a:buNone/>
            </a:pPr>
            <a:r>
              <a:rPr lang="en-US" sz="1170" dirty="0">
                <a:solidFill>
                  <a:srgbClr val="B6AACF"/>
                </a:solidFill>
                <a:latin typeface="Inter" pitchFamily="34" charset="0"/>
                <a:ea typeface="Inter" pitchFamily="34" charset="-122"/>
                <a:cs typeface="Inter" pitchFamily="34" charset="-120"/>
              </a:rPr>
              <a:t>The clock starts on Start Turn.</a:t>
            </a:r>
            <a:endParaRPr lang="en-US" sz="1170" dirty="0"/>
          </a:p>
        </p:txBody>
      </p:sp>
      <p:sp>
        <p:nvSpPr>
          <p:cNvPr id="14" name="Shape 11"/>
          <p:cNvSpPr/>
          <p:nvPr/>
        </p:nvSpPr>
        <p:spPr>
          <a:xfrm>
            <a:off x="6583680" y="3410712"/>
            <a:ext cx="4946904" cy="1243584"/>
          </a:xfrm>
          <a:prstGeom prst="roundRect">
            <a:avLst>
              <a:gd name="adj" fmla="val 11765"/>
            </a:avLst>
          </a:prstGeom>
          <a:solidFill>
            <a:srgbClr val="21183E"/>
          </a:solidFill>
          <a:ln w="10160">
            <a:solidFill>
              <a:srgbClr val="43325E"/>
            </a:solidFill>
            <a:prstDash val="solid"/>
          </a:ln>
        </p:spPr>
      </p:sp>
      <p:sp>
        <p:nvSpPr>
          <p:cNvPr id="15" name="Text 12"/>
          <p:cNvSpPr/>
          <p:nvPr/>
        </p:nvSpPr>
        <p:spPr>
          <a:xfrm>
            <a:off x="6766560" y="3538728"/>
            <a:ext cx="594360" cy="393192"/>
          </a:xfrm>
          <a:prstGeom prst="rect">
            <a:avLst/>
          </a:prstGeom>
          <a:noFill/>
          <a:ln/>
        </p:spPr>
        <p:txBody>
          <a:bodyPr wrap="square" lIns="0" tIns="0" rIns="0" bIns="0" rtlCol="0" anchor="ctr">
            <a:normAutofit/>
          </a:bodyPr>
          <a:lstStyle/>
          <a:p>
            <a:pPr indent="0" marL="0">
              <a:buNone/>
            </a:pPr>
            <a:r>
              <a:rPr lang="en-US" sz="2400" b="1" dirty="0">
                <a:solidFill>
                  <a:srgbClr val="42D4F4"/>
                </a:solidFill>
                <a:latin typeface="Inter Display" pitchFamily="34" charset="0"/>
                <a:ea typeface="Inter Display" pitchFamily="34" charset="-122"/>
                <a:cs typeface="Inter Display" pitchFamily="34" charset="-120"/>
              </a:rPr>
              <a:t>4×</a:t>
            </a:r>
            <a:endParaRPr lang="en-US" sz="2400" dirty="0"/>
          </a:p>
        </p:txBody>
      </p:sp>
      <p:sp>
        <p:nvSpPr>
          <p:cNvPr id="16" name="Text 13"/>
          <p:cNvSpPr/>
          <p:nvPr/>
        </p:nvSpPr>
        <p:spPr>
          <a:xfrm>
            <a:off x="7388352" y="3529584"/>
            <a:ext cx="3959352" cy="356616"/>
          </a:xfrm>
          <a:prstGeom prst="rect">
            <a:avLst/>
          </a:prstGeom>
          <a:noFill/>
          <a:ln/>
        </p:spPr>
        <p:txBody>
          <a:bodyPr wrap="square" lIns="0" tIns="0" rIns="0" bIns="0" rtlCol="0" anchor="ctr">
            <a:normAutofit/>
          </a:bodyPr>
          <a:lstStyle/>
          <a:p>
            <a:pPr indent="0" marL="0">
              <a:buNone/>
            </a:pPr>
            <a:r>
              <a:rPr lang="en-US" sz="1620" b="1" dirty="0">
                <a:solidFill>
                  <a:srgbClr val="FFFFFF"/>
                </a:solidFill>
                <a:latin typeface="Inter Display" pitchFamily="34" charset="0"/>
                <a:ea typeface="Inter Display" pitchFamily="34" charset="-122"/>
                <a:cs typeface="Inter Display" pitchFamily="34" charset="-120"/>
              </a:rPr>
              <a:t>Choose an answer</a:t>
            </a:r>
            <a:endParaRPr lang="en-US" sz="1620" dirty="0"/>
          </a:p>
        </p:txBody>
      </p:sp>
      <p:sp>
        <p:nvSpPr>
          <p:cNvPr id="17" name="Text 14"/>
          <p:cNvSpPr/>
          <p:nvPr/>
        </p:nvSpPr>
        <p:spPr>
          <a:xfrm>
            <a:off x="7388352" y="3959352"/>
            <a:ext cx="4014216" cy="512064"/>
          </a:xfrm>
          <a:prstGeom prst="rect">
            <a:avLst/>
          </a:prstGeom>
          <a:noFill/>
          <a:ln/>
        </p:spPr>
        <p:txBody>
          <a:bodyPr wrap="square" lIns="0" tIns="0" rIns="0" bIns="0" rtlCol="0" anchor="t">
            <a:normAutofit/>
          </a:bodyPr>
          <a:lstStyle/>
          <a:p>
            <a:pPr indent="0" marL="0">
              <a:buNone/>
            </a:pPr>
            <a:r>
              <a:rPr lang="en-US" sz="1170" dirty="0">
                <a:solidFill>
                  <a:srgbClr val="B6AACF"/>
                </a:solidFill>
                <a:latin typeface="Inter" pitchFamily="34" charset="0"/>
                <a:ea typeface="Inter" pitchFamily="34" charset="-122"/>
                <a:cs typeface="Inter" pitchFamily="34" charset="-120"/>
              </a:rPr>
              <a:t>One correct answer; three distractors.</a:t>
            </a:r>
            <a:endParaRPr lang="en-US" sz="1170" dirty="0"/>
          </a:p>
        </p:txBody>
      </p:sp>
      <p:sp>
        <p:nvSpPr>
          <p:cNvPr id="18" name="Shape 15"/>
          <p:cNvSpPr/>
          <p:nvPr/>
        </p:nvSpPr>
        <p:spPr>
          <a:xfrm>
            <a:off x="6583680" y="4855464"/>
            <a:ext cx="4946904" cy="1243584"/>
          </a:xfrm>
          <a:prstGeom prst="roundRect">
            <a:avLst>
              <a:gd name="adj" fmla="val 11765"/>
            </a:avLst>
          </a:prstGeom>
          <a:solidFill>
            <a:srgbClr val="21183E"/>
          </a:solidFill>
          <a:ln w="10160">
            <a:solidFill>
              <a:srgbClr val="43325E"/>
            </a:solidFill>
            <a:prstDash val="solid"/>
          </a:ln>
        </p:spPr>
      </p:sp>
      <p:sp>
        <p:nvSpPr>
          <p:cNvPr id="19" name="Text 16"/>
          <p:cNvSpPr/>
          <p:nvPr/>
        </p:nvSpPr>
        <p:spPr>
          <a:xfrm>
            <a:off x="6766560" y="4983480"/>
            <a:ext cx="594360" cy="393192"/>
          </a:xfrm>
          <a:prstGeom prst="rect">
            <a:avLst/>
          </a:prstGeom>
          <a:noFill/>
          <a:ln/>
        </p:spPr>
        <p:txBody>
          <a:bodyPr wrap="square" lIns="0" tIns="0" rIns="0" bIns="0" rtlCol="0" anchor="ctr">
            <a:normAutofit/>
          </a:bodyPr>
          <a:lstStyle/>
          <a:p>
            <a:pPr indent="0" marL="0">
              <a:buNone/>
            </a:pPr>
            <a:r>
              <a:rPr lang="en-US" sz="2400" b="1" dirty="0">
                <a:solidFill>
                  <a:srgbClr val="31DDA1"/>
                </a:solidFill>
                <a:latin typeface="Inter Display" pitchFamily="34" charset="0"/>
                <a:ea typeface="Inter Display" pitchFamily="34" charset="-122"/>
                <a:cs typeface="Inter Display" pitchFamily="34" charset="-120"/>
              </a:rPr>
              <a:t>+100</a:t>
            </a:r>
            <a:endParaRPr lang="en-US" sz="2400" dirty="0"/>
          </a:p>
        </p:txBody>
      </p:sp>
      <p:sp>
        <p:nvSpPr>
          <p:cNvPr id="20" name="Text 17"/>
          <p:cNvSpPr/>
          <p:nvPr/>
        </p:nvSpPr>
        <p:spPr>
          <a:xfrm>
            <a:off x="7388352" y="4974336"/>
            <a:ext cx="3959352" cy="356616"/>
          </a:xfrm>
          <a:prstGeom prst="rect">
            <a:avLst/>
          </a:prstGeom>
          <a:noFill/>
          <a:ln/>
        </p:spPr>
        <p:txBody>
          <a:bodyPr wrap="square" lIns="0" tIns="0" rIns="0" bIns="0" rtlCol="0" anchor="ctr">
            <a:normAutofit/>
          </a:bodyPr>
          <a:lstStyle/>
          <a:p>
            <a:pPr indent="0" marL="0">
              <a:buNone/>
            </a:pPr>
            <a:r>
              <a:rPr lang="en-US" sz="1620" b="1" dirty="0">
                <a:solidFill>
                  <a:srgbClr val="FFFFFF"/>
                </a:solidFill>
                <a:latin typeface="Inter Display" pitchFamily="34" charset="0"/>
                <a:ea typeface="Inter Display" pitchFamily="34" charset="-122"/>
                <a:cs typeface="Inter Display" pitchFamily="34" charset="-120"/>
              </a:rPr>
              <a:t>Earn the point</a:t>
            </a:r>
            <a:endParaRPr lang="en-US" sz="1620" dirty="0"/>
          </a:p>
        </p:txBody>
      </p:sp>
      <p:sp>
        <p:nvSpPr>
          <p:cNvPr id="21" name="Text 18"/>
          <p:cNvSpPr/>
          <p:nvPr/>
        </p:nvSpPr>
        <p:spPr>
          <a:xfrm>
            <a:off x="7388352" y="5404104"/>
            <a:ext cx="4014216" cy="512064"/>
          </a:xfrm>
          <a:prstGeom prst="rect">
            <a:avLst/>
          </a:prstGeom>
          <a:noFill/>
          <a:ln/>
        </p:spPr>
        <p:txBody>
          <a:bodyPr wrap="square" lIns="0" tIns="0" rIns="0" bIns="0" rtlCol="0" anchor="t">
            <a:normAutofit/>
          </a:bodyPr>
          <a:lstStyle/>
          <a:p>
            <a:pPr indent="0" marL="0">
              <a:buNone/>
            </a:pPr>
            <a:r>
              <a:rPr lang="en-US" sz="1170" dirty="0">
                <a:solidFill>
                  <a:srgbClr val="B6AACF"/>
                </a:solidFill>
                <a:latin typeface="Inter" pitchFamily="34" charset="0"/>
                <a:ea typeface="Inter" pitchFamily="34" charset="-122"/>
                <a:cs typeface="Inter" pitchFamily="34" charset="-120"/>
              </a:rPr>
              <a:t>Correct answers update local scores.</a:t>
            </a:r>
            <a:endParaRPr lang="en-US" sz="1170" dirty="0"/>
          </a:p>
        </p:txBody>
      </p:sp>
      <p:sp>
        <p:nvSpPr>
          <p:cNvPr id="22" name="Text 19"/>
          <p:cNvSpPr/>
          <p:nvPr/>
        </p:nvSpPr>
        <p:spPr>
          <a:xfrm>
            <a:off x="585216" y="6281928"/>
            <a:ext cx="10835640" cy="164592"/>
          </a:xfrm>
          <a:prstGeom prst="rect">
            <a:avLst/>
          </a:prstGeom>
          <a:noFill/>
          <a:ln/>
        </p:spPr>
        <p:txBody>
          <a:bodyPr wrap="square" lIns="0" tIns="0" rIns="0" bIns="0" rtlCol="0" anchor="ctr">
            <a:normAutofit/>
          </a:bodyPr>
          <a:lstStyle/>
          <a:p>
            <a:pPr indent="0" marL="0">
              <a:buNone/>
            </a:pPr>
            <a:r>
              <a:rPr lang="en-US" sz="920" i="1" dirty="0">
                <a:solidFill>
                  <a:srgbClr val="B6AACF"/>
                </a:solidFill>
                <a:latin typeface="Inter" pitchFamily="34" charset="0"/>
                <a:ea typeface="Inter" pitchFamily="34" charset="-122"/>
                <a:cs typeface="Inter" pitchFamily="34" charset="-120"/>
              </a:rPr>
              <a:t>Timeout or incorrect selection earns 0 points. Correct feedback is shown immediately.</a:t>
            </a:r>
            <a:endParaRPr lang="en-US" sz="920" dirty="0"/>
          </a:p>
        </p:txBody>
      </p:sp>
      <p:sp>
        <p:nvSpPr>
          <p:cNvPr id="23" name="Shape 20"/>
          <p:cNvSpPr/>
          <p:nvPr/>
        </p:nvSpPr>
        <p:spPr>
          <a:xfrm>
            <a:off x="566928" y="6556248"/>
            <a:ext cx="11045952" cy="0"/>
          </a:xfrm>
          <a:prstGeom prst="line">
            <a:avLst/>
          </a:prstGeom>
          <a:noFill/>
          <a:ln w="8890">
            <a:solidFill>
              <a:srgbClr val="44365D">
                <a:alpha val="80000"/>
              </a:srgbClr>
            </a:solidFill>
            <a:prstDash val="solid"/>
          </a:ln>
        </p:spPr>
      </p:sp>
      <p:sp>
        <p:nvSpPr>
          <p:cNvPr id="24" name="Text 21"/>
          <p:cNvSpPr/>
          <p:nvPr/>
        </p:nvSpPr>
        <p:spPr>
          <a:xfrm>
            <a:off x="585216" y="6601968"/>
            <a:ext cx="7772400" cy="155448"/>
          </a:xfrm>
          <a:prstGeom prst="rect">
            <a:avLst/>
          </a:prstGeom>
          <a:noFill/>
          <a:ln/>
        </p:spPr>
        <p:txBody>
          <a:bodyPr wrap="square" lIns="0" tIns="0" rIns="0" bIns="0" rtlCol="0" anchor="ctr">
            <a:normAutofit/>
          </a:bodyPr>
          <a:lstStyle/>
          <a:p>
            <a:pPr indent="0" marL="0">
              <a:buNone/>
            </a:pPr>
            <a:r>
              <a:rPr lang="en-US" sz="900" b="1" spc="50" kern="0" dirty="0">
                <a:solidFill>
                  <a:srgbClr val="B6AACF"/>
                </a:solidFill>
                <a:latin typeface="Inter Display" pitchFamily="34" charset="0"/>
                <a:ea typeface="Inter Display" pitchFamily="34" charset="-122"/>
                <a:cs typeface="Inter Display" pitchFamily="34" charset="-120"/>
              </a:rPr>
              <a:t>SKETCHQUEST PARTY  /  SE4041 — PART B</a:t>
            </a:r>
            <a:endParaRPr lang="en-US" sz="900" dirty="0"/>
          </a:p>
        </p:txBody>
      </p:sp>
      <p:sp>
        <p:nvSpPr>
          <p:cNvPr id="25" name="Text 22"/>
          <p:cNvSpPr/>
          <p:nvPr/>
        </p:nvSpPr>
        <p:spPr>
          <a:xfrm>
            <a:off x="11155680" y="6583680"/>
            <a:ext cx="457200" cy="201168"/>
          </a:xfrm>
          <a:prstGeom prst="rect">
            <a:avLst/>
          </a:prstGeom>
          <a:noFill/>
          <a:ln/>
        </p:spPr>
        <p:txBody>
          <a:bodyPr wrap="square" lIns="0" tIns="0" rIns="0" bIns="0" rtlCol="0" anchor="ctr">
            <a:normAutofit/>
          </a:bodyPr>
          <a:lstStyle/>
          <a:p>
            <a:pPr algn="r" indent="0" marL="0">
              <a:buNone/>
            </a:pPr>
            <a:r>
              <a:rPr lang="en-US" sz="950" b="1" dirty="0">
                <a:solidFill>
                  <a:srgbClr val="B6AACF"/>
                </a:solidFill>
                <a:latin typeface="Inter Display" pitchFamily="34" charset="0"/>
                <a:ea typeface="Inter Display" pitchFamily="34" charset="-122"/>
                <a:cs typeface="Inter Display"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Shape 1"/>
          <p:cNvSpPr/>
          <p:nvPr/>
        </p:nvSpPr>
        <p:spPr>
          <a:xfrm>
            <a:off x="9290304" y="0"/>
            <a:ext cx="2880360" cy="2880360"/>
          </a:xfrm>
          <a:prstGeom prst="ellipse">
            <a:avLst/>
          </a:prstGeom>
          <a:solidFill>
            <a:srgbClr val="402273">
              <a:alpha val="35000"/>
            </a:srgbClr>
          </a:solidFill>
          <a:ln w="12700">
            <a:solidFill>
              <a:srgbClr val="402273">
                <a:alpha val="0"/>
              </a:srgbClr>
            </a:solidFill>
            <a:prstDash val="solid"/>
          </a:ln>
        </p:spPr>
      </p:sp>
      <p:sp>
        <p:nvSpPr>
          <p:cNvPr id="4" name="Shape 2"/>
          <p:cNvSpPr/>
          <p:nvPr/>
        </p:nvSpPr>
        <p:spPr>
          <a:xfrm>
            <a:off x="0" y="5047488"/>
            <a:ext cx="1773936" cy="1773936"/>
          </a:xfrm>
          <a:prstGeom prst="ellipse">
            <a:avLst/>
          </a:prstGeom>
          <a:solidFill>
            <a:srgbClr val="2C1A61">
              <a:alpha val="36000"/>
            </a:srgbClr>
          </a:solidFill>
          <a:ln w="12700">
            <a:solidFill>
              <a:srgbClr val="2C1A61">
                <a:alpha val="0"/>
              </a:srgbClr>
            </a:solidFill>
            <a:prstDash val="solid"/>
          </a:ln>
        </p:spPr>
      </p:sp>
      <p:sp>
        <p:nvSpPr>
          <p:cNvPr id="5" name="Shape 3"/>
          <p:cNvSpPr/>
          <p:nvPr/>
        </p:nvSpPr>
        <p:spPr>
          <a:xfrm>
            <a:off x="6583680" y="5175504"/>
            <a:ext cx="1572768" cy="1572768"/>
          </a:xfrm>
          <a:prstGeom prst="ellipse">
            <a:avLst/>
          </a:prstGeom>
          <a:solidFill>
            <a:srgbClr val="3B2079">
              <a:alpha val="16000"/>
            </a:srgbClr>
          </a:solidFill>
          <a:ln w="12700">
            <a:solidFill>
              <a:srgbClr val="3B2079">
                <a:alpha val="0"/>
              </a:srgbClr>
            </a:solidFill>
            <a:prstDash val="solid"/>
          </a:ln>
        </p:spPr>
      </p:sp>
      <p:sp>
        <p:nvSpPr>
          <p:cNvPr id="6" name="Text 4"/>
          <p:cNvSpPr/>
          <p:nvPr/>
        </p:nvSpPr>
        <p:spPr>
          <a:xfrm>
            <a:off x="566928" y="329184"/>
            <a:ext cx="7315200" cy="237744"/>
          </a:xfrm>
          <a:prstGeom prst="rect">
            <a:avLst/>
          </a:prstGeom>
          <a:noFill/>
          <a:ln/>
        </p:spPr>
        <p:txBody>
          <a:bodyPr wrap="square" lIns="0" tIns="0" rIns="0" bIns="0" rtlCol="0" anchor="ctr">
            <a:normAutofit/>
          </a:bodyPr>
          <a:lstStyle/>
          <a:p>
            <a:pPr indent="0" marL="0">
              <a:buNone/>
            </a:pPr>
            <a:r>
              <a:rPr lang="en-US" sz="1050" b="1" spc="200" kern="0" dirty="0">
                <a:solidFill>
                  <a:srgbClr val="E04CF4"/>
                </a:solidFill>
                <a:latin typeface="Inter Display" pitchFamily="34" charset="0"/>
                <a:ea typeface="Inter Display" pitchFamily="34" charset="-122"/>
                <a:cs typeface="Inter Display" pitchFamily="34" charset="-120"/>
              </a:rPr>
              <a:t>05 / BUILT FEATURES</a:t>
            </a:r>
            <a:endParaRPr lang="en-US" sz="1050" dirty="0"/>
          </a:p>
        </p:txBody>
      </p:sp>
      <p:sp>
        <p:nvSpPr>
          <p:cNvPr id="7" name="Text 5"/>
          <p:cNvSpPr/>
          <p:nvPr/>
        </p:nvSpPr>
        <p:spPr>
          <a:xfrm>
            <a:off x="566928" y="768096"/>
            <a:ext cx="11082528" cy="576072"/>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Inter Display" pitchFamily="34" charset="0"/>
                <a:ea typeface="Inter Display" pitchFamily="34" charset="-122"/>
                <a:cs typeface="Inter Display" pitchFamily="34" charset="-120"/>
              </a:rPr>
              <a:t>Small rule set. Complete party loop.</a:t>
            </a:r>
            <a:endParaRPr lang="en-US" sz="3200" dirty="0"/>
          </a:p>
        </p:txBody>
      </p:sp>
      <p:sp>
        <p:nvSpPr>
          <p:cNvPr id="8" name="Text 6"/>
          <p:cNvSpPr/>
          <p:nvPr/>
        </p:nvSpPr>
        <p:spPr>
          <a:xfrm>
            <a:off x="594360" y="1389888"/>
            <a:ext cx="10899648" cy="438912"/>
          </a:xfrm>
          <a:prstGeom prst="rect">
            <a:avLst/>
          </a:prstGeom>
          <a:noFill/>
          <a:ln/>
        </p:spPr>
        <p:txBody>
          <a:bodyPr wrap="square" lIns="0" tIns="0" rIns="0" bIns="0" rtlCol="0" anchor="ctr">
            <a:normAutofit/>
          </a:bodyPr>
          <a:lstStyle/>
          <a:p>
            <a:pPr indent="0" marL="0">
              <a:buNone/>
            </a:pPr>
            <a:r>
              <a:rPr lang="en-US" sz="1540" dirty="0">
                <a:solidFill>
                  <a:srgbClr val="B6AACF"/>
                </a:solidFill>
                <a:latin typeface="Inter" pitchFamily="34" charset="0"/>
                <a:ea typeface="Inter" pitchFamily="34" charset="-122"/>
                <a:cs typeface="Inter" pitchFamily="34" charset="-120"/>
              </a:rPr>
              <a:t>What is implemented in the current, manually tested tvOS prototype.</a:t>
            </a:r>
            <a:endParaRPr lang="en-US" sz="1540" dirty="0"/>
          </a:p>
        </p:txBody>
      </p:sp>
      <p:sp>
        <p:nvSpPr>
          <p:cNvPr id="9" name="Shape 7"/>
          <p:cNvSpPr/>
          <p:nvPr/>
        </p:nvSpPr>
        <p:spPr>
          <a:xfrm>
            <a:off x="576072" y="1929384"/>
            <a:ext cx="2743200" cy="1737360"/>
          </a:xfrm>
          <a:prstGeom prst="roundRect">
            <a:avLst>
              <a:gd name="adj" fmla="val 10000"/>
            </a:avLst>
          </a:prstGeom>
          <a:solidFill>
            <a:srgbClr val="201839"/>
          </a:solidFill>
          <a:ln w="8890">
            <a:solidFill>
              <a:srgbClr val="50396C"/>
            </a:solidFill>
            <a:prstDash val="solid"/>
          </a:ln>
        </p:spPr>
      </p:sp>
      <p:sp>
        <p:nvSpPr>
          <p:cNvPr id="10" name="Text 8"/>
          <p:cNvSpPr/>
          <p:nvPr/>
        </p:nvSpPr>
        <p:spPr>
          <a:xfrm>
            <a:off x="777240" y="2103120"/>
            <a:ext cx="2331720" cy="594360"/>
          </a:xfrm>
          <a:prstGeom prst="rect">
            <a:avLst/>
          </a:prstGeom>
          <a:noFill/>
          <a:ln/>
        </p:spPr>
        <p:txBody>
          <a:bodyPr wrap="square" lIns="0" tIns="0" rIns="0" bIns="0" rtlCol="0" anchor="ctr">
            <a:normAutofit/>
          </a:bodyPr>
          <a:lstStyle/>
          <a:p>
            <a:pPr indent="0" marL="0">
              <a:buNone/>
            </a:pPr>
            <a:r>
              <a:rPr lang="en-US" sz="3200" b="1" dirty="0">
                <a:solidFill>
                  <a:srgbClr val="E04CF4"/>
                </a:solidFill>
                <a:latin typeface="Inter Display" pitchFamily="34" charset="0"/>
                <a:ea typeface="Inter Display" pitchFamily="34" charset="-122"/>
                <a:cs typeface="Inter Display" pitchFamily="34" charset="-120"/>
              </a:rPr>
              <a:t>02–04</a:t>
            </a:r>
            <a:endParaRPr lang="en-US" sz="3200" dirty="0"/>
          </a:p>
        </p:txBody>
      </p:sp>
      <p:sp>
        <p:nvSpPr>
          <p:cNvPr id="11" name="Text 9"/>
          <p:cNvSpPr/>
          <p:nvPr/>
        </p:nvSpPr>
        <p:spPr>
          <a:xfrm>
            <a:off x="777240" y="2788920"/>
            <a:ext cx="2423160" cy="338328"/>
          </a:xfrm>
          <a:prstGeom prst="rect">
            <a:avLst/>
          </a:prstGeom>
          <a:noFill/>
          <a:ln/>
        </p:spPr>
        <p:txBody>
          <a:bodyPr wrap="square" lIns="0" tIns="0" rIns="0" bIns="0" rtlCol="0" anchor="ctr">
            <a:normAutofit/>
          </a:bodyPr>
          <a:lstStyle/>
          <a:p>
            <a:pPr indent="0" marL="0">
              <a:buNone/>
            </a:pPr>
            <a:r>
              <a:rPr lang="en-US" sz="1370" b="1" spc="70" kern="0" dirty="0">
                <a:solidFill>
                  <a:srgbClr val="FFFFFF"/>
                </a:solidFill>
                <a:latin typeface="Inter Display" pitchFamily="34" charset="0"/>
                <a:ea typeface="Inter Display" pitchFamily="34" charset="-122"/>
                <a:cs typeface="Inter Display" pitchFamily="34" charset="-120"/>
              </a:rPr>
              <a:t>LOCAL PLAYERS</a:t>
            </a:r>
            <a:endParaRPr lang="en-US" sz="1370" dirty="0"/>
          </a:p>
        </p:txBody>
      </p:sp>
      <p:sp>
        <p:nvSpPr>
          <p:cNvPr id="12" name="Text 10"/>
          <p:cNvSpPr/>
          <p:nvPr/>
        </p:nvSpPr>
        <p:spPr>
          <a:xfrm>
            <a:off x="777240" y="3182112"/>
            <a:ext cx="2414016" cy="274320"/>
          </a:xfrm>
          <a:prstGeom prst="rect">
            <a:avLst/>
          </a:prstGeom>
          <a:noFill/>
          <a:ln/>
        </p:spPr>
        <p:txBody>
          <a:bodyPr wrap="square" lIns="0" tIns="0" rIns="0" bIns="0" rtlCol="0" anchor="ctr">
            <a:normAutofit/>
          </a:bodyPr>
          <a:lstStyle/>
          <a:p>
            <a:pPr indent="0" marL="0">
              <a:buNone/>
            </a:pPr>
            <a:r>
              <a:rPr lang="en-US" sz="1150" dirty="0">
                <a:solidFill>
                  <a:srgbClr val="B6AACF"/>
                </a:solidFill>
                <a:latin typeface="Inter" pitchFamily="34" charset="0"/>
                <a:ea typeface="Inter" pitchFamily="34" charset="-122"/>
                <a:cs typeface="Inter" pitchFamily="34" charset="-120"/>
              </a:rPr>
              <a:t>Turn-based sharing</a:t>
            </a:r>
            <a:endParaRPr lang="en-US" sz="1150" dirty="0"/>
          </a:p>
        </p:txBody>
      </p:sp>
      <p:sp>
        <p:nvSpPr>
          <p:cNvPr id="13" name="Shape 11"/>
          <p:cNvSpPr/>
          <p:nvPr/>
        </p:nvSpPr>
        <p:spPr>
          <a:xfrm>
            <a:off x="3511296" y="1929384"/>
            <a:ext cx="2743200" cy="1737360"/>
          </a:xfrm>
          <a:prstGeom prst="roundRect">
            <a:avLst>
              <a:gd name="adj" fmla="val 10000"/>
            </a:avLst>
          </a:prstGeom>
          <a:solidFill>
            <a:srgbClr val="201839"/>
          </a:solidFill>
          <a:ln w="8890">
            <a:solidFill>
              <a:srgbClr val="50396C"/>
            </a:solidFill>
            <a:prstDash val="solid"/>
          </a:ln>
        </p:spPr>
      </p:sp>
      <p:sp>
        <p:nvSpPr>
          <p:cNvPr id="14" name="Text 12"/>
          <p:cNvSpPr/>
          <p:nvPr/>
        </p:nvSpPr>
        <p:spPr>
          <a:xfrm>
            <a:off x="3712464" y="2103120"/>
            <a:ext cx="2331720" cy="594360"/>
          </a:xfrm>
          <a:prstGeom prst="rect">
            <a:avLst/>
          </a:prstGeom>
          <a:noFill/>
          <a:ln/>
        </p:spPr>
        <p:txBody>
          <a:bodyPr wrap="square" lIns="0" tIns="0" rIns="0" bIns="0" rtlCol="0" anchor="ctr">
            <a:normAutofit/>
          </a:bodyPr>
          <a:lstStyle/>
          <a:p>
            <a:pPr indent="0" marL="0">
              <a:buNone/>
            </a:pPr>
            <a:r>
              <a:rPr lang="en-US" sz="3200" b="1" dirty="0">
                <a:solidFill>
                  <a:srgbClr val="42D4F4"/>
                </a:solidFill>
                <a:latin typeface="Inter Display" pitchFamily="34" charset="0"/>
                <a:ea typeface="Inter Display" pitchFamily="34" charset="-122"/>
                <a:cs typeface="Inter Display" pitchFamily="34" charset="-120"/>
              </a:rPr>
              <a:t>08</a:t>
            </a:r>
            <a:endParaRPr lang="en-US" sz="3200" dirty="0"/>
          </a:p>
        </p:txBody>
      </p:sp>
      <p:sp>
        <p:nvSpPr>
          <p:cNvPr id="15" name="Text 13"/>
          <p:cNvSpPr/>
          <p:nvPr/>
        </p:nvSpPr>
        <p:spPr>
          <a:xfrm>
            <a:off x="3712464" y="2788920"/>
            <a:ext cx="2423160" cy="338328"/>
          </a:xfrm>
          <a:prstGeom prst="rect">
            <a:avLst/>
          </a:prstGeom>
          <a:noFill/>
          <a:ln/>
        </p:spPr>
        <p:txBody>
          <a:bodyPr wrap="square" lIns="0" tIns="0" rIns="0" bIns="0" rtlCol="0" anchor="ctr">
            <a:normAutofit/>
          </a:bodyPr>
          <a:lstStyle/>
          <a:p>
            <a:pPr indent="0" marL="0">
              <a:buNone/>
            </a:pPr>
            <a:r>
              <a:rPr lang="en-US" sz="1370" b="1" spc="70" kern="0" dirty="0">
                <a:solidFill>
                  <a:srgbClr val="FFFFFF"/>
                </a:solidFill>
                <a:latin typeface="Inter Display" pitchFamily="34" charset="0"/>
                <a:ea typeface="Inter Display" pitchFamily="34" charset="-122"/>
                <a:cs typeface="Inter Display" pitchFamily="34" charset="-120"/>
              </a:rPr>
              <a:t>VECTOR SKETCHES</a:t>
            </a:r>
            <a:endParaRPr lang="en-US" sz="1370" dirty="0"/>
          </a:p>
        </p:txBody>
      </p:sp>
      <p:sp>
        <p:nvSpPr>
          <p:cNvPr id="16" name="Text 14"/>
          <p:cNvSpPr/>
          <p:nvPr/>
        </p:nvSpPr>
        <p:spPr>
          <a:xfrm>
            <a:off x="3712464" y="3182112"/>
            <a:ext cx="2414016" cy="274320"/>
          </a:xfrm>
          <a:prstGeom prst="rect">
            <a:avLst/>
          </a:prstGeom>
          <a:noFill/>
          <a:ln/>
        </p:spPr>
        <p:txBody>
          <a:bodyPr wrap="square" lIns="0" tIns="0" rIns="0" bIns="0" rtlCol="0" anchor="ctr">
            <a:normAutofit/>
          </a:bodyPr>
          <a:lstStyle/>
          <a:p>
            <a:pPr indent="0" marL="0">
              <a:buNone/>
            </a:pPr>
            <a:r>
              <a:rPr lang="en-US" sz="1150" dirty="0">
                <a:solidFill>
                  <a:srgbClr val="B6AACF"/>
                </a:solidFill>
                <a:latin typeface="Inter" pitchFamily="34" charset="0"/>
                <a:ea typeface="Inter" pitchFamily="34" charset="-122"/>
                <a:cs typeface="Inter" pitchFamily="34" charset="-120"/>
              </a:rPr>
              <a:t>No PNG dataset dependency</a:t>
            </a:r>
            <a:endParaRPr lang="en-US" sz="1150" dirty="0"/>
          </a:p>
        </p:txBody>
      </p:sp>
      <p:sp>
        <p:nvSpPr>
          <p:cNvPr id="17" name="Shape 15"/>
          <p:cNvSpPr/>
          <p:nvPr/>
        </p:nvSpPr>
        <p:spPr>
          <a:xfrm>
            <a:off x="6446520" y="1929384"/>
            <a:ext cx="2743200" cy="1737360"/>
          </a:xfrm>
          <a:prstGeom prst="roundRect">
            <a:avLst>
              <a:gd name="adj" fmla="val 10000"/>
            </a:avLst>
          </a:prstGeom>
          <a:solidFill>
            <a:srgbClr val="201839"/>
          </a:solidFill>
          <a:ln w="8890">
            <a:solidFill>
              <a:srgbClr val="50396C"/>
            </a:solidFill>
            <a:prstDash val="solid"/>
          </a:ln>
        </p:spPr>
      </p:sp>
      <p:sp>
        <p:nvSpPr>
          <p:cNvPr id="18" name="Text 16"/>
          <p:cNvSpPr/>
          <p:nvPr/>
        </p:nvSpPr>
        <p:spPr>
          <a:xfrm>
            <a:off x="6647688" y="2103120"/>
            <a:ext cx="2331720" cy="594360"/>
          </a:xfrm>
          <a:prstGeom prst="rect">
            <a:avLst/>
          </a:prstGeom>
          <a:noFill/>
          <a:ln/>
        </p:spPr>
        <p:txBody>
          <a:bodyPr wrap="square" lIns="0" tIns="0" rIns="0" bIns="0" rtlCol="0" anchor="ctr">
            <a:normAutofit/>
          </a:bodyPr>
          <a:lstStyle/>
          <a:p>
            <a:pPr indent="0" marL="0">
              <a:buNone/>
            </a:pPr>
            <a:r>
              <a:rPr lang="en-US" sz="3200" b="1" dirty="0">
                <a:solidFill>
                  <a:srgbClr val="FFCC55"/>
                </a:solidFill>
                <a:latin typeface="Inter Display" pitchFamily="34" charset="0"/>
                <a:ea typeface="Inter Display" pitchFamily="34" charset="-122"/>
                <a:cs typeface="Inter Display" pitchFamily="34" charset="-120"/>
              </a:rPr>
              <a:t>03</a:t>
            </a:r>
            <a:endParaRPr lang="en-US" sz="3200" dirty="0"/>
          </a:p>
        </p:txBody>
      </p:sp>
      <p:sp>
        <p:nvSpPr>
          <p:cNvPr id="19" name="Text 17"/>
          <p:cNvSpPr/>
          <p:nvPr/>
        </p:nvSpPr>
        <p:spPr>
          <a:xfrm>
            <a:off x="6647688" y="2788920"/>
            <a:ext cx="2423160" cy="338328"/>
          </a:xfrm>
          <a:prstGeom prst="rect">
            <a:avLst/>
          </a:prstGeom>
          <a:noFill/>
          <a:ln/>
        </p:spPr>
        <p:txBody>
          <a:bodyPr wrap="square" lIns="0" tIns="0" rIns="0" bIns="0" rtlCol="0" anchor="ctr">
            <a:normAutofit/>
          </a:bodyPr>
          <a:lstStyle/>
          <a:p>
            <a:pPr indent="0" marL="0">
              <a:buNone/>
            </a:pPr>
            <a:r>
              <a:rPr lang="en-US" sz="1370" b="1" spc="70" kern="0" dirty="0">
                <a:solidFill>
                  <a:srgbClr val="FFFFFF"/>
                </a:solidFill>
                <a:latin typeface="Inter Display" pitchFamily="34" charset="0"/>
                <a:ea typeface="Inter Display" pitchFamily="34" charset="-122"/>
                <a:cs typeface="Inter Display" pitchFamily="34" charset="-120"/>
              </a:rPr>
              <a:t>ROUNDS EACH</a:t>
            </a:r>
            <a:endParaRPr lang="en-US" sz="1370" dirty="0"/>
          </a:p>
        </p:txBody>
      </p:sp>
      <p:sp>
        <p:nvSpPr>
          <p:cNvPr id="20" name="Text 18"/>
          <p:cNvSpPr/>
          <p:nvPr/>
        </p:nvSpPr>
        <p:spPr>
          <a:xfrm>
            <a:off x="6647688" y="3182112"/>
            <a:ext cx="2414016" cy="274320"/>
          </a:xfrm>
          <a:prstGeom prst="rect">
            <a:avLst/>
          </a:prstGeom>
          <a:noFill/>
          <a:ln/>
        </p:spPr>
        <p:txBody>
          <a:bodyPr wrap="square" lIns="0" tIns="0" rIns="0" bIns="0" rtlCol="0" anchor="ctr">
            <a:normAutofit/>
          </a:bodyPr>
          <a:lstStyle/>
          <a:p>
            <a:pPr indent="0" marL="0">
              <a:buNone/>
            </a:pPr>
            <a:r>
              <a:rPr lang="en-US" sz="1150" dirty="0">
                <a:solidFill>
                  <a:srgbClr val="B6AACF"/>
                </a:solidFill>
                <a:latin typeface="Inter" pitchFamily="34" charset="0"/>
                <a:ea typeface="Inter" pitchFamily="34" charset="-122"/>
                <a:cs typeface="Inter" pitchFamily="34" charset="-120"/>
              </a:rPr>
              <a:t>Fair turn allocation</a:t>
            </a:r>
            <a:endParaRPr lang="en-US" sz="1150" dirty="0"/>
          </a:p>
        </p:txBody>
      </p:sp>
      <p:sp>
        <p:nvSpPr>
          <p:cNvPr id="21" name="Shape 19"/>
          <p:cNvSpPr/>
          <p:nvPr/>
        </p:nvSpPr>
        <p:spPr>
          <a:xfrm>
            <a:off x="9381744" y="1929384"/>
            <a:ext cx="2743200" cy="1737360"/>
          </a:xfrm>
          <a:prstGeom prst="roundRect">
            <a:avLst>
              <a:gd name="adj" fmla="val 10000"/>
            </a:avLst>
          </a:prstGeom>
          <a:solidFill>
            <a:srgbClr val="201839"/>
          </a:solidFill>
          <a:ln w="8890">
            <a:solidFill>
              <a:srgbClr val="50396C"/>
            </a:solidFill>
            <a:prstDash val="solid"/>
          </a:ln>
        </p:spPr>
      </p:sp>
      <p:sp>
        <p:nvSpPr>
          <p:cNvPr id="22" name="Text 20"/>
          <p:cNvSpPr/>
          <p:nvPr/>
        </p:nvSpPr>
        <p:spPr>
          <a:xfrm>
            <a:off x="9582912" y="2103120"/>
            <a:ext cx="2331720" cy="594360"/>
          </a:xfrm>
          <a:prstGeom prst="rect">
            <a:avLst/>
          </a:prstGeom>
          <a:noFill/>
          <a:ln/>
        </p:spPr>
        <p:txBody>
          <a:bodyPr wrap="square" lIns="0" tIns="0" rIns="0" bIns="0" rtlCol="0" anchor="ctr">
            <a:normAutofit/>
          </a:bodyPr>
          <a:lstStyle/>
          <a:p>
            <a:pPr indent="0" marL="0">
              <a:buNone/>
            </a:pPr>
            <a:r>
              <a:rPr lang="en-US" sz="3200" b="1" dirty="0">
                <a:solidFill>
                  <a:srgbClr val="E04CF4"/>
                </a:solidFill>
                <a:latin typeface="Inter Display" pitchFamily="34" charset="0"/>
                <a:ea typeface="Inter Display" pitchFamily="34" charset="-122"/>
                <a:cs typeface="Inter Display" pitchFamily="34" charset="-120"/>
              </a:rPr>
              <a:t>30s</a:t>
            </a:r>
            <a:endParaRPr lang="en-US" sz="3200" dirty="0"/>
          </a:p>
        </p:txBody>
      </p:sp>
      <p:sp>
        <p:nvSpPr>
          <p:cNvPr id="23" name="Text 21"/>
          <p:cNvSpPr/>
          <p:nvPr/>
        </p:nvSpPr>
        <p:spPr>
          <a:xfrm>
            <a:off x="9582912" y="2788920"/>
            <a:ext cx="2423160" cy="338328"/>
          </a:xfrm>
          <a:prstGeom prst="rect">
            <a:avLst/>
          </a:prstGeom>
          <a:noFill/>
          <a:ln/>
        </p:spPr>
        <p:txBody>
          <a:bodyPr wrap="square" lIns="0" tIns="0" rIns="0" bIns="0" rtlCol="0" anchor="ctr">
            <a:normAutofit/>
          </a:bodyPr>
          <a:lstStyle/>
          <a:p>
            <a:pPr indent="0" marL="0">
              <a:buNone/>
            </a:pPr>
            <a:r>
              <a:rPr lang="en-US" sz="1370" b="1" spc="70" kern="0" dirty="0">
                <a:solidFill>
                  <a:srgbClr val="FFFFFF"/>
                </a:solidFill>
                <a:latin typeface="Inter Display" pitchFamily="34" charset="0"/>
                <a:ea typeface="Inter Display" pitchFamily="34" charset="-122"/>
                <a:cs typeface="Inter Display" pitchFamily="34" charset="-120"/>
              </a:rPr>
              <a:t>ANSWER TIMER</a:t>
            </a:r>
            <a:endParaRPr lang="en-US" sz="1370" dirty="0"/>
          </a:p>
        </p:txBody>
      </p:sp>
      <p:sp>
        <p:nvSpPr>
          <p:cNvPr id="24" name="Text 22"/>
          <p:cNvSpPr/>
          <p:nvPr/>
        </p:nvSpPr>
        <p:spPr>
          <a:xfrm>
            <a:off x="9582912" y="3182112"/>
            <a:ext cx="2414016" cy="274320"/>
          </a:xfrm>
          <a:prstGeom prst="rect">
            <a:avLst/>
          </a:prstGeom>
          <a:noFill/>
          <a:ln/>
        </p:spPr>
        <p:txBody>
          <a:bodyPr wrap="square" lIns="0" tIns="0" rIns="0" bIns="0" rtlCol="0" anchor="ctr">
            <a:normAutofit/>
          </a:bodyPr>
          <a:lstStyle/>
          <a:p>
            <a:pPr indent="0" marL="0">
              <a:buNone/>
            </a:pPr>
            <a:r>
              <a:rPr lang="en-US" sz="1150" dirty="0">
                <a:solidFill>
                  <a:srgbClr val="B6AACF"/>
                </a:solidFill>
                <a:latin typeface="Inter" pitchFamily="34" charset="0"/>
                <a:ea typeface="Inter" pitchFamily="34" charset="-122"/>
                <a:cs typeface="Inter" pitchFamily="34" charset="-120"/>
              </a:rPr>
              <a:t>Starts after Ready</a:t>
            </a:r>
            <a:endParaRPr lang="en-US" sz="1150" dirty="0"/>
          </a:p>
        </p:txBody>
      </p:sp>
      <p:sp>
        <p:nvSpPr>
          <p:cNvPr id="25" name="Shape 23"/>
          <p:cNvSpPr/>
          <p:nvPr/>
        </p:nvSpPr>
        <p:spPr>
          <a:xfrm>
            <a:off x="576072" y="3877056"/>
            <a:ext cx="2743200" cy="1737360"/>
          </a:xfrm>
          <a:prstGeom prst="roundRect">
            <a:avLst>
              <a:gd name="adj" fmla="val 10000"/>
            </a:avLst>
          </a:prstGeom>
          <a:solidFill>
            <a:srgbClr val="261A43"/>
          </a:solidFill>
          <a:ln w="8890">
            <a:solidFill>
              <a:srgbClr val="50396C"/>
            </a:solidFill>
            <a:prstDash val="solid"/>
          </a:ln>
        </p:spPr>
      </p:sp>
      <p:sp>
        <p:nvSpPr>
          <p:cNvPr id="26" name="Text 24"/>
          <p:cNvSpPr/>
          <p:nvPr/>
        </p:nvSpPr>
        <p:spPr>
          <a:xfrm>
            <a:off x="777240" y="4050792"/>
            <a:ext cx="2331720" cy="594360"/>
          </a:xfrm>
          <a:prstGeom prst="rect">
            <a:avLst/>
          </a:prstGeom>
          <a:noFill/>
          <a:ln/>
        </p:spPr>
        <p:txBody>
          <a:bodyPr wrap="square" lIns="0" tIns="0" rIns="0" bIns="0" rtlCol="0" anchor="ctr">
            <a:normAutofit/>
          </a:bodyPr>
          <a:lstStyle/>
          <a:p>
            <a:pPr indent="0" marL="0">
              <a:buNone/>
            </a:pPr>
            <a:r>
              <a:rPr lang="en-US" sz="3200" b="1" dirty="0">
                <a:solidFill>
                  <a:srgbClr val="42D4F4"/>
                </a:solidFill>
                <a:latin typeface="Inter Display" pitchFamily="34" charset="0"/>
                <a:ea typeface="Inter Display" pitchFamily="34" charset="-122"/>
                <a:cs typeface="Inter Display" pitchFamily="34" charset="-120"/>
              </a:rPr>
              <a:t>04</a:t>
            </a:r>
            <a:endParaRPr lang="en-US" sz="3200" dirty="0"/>
          </a:p>
        </p:txBody>
      </p:sp>
      <p:sp>
        <p:nvSpPr>
          <p:cNvPr id="27" name="Text 25"/>
          <p:cNvSpPr/>
          <p:nvPr/>
        </p:nvSpPr>
        <p:spPr>
          <a:xfrm>
            <a:off x="777240" y="4736592"/>
            <a:ext cx="2423160" cy="338328"/>
          </a:xfrm>
          <a:prstGeom prst="rect">
            <a:avLst/>
          </a:prstGeom>
          <a:noFill/>
          <a:ln/>
        </p:spPr>
        <p:txBody>
          <a:bodyPr wrap="square" lIns="0" tIns="0" rIns="0" bIns="0" rtlCol="0" anchor="ctr">
            <a:normAutofit/>
          </a:bodyPr>
          <a:lstStyle/>
          <a:p>
            <a:pPr indent="0" marL="0">
              <a:buNone/>
            </a:pPr>
            <a:r>
              <a:rPr lang="en-US" sz="1370" b="1" spc="70" kern="0" dirty="0">
                <a:solidFill>
                  <a:srgbClr val="FFFFFF"/>
                </a:solidFill>
                <a:latin typeface="Inter Display" pitchFamily="34" charset="0"/>
                <a:ea typeface="Inter Display" pitchFamily="34" charset="-122"/>
                <a:cs typeface="Inter Display" pitchFamily="34" charset="-120"/>
              </a:rPr>
              <a:t>ANSWER OPTIONS</a:t>
            </a:r>
            <a:endParaRPr lang="en-US" sz="1370" dirty="0"/>
          </a:p>
        </p:txBody>
      </p:sp>
      <p:sp>
        <p:nvSpPr>
          <p:cNvPr id="28" name="Text 26"/>
          <p:cNvSpPr/>
          <p:nvPr/>
        </p:nvSpPr>
        <p:spPr>
          <a:xfrm>
            <a:off x="777240" y="5129784"/>
            <a:ext cx="2414016" cy="274320"/>
          </a:xfrm>
          <a:prstGeom prst="rect">
            <a:avLst/>
          </a:prstGeom>
          <a:noFill/>
          <a:ln/>
        </p:spPr>
        <p:txBody>
          <a:bodyPr wrap="square" lIns="0" tIns="0" rIns="0" bIns="0" rtlCol="0" anchor="ctr">
            <a:normAutofit/>
          </a:bodyPr>
          <a:lstStyle/>
          <a:p>
            <a:pPr indent="0" marL="0">
              <a:buNone/>
            </a:pPr>
            <a:r>
              <a:rPr lang="en-US" sz="1150" dirty="0">
                <a:solidFill>
                  <a:srgbClr val="B6AACF"/>
                </a:solidFill>
                <a:latin typeface="Inter" pitchFamily="34" charset="0"/>
                <a:ea typeface="Inter" pitchFamily="34" charset="-122"/>
                <a:cs typeface="Inter" pitchFamily="34" charset="-120"/>
              </a:rPr>
              <a:t>One correct choice</a:t>
            </a:r>
            <a:endParaRPr lang="en-US" sz="1150" dirty="0"/>
          </a:p>
        </p:txBody>
      </p:sp>
      <p:sp>
        <p:nvSpPr>
          <p:cNvPr id="29" name="Shape 27"/>
          <p:cNvSpPr/>
          <p:nvPr/>
        </p:nvSpPr>
        <p:spPr>
          <a:xfrm>
            <a:off x="3511296" y="3877056"/>
            <a:ext cx="2743200" cy="1737360"/>
          </a:xfrm>
          <a:prstGeom prst="roundRect">
            <a:avLst>
              <a:gd name="adj" fmla="val 10000"/>
            </a:avLst>
          </a:prstGeom>
          <a:solidFill>
            <a:srgbClr val="261A43"/>
          </a:solidFill>
          <a:ln w="8890">
            <a:solidFill>
              <a:srgbClr val="50396C"/>
            </a:solidFill>
            <a:prstDash val="solid"/>
          </a:ln>
        </p:spPr>
      </p:sp>
      <p:sp>
        <p:nvSpPr>
          <p:cNvPr id="30" name="Text 28"/>
          <p:cNvSpPr/>
          <p:nvPr/>
        </p:nvSpPr>
        <p:spPr>
          <a:xfrm>
            <a:off x="3712464" y="4050792"/>
            <a:ext cx="2331720" cy="594360"/>
          </a:xfrm>
          <a:prstGeom prst="rect">
            <a:avLst/>
          </a:prstGeom>
          <a:noFill/>
          <a:ln/>
        </p:spPr>
        <p:txBody>
          <a:bodyPr wrap="square" lIns="0" tIns="0" rIns="0" bIns="0" rtlCol="0" anchor="ctr">
            <a:normAutofit/>
          </a:bodyPr>
          <a:lstStyle/>
          <a:p>
            <a:pPr indent="0" marL="0">
              <a:buNone/>
            </a:pPr>
            <a:r>
              <a:rPr lang="en-US" sz="3200" b="1" dirty="0">
                <a:solidFill>
                  <a:srgbClr val="FFCC55"/>
                </a:solidFill>
                <a:latin typeface="Inter Display" pitchFamily="34" charset="0"/>
                <a:ea typeface="Inter Display" pitchFamily="34" charset="-122"/>
                <a:cs typeface="Inter Display" pitchFamily="34" charset="-120"/>
              </a:rPr>
              <a:t>100</a:t>
            </a:r>
            <a:endParaRPr lang="en-US" sz="3200" dirty="0"/>
          </a:p>
        </p:txBody>
      </p:sp>
      <p:sp>
        <p:nvSpPr>
          <p:cNvPr id="31" name="Text 29"/>
          <p:cNvSpPr/>
          <p:nvPr/>
        </p:nvSpPr>
        <p:spPr>
          <a:xfrm>
            <a:off x="3712464" y="4736592"/>
            <a:ext cx="2423160" cy="338328"/>
          </a:xfrm>
          <a:prstGeom prst="rect">
            <a:avLst/>
          </a:prstGeom>
          <a:noFill/>
          <a:ln/>
        </p:spPr>
        <p:txBody>
          <a:bodyPr wrap="square" lIns="0" tIns="0" rIns="0" bIns="0" rtlCol="0" anchor="ctr">
            <a:normAutofit/>
          </a:bodyPr>
          <a:lstStyle/>
          <a:p>
            <a:pPr indent="0" marL="0">
              <a:buNone/>
            </a:pPr>
            <a:r>
              <a:rPr lang="en-US" sz="1370" b="1" spc="70" kern="0" dirty="0">
                <a:solidFill>
                  <a:srgbClr val="FFFFFF"/>
                </a:solidFill>
                <a:latin typeface="Inter Display" pitchFamily="34" charset="0"/>
                <a:ea typeface="Inter Display" pitchFamily="34" charset="-122"/>
                <a:cs typeface="Inter Display" pitchFamily="34" charset="-120"/>
              </a:rPr>
              <a:t>POINTS / HIT</a:t>
            </a:r>
            <a:endParaRPr lang="en-US" sz="1370" dirty="0"/>
          </a:p>
        </p:txBody>
      </p:sp>
      <p:sp>
        <p:nvSpPr>
          <p:cNvPr id="32" name="Text 30"/>
          <p:cNvSpPr/>
          <p:nvPr/>
        </p:nvSpPr>
        <p:spPr>
          <a:xfrm>
            <a:off x="3712464" y="5129784"/>
            <a:ext cx="2414016" cy="274320"/>
          </a:xfrm>
          <a:prstGeom prst="rect">
            <a:avLst/>
          </a:prstGeom>
          <a:noFill/>
          <a:ln/>
        </p:spPr>
        <p:txBody>
          <a:bodyPr wrap="square" lIns="0" tIns="0" rIns="0" bIns="0" rtlCol="0" anchor="ctr">
            <a:normAutofit/>
          </a:bodyPr>
          <a:lstStyle/>
          <a:p>
            <a:pPr indent="0" marL="0">
              <a:buNone/>
            </a:pPr>
            <a:r>
              <a:rPr lang="en-US" sz="1150" dirty="0">
                <a:solidFill>
                  <a:srgbClr val="B6AACF"/>
                </a:solidFill>
                <a:latin typeface="Inter" pitchFamily="34" charset="0"/>
                <a:ea typeface="Inter" pitchFamily="34" charset="-122"/>
                <a:cs typeface="Inter" pitchFamily="34" charset="-120"/>
              </a:rPr>
              <a:t>Immediate score update</a:t>
            </a:r>
            <a:endParaRPr lang="en-US" sz="1150" dirty="0"/>
          </a:p>
        </p:txBody>
      </p:sp>
      <p:sp>
        <p:nvSpPr>
          <p:cNvPr id="33" name="Shape 31"/>
          <p:cNvSpPr/>
          <p:nvPr/>
        </p:nvSpPr>
        <p:spPr>
          <a:xfrm>
            <a:off x="6446520" y="3877056"/>
            <a:ext cx="2743200" cy="1737360"/>
          </a:xfrm>
          <a:prstGeom prst="roundRect">
            <a:avLst>
              <a:gd name="adj" fmla="val 10000"/>
            </a:avLst>
          </a:prstGeom>
          <a:solidFill>
            <a:srgbClr val="261A43"/>
          </a:solidFill>
          <a:ln w="8890">
            <a:solidFill>
              <a:srgbClr val="50396C"/>
            </a:solidFill>
            <a:prstDash val="solid"/>
          </a:ln>
        </p:spPr>
      </p:sp>
      <p:sp>
        <p:nvSpPr>
          <p:cNvPr id="34" name="Text 32"/>
          <p:cNvSpPr/>
          <p:nvPr/>
        </p:nvSpPr>
        <p:spPr>
          <a:xfrm>
            <a:off x="6647688" y="4050792"/>
            <a:ext cx="2331720" cy="594360"/>
          </a:xfrm>
          <a:prstGeom prst="rect">
            <a:avLst/>
          </a:prstGeom>
          <a:noFill/>
          <a:ln/>
        </p:spPr>
        <p:txBody>
          <a:bodyPr wrap="square" lIns="0" tIns="0" rIns="0" bIns="0" rtlCol="0" anchor="ctr">
            <a:normAutofit/>
          </a:bodyPr>
          <a:lstStyle/>
          <a:p>
            <a:pPr indent="0" marL="0">
              <a:buNone/>
            </a:pPr>
            <a:r>
              <a:rPr lang="en-US" sz="3200" b="1" dirty="0">
                <a:solidFill>
                  <a:srgbClr val="E04CF4"/>
                </a:solidFill>
                <a:latin typeface="Inter Display" pitchFamily="34" charset="0"/>
                <a:ea typeface="Inter Display" pitchFamily="34" charset="-122"/>
                <a:cs typeface="Inter Display" pitchFamily="34" charset="-120"/>
              </a:rPr>
              <a:t>AUTO</a:t>
            </a:r>
            <a:endParaRPr lang="en-US" sz="3200" dirty="0"/>
          </a:p>
        </p:txBody>
      </p:sp>
      <p:sp>
        <p:nvSpPr>
          <p:cNvPr id="35" name="Text 33"/>
          <p:cNvSpPr/>
          <p:nvPr/>
        </p:nvSpPr>
        <p:spPr>
          <a:xfrm>
            <a:off x="6647688" y="4736592"/>
            <a:ext cx="2423160" cy="338328"/>
          </a:xfrm>
          <a:prstGeom prst="rect">
            <a:avLst/>
          </a:prstGeom>
          <a:noFill/>
          <a:ln/>
        </p:spPr>
        <p:txBody>
          <a:bodyPr wrap="square" lIns="0" tIns="0" rIns="0" bIns="0" rtlCol="0" anchor="ctr">
            <a:normAutofit/>
          </a:bodyPr>
          <a:lstStyle/>
          <a:p>
            <a:pPr indent="0" marL="0">
              <a:buNone/>
            </a:pPr>
            <a:r>
              <a:rPr lang="en-US" sz="1370" b="1" spc="70" kern="0" dirty="0">
                <a:solidFill>
                  <a:srgbClr val="FFFFFF"/>
                </a:solidFill>
                <a:latin typeface="Inter Display" pitchFamily="34" charset="0"/>
                <a:ea typeface="Inter Display" pitchFamily="34" charset="-122"/>
                <a:cs typeface="Inter Display" pitchFamily="34" charset="-120"/>
              </a:rPr>
              <a:t>FOCUS CONTROL</a:t>
            </a:r>
            <a:endParaRPr lang="en-US" sz="1370" dirty="0"/>
          </a:p>
        </p:txBody>
      </p:sp>
      <p:sp>
        <p:nvSpPr>
          <p:cNvPr id="36" name="Text 34"/>
          <p:cNvSpPr/>
          <p:nvPr/>
        </p:nvSpPr>
        <p:spPr>
          <a:xfrm>
            <a:off x="6647688" y="5129784"/>
            <a:ext cx="2414016" cy="274320"/>
          </a:xfrm>
          <a:prstGeom prst="rect">
            <a:avLst/>
          </a:prstGeom>
          <a:noFill/>
          <a:ln/>
        </p:spPr>
        <p:txBody>
          <a:bodyPr wrap="square" lIns="0" tIns="0" rIns="0" bIns="0" rtlCol="0" anchor="ctr">
            <a:normAutofit/>
          </a:bodyPr>
          <a:lstStyle/>
          <a:p>
            <a:pPr indent="0" marL="0">
              <a:buNone/>
            </a:pPr>
            <a:r>
              <a:rPr lang="en-US" sz="1150" dirty="0">
                <a:solidFill>
                  <a:srgbClr val="B6AACF"/>
                </a:solidFill>
                <a:latin typeface="Inter" pitchFamily="34" charset="0"/>
                <a:ea typeface="Inter" pitchFamily="34" charset="-122"/>
                <a:cs typeface="Inter" pitchFamily="34" charset="-120"/>
              </a:rPr>
              <a:t>Ready and Next Player</a:t>
            </a:r>
            <a:endParaRPr lang="en-US" sz="1150" dirty="0"/>
          </a:p>
        </p:txBody>
      </p:sp>
      <p:sp>
        <p:nvSpPr>
          <p:cNvPr id="37" name="Shape 35"/>
          <p:cNvSpPr/>
          <p:nvPr/>
        </p:nvSpPr>
        <p:spPr>
          <a:xfrm>
            <a:off x="9381744" y="3877056"/>
            <a:ext cx="2743200" cy="1737360"/>
          </a:xfrm>
          <a:prstGeom prst="roundRect">
            <a:avLst>
              <a:gd name="adj" fmla="val 10000"/>
            </a:avLst>
          </a:prstGeom>
          <a:solidFill>
            <a:srgbClr val="261A43"/>
          </a:solidFill>
          <a:ln w="8890">
            <a:solidFill>
              <a:srgbClr val="50396C"/>
            </a:solidFill>
            <a:prstDash val="solid"/>
          </a:ln>
        </p:spPr>
      </p:sp>
      <p:sp>
        <p:nvSpPr>
          <p:cNvPr id="38" name="Text 36"/>
          <p:cNvSpPr/>
          <p:nvPr/>
        </p:nvSpPr>
        <p:spPr>
          <a:xfrm>
            <a:off x="9582912" y="4050792"/>
            <a:ext cx="2331720" cy="594360"/>
          </a:xfrm>
          <a:prstGeom prst="rect">
            <a:avLst/>
          </a:prstGeom>
          <a:noFill/>
          <a:ln/>
        </p:spPr>
        <p:txBody>
          <a:bodyPr wrap="square" lIns="0" tIns="0" rIns="0" bIns="0" rtlCol="0" anchor="ctr">
            <a:normAutofit/>
          </a:bodyPr>
          <a:lstStyle/>
          <a:p>
            <a:pPr indent="0" marL="0">
              <a:buNone/>
            </a:pPr>
            <a:r>
              <a:rPr lang="en-US" sz="3200" b="1" dirty="0">
                <a:solidFill>
                  <a:srgbClr val="42D4F4"/>
                </a:solidFill>
                <a:latin typeface="Inter Display" pitchFamily="34" charset="0"/>
                <a:ea typeface="Inter Display" pitchFamily="34" charset="-122"/>
                <a:cs typeface="Inter Display" pitchFamily="34" charset="-120"/>
              </a:rPr>
              <a:t>FINAL</a:t>
            </a:r>
            <a:endParaRPr lang="en-US" sz="3200" dirty="0"/>
          </a:p>
        </p:txBody>
      </p:sp>
      <p:sp>
        <p:nvSpPr>
          <p:cNvPr id="39" name="Text 37"/>
          <p:cNvSpPr/>
          <p:nvPr/>
        </p:nvSpPr>
        <p:spPr>
          <a:xfrm>
            <a:off x="9582912" y="4736592"/>
            <a:ext cx="2423160" cy="338328"/>
          </a:xfrm>
          <a:prstGeom prst="rect">
            <a:avLst/>
          </a:prstGeom>
          <a:noFill/>
          <a:ln/>
        </p:spPr>
        <p:txBody>
          <a:bodyPr wrap="square" lIns="0" tIns="0" rIns="0" bIns="0" rtlCol="0" anchor="ctr">
            <a:normAutofit/>
          </a:bodyPr>
          <a:lstStyle/>
          <a:p>
            <a:pPr indent="0" marL="0">
              <a:buNone/>
            </a:pPr>
            <a:r>
              <a:rPr lang="en-US" sz="1370" b="1" spc="70" kern="0" dirty="0">
                <a:solidFill>
                  <a:srgbClr val="FFFFFF"/>
                </a:solidFill>
                <a:latin typeface="Inter Display" pitchFamily="34" charset="0"/>
                <a:ea typeface="Inter Display" pitchFamily="34" charset="-122"/>
                <a:cs typeface="Inter Display" pitchFamily="34" charset="-120"/>
              </a:rPr>
              <a:t>LEADERBOARD</a:t>
            </a:r>
            <a:endParaRPr lang="en-US" sz="1370" dirty="0"/>
          </a:p>
        </p:txBody>
      </p:sp>
      <p:sp>
        <p:nvSpPr>
          <p:cNvPr id="40" name="Text 38"/>
          <p:cNvSpPr/>
          <p:nvPr/>
        </p:nvSpPr>
        <p:spPr>
          <a:xfrm>
            <a:off x="9582912" y="5129784"/>
            <a:ext cx="2414016" cy="274320"/>
          </a:xfrm>
          <a:prstGeom prst="rect">
            <a:avLst/>
          </a:prstGeom>
          <a:noFill/>
          <a:ln/>
        </p:spPr>
        <p:txBody>
          <a:bodyPr wrap="square" lIns="0" tIns="0" rIns="0" bIns="0" rtlCol="0" anchor="ctr">
            <a:normAutofit/>
          </a:bodyPr>
          <a:lstStyle/>
          <a:p>
            <a:pPr indent="0" marL="0">
              <a:buNone/>
            </a:pPr>
            <a:r>
              <a:rPr lang="en-US" sz="1150" dirty="0">
                <a:solidFill>
                  <a:srgbClr val="B6AACF"/>
                </a:solidFill>
                <a:latin typeface="Inter" pitchFamily="34" charset="0"/>
                <a:ea typeface="Inter" pitchFamily="34" charset="-122"/>
                <a:cs typeface="Inter" pitchFamily="34" charset="-120"/>
              </a:rPr>
              <a:t>Winner / tie + replay</a:t>
            </a:r>
            <a:endParaRPr lang="en-US" sz="1150" dirty="0"/>
          </a:p>
        </p:txBody>
      </p:sp>
      <p:sp>
        <p:nvSpPr>
          <p:cNvPr id="41" name="Shape 39"/>
          <p:cNvSpPr/>
          <p:nvPr/>
        </p:nvSpPr>
        <p:spPr>
          <a:xfrm>
            <a:off x="566928" y="6556248"/>
            <a:ext cx="11045952" cy="0"/>
          </a:xfrm>
          <a:prstGeom prst="line">
            <a:avLst/>
          </a:prstGeom>
          <a:noFill/>
          <a:ln w="8890">
            <a:solidFill>
              <a:srgbClr val="44365D">
                <a:alpha val="80000"/>
              </a:srgbClr>
            </a:solidFill>
            <a:prstDash val="solid"/>
          </a:ln>
        </p:spPr>
      </p:sp>
      <p:sp>
        <p:nvSpPr>
          <p:cNvPr id="42" name="Text 40"/>
          <p:cNvSpPr/>
          <p:nvPr/>
        </p:nvSpPr>
        <p:spPr>
          <a:xfrm>
            <a:off x="585216" y="6601968"/>
            <a:ext cx="7772400" cy="155448"/>
          </a:xfrm>
          <a:prstGeom prst="rect">
            <a:avLst/>
          </a:prstGeom>
          <a:noFill/>
          <a:ln/>
        </p:spPr>
        <p:txBody>
          <a:bodyPr wrap="square" lIns="0" tIns="0" rIns="0" bIns="0" rtlCol="0" anchor="ctr">
            <a:normAutofit/>
          </a:bodyPr>
          <a:lstStyle/>
          <a:p>
            <a:pPr indent="0" marL="0">
              <a:buNone/>
            </a:pPr>
            <a:r>
              <a:rPr lang="en-US" sz="900" b="1" spc="50" kern="0" dirty="0">
                <a:solidFill>
                  <a:srgbClr val="B6AACF"/>
                </a:solidFill>
                <a:latin typeface="Inter Display" pitchFamily="34" charset="0"/>
                <a:ea typeface="Inter Display" pitchFamily="34" charset="-122"/>
                <a:cs typeface="Inter Display" pitchFamily="34" charset="-120"/>
              </a:rPr>
              <a:t>SKETCHQUEST PARTY  /  SE4041 — PART B</a:t>
            </a:r>
            <a:endParaRPr lang="en-US" sz="900" dirty="0"/>
          </a:p>
        </p:txBody>
      </p:sp>
      <p:sp>
        <p:nvSpPr>
          <p:cNvPr id="43" name="Text 41"/>
          <p:cNvSpPr/>
          <p:nvPr/>
        </p:nvSpPr>
        <p:spPr>
          <a:xfrm>
            <a:off x="11155680" y="6583680"/>
            <a:ext cx="457200" cy="201168"/>
          </a:xfrm>
          <a:prstGeom prst="rect">
            <a:avLst/>
          </a:prstGeom>
          <a:noFill/>
          <a:ln/>
        </p:spPr>
        <p:txBody>
          <a:bodyPr wrap="square" lIns="0" tIns="0" rIns="0" bIns="0" rtlCol="0" anchor="ctr">
            <a:normAutofit/>
          </a:bodyPr>
          <a:lstStyle/>
          <a:p>
            <a:pPr algn="r" indent="0" marL="0">
              <a:buNone/>
            </a:pPr>
            <a:r>
              <a:rPr lang="en-US" sz="950" b="1" dirty="0">
                <a:solidFill>
                  <a:srgbClr val="B6AACF"/>
                </a:solidFill>
                <a:latin typeface="Inter Display" pitchFamily="34" charset="0"/>
                <a:ea typeface="Inter Display" pitchFamily="34" charset="-122"/>
                <a:cs typeface="Inter Display"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Shape 1"/>
          <p:cNvSpPr/>
          <p:nvPr/>
        </p:nvSpPr>
        <p:spPr>
          <a:xfrm>
            <a:off x="9290304" y="0"/>
            <a:ext cx="2880360" cy="2880360"/>
          </a:xfrm>
          <a:prstGeom prst="ellipse">
            <a:avLst/>
          </a:prstGeom>
          <a:solidFill>
            <a:srgbClr val="402273">
              <a:alpha val="35000"/>
            </a:srgbClr>
          </a:solidFill>
          <a:ln w="12700">
            <a:solidFill>
              <a:srgbClr val="402273">
                <a:alpha val="0"/>
              </a:srgbClr>
            </a:solidFill>
            <a:prstDash val="solid"/>
          </a:ln>
        </p:spPr>
      </p:sp>
      <p:sp>
        <p:nvSpPr>
          <p:cNvPr id="4" name="Shape 2"/>
          <p:cNvSpPr/>
          <p:nvPr/>
        </p:nvSpPr>
        <p:spPr>
          <a:xfrm>
            <a:off x="0" y="5047488"/>
            <a:ext cx="1773936" cy="1773936"/>
          </a:xfrm>
          <a:prstGeom prst="ellipse">
            <a:avLst/>
          </a:prstGeom>
          <a:solidFill>
            <a:srgbClr val="2C1A61">
              <a:alpha val="36000"/>
            </a:srgbClr>
          </a:solidFill>
          <a:ln w="12700">
            <a:solidFill>
              <a:srgbClr val="2C1A61">
                <a:alpha val="0"/>
              </a:srgbClr>
            </a:solidFill>
            <a:prstDash val="solid"/>
          </a:ln>
        </p:spPr>
      </p:sp>
      <p:sp>
        <p:nvSpPr>
          <p:cNvPr id="5" name="Shape 3"/>
          <p:cNvSpPr/>
          <p:nvPr/>
        </p:nvSpPr>
        <p:spPr>
          <a:xfrm>
            <a:off x="6583680" y="5175504"/>
            <a:ext cx="1572768" cy="1572768"/>
          </a:xfrm>
          <a:prstGeom prst="ellipse">
            <a:avLst/>
          </a:prstGeom>
          <a:solidFill>
            <a:srgbClr val="3B2079">
              <a:alpha val="16000"/>
            </a:srgbClr>
          </a:solidFill>
          <a:ln w="12700">
            <a:solidFill>
              <a:srgbClr val="3B2079">
                <a:alpha val="0"/>
              </a:srgbClr>
            </a:solidFill>
            <a:prstDash val="solid"/>
          </a:ln>
        </p:spPr>
      </p:sp>
      <p:sp>
        <p:nvSpPr>
          <p:cNvPr id="6" name="Text 4"/>
          <p:cNvSpPr/>
          <p:nvPr/>
        </p:nvSpPr>
        <p:spPr>
          <a:xfrm>
            <a:off x="566928" y="329184"/>
            <a:ext cx="7315200" cy="237744"/>
          </a:xfrm>
          <a:prstGeom prst="rect">
            <a:avLst/>
          </a:prstGeom>
          <a:noFill/>
          <a:ln/>
        </p:spPr>
        <p:txBody>
          <a:bodyPr wrap="square" lIns="0" tIns="0" rIns="0" bIns="0" rtlCol="0" anchor="ctr">
            <a:normAutofit/>
          </a:bodyPr>
          <a:lstStyle/>
          <a:p>
            <a:pPr indent="0" marL="0">
              <a:buNone/>
            </a:pPr>
            <a:r>
              <a:rPr lang="en-US" sz="1050" b="1" spc="200" kern="0" dirty="0">
                <a:solidFill>
                  <a:srgbClr val="E04CF4"/>
                </a:solidFill>
                <a:latin typeface="Inter Display" pitchFamily="34" charset="0"/>
                <a:ea typeface="Inter Display" pitchFamily="34" charset="-122"/>
                <a:cs typeface="Inter Display" pitchFamily="34" charset="-120"/>
              </a:rPr>
              <a:t>06 / EXPERIENCE DESIGN</a:t>
            </a:r>
            <a:endParaRPr lang="en-US" sz="1050" dirty="0"/>
          </a:p>
        </p:txBody>
      </p:sp>
      <p:sp>
        <p:nvSpPr>
          <p:cNvPr id="7" name="Text 5"/>
          <p:cNvSpPr/>
          <p:nvPr/>
        </p:nvSpPr>
        <p:spPr>
          <a:xfrm>
            <a:off x="566928" y="768096"/>
            <a:ext cx="11082528" cy="576072"/>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Inter Display" pitchFamily="34" charset="0"/>
                <a:ea typeface="Inter Display" pitchFamily="34" charset="-122"/>
                <a:cs typeface="Inter Display" pitchFamily="34" charset="-120"/>
              </a:rPr>
              <a:t>Designed for a 10-foot interface.</a:t>
            </a:r>
            <a:endParaRPr lang="en-US" sz="3200" dirty="0"/>
          </a:p>
        </p:txBody>
      </p:sp>
      <p:sp>
        <p:nvSpPr>
          <p:cNvPr id="8" name="Text 6"/>
          <p:cNvSpPr/>
          <p:nvPr/>
        </p:nvSpPr>
        <p:spPr>
          <a:xfrm>
            <a:off x="594360" y="1389888"/>
            <a:ext cx="10899648" cy="438912"/>
          </a:xfrm>
          <a:prstGeom prst="rect">
            <a:avLst/>
          </a:prstGeom>
          <a:noFill/>
          <a:ln/>
        </p:spPr>
        <p:txBody>
          <a:bodyPr wrap="square" lIns="0" tIns="0" rIns="0" bIns="0" rtlCol="0" anchor="ctr">
            <a:normAutofit/>
          </a:bodyPr>
          <a:lstStyle/>
          <a:p>
            <a:pPr indent="0" marL="0">
              <a:buNone/>
            </a:pPr>
            <a:r>
              <a:rPr lang="en-US" sz="1540" dirty="0">
                <a:solidFill>
                  <a:srgbClr val="B6AACF"/>
                </a:solidFill>
                <a:latin typeface="Inter" pitchFamily="34" charset="0"/>
                <a:ea typeface="Inter" pitchFamily="34" charset="-122"/>
                <a:cs typeface="Inter" pitchFamily="34" charset="-120"/>
              </a:rPr>
              <a:t>Readable typography, big targets and predictable focus movement.</a:t>
            </a:r>
            <a:endParaRPr lang="en-US" sz="1540" dirty="0"/>
          </a:p>
        </p:txBody>
      </p:sp>
      <p:sp>
        <p:nvSpPr>
          <p:cNvPr id="9" name="Shape 7"/>
          <p:cNvSpPr/>
          <p:nvPr/>
        </p:nvSpPr>
        <p:spPr>
          <a:xfrm>
            <a:off x="640080" y="2029968"/>
            <a:ext cx="6903720" cy="3858768"/>
          </a:xfrm>
          <a:prstGeom prst="roundRect">
            <a:avLst>
              <a:gd name="adj" fmla="val 4739"/>
            </a:avLst>
          </a:prstGeom>
          <a:solidFill>
            <a:srgbClr val="21183E"/>
          </a:solidFill>
          <a:ln w="10160">
            <a:solidFill>
              <a:srgbClr val="4C366E"/>
            </a:solidFill>
            <a:prstDash val="solid"/>
          </a:ln>
        </p:spPr>
      </p:sp>
      <p:pic>
        <p:nvPicPr>
          <p:cNvPr id="10" name="Image 0" descr="/mnt/data/sq_pitch_assets/players.png">    </p:cNvPr>
          <p:cNvPicPr>
            <a:picLocks noChangeAspect="1"/>
          </p:cNvPicPr>
          <p:nvPr/>
        </p:nvPicPr>
        <p:blipFill>
          <a:blip r:embed="rId1"/>
          <a:stretch>
            <a:fillRect/>
          </a:stretch>
        </p:blipFill>
        <p:spPr>
          <a:xfrm>
            <a:off x="804672" y="2185416"/>
            <a:ext cx="6574536" cy="3694176"/>
          </a:xfrm>
          <a:prstGeom prst="rect">
            <a:avLst/>
          </a:prstGeom>
        </p:spPr>
      </p:pic>
      <p:sp>
        <p:nvSpPr>
          <p:cNvPr id="11" name="Shape 8"/>
          <p:cNvSpPr/>
          <p:nvPr/>
        </p:nvSpPr>
        <p:spPr>
          <a:xfrm>
            <a:off x="7900416" y="2103120"/>
            <a:ext cx="274320" cy="274320"/>
          </a:xfrm>
          <a:prstGeom prst="ellipse">
            <a:avLst/>
          </a:prstGeom>
          <a:solidFill>
            <a:srgbClr val="E04CF4"/>
          </a:solidFill>
          <a:ln w="12700">
            <a:solidFill>
              <a:srgbClr val="E04CF4">
                <a:alpha val="0"/>
              </a:srgbClr>
            </a:solidFill>
            <a:prstDash val="solid"/>
          </a:ln>
        </p:spPr>
      </p:sp>
      <p:sp>
        <p:nvSpPr>
          <p:cNvPr id="12" name="Text 9"/>
          <p:cNvSpPr/>
          <p:nvPr/>
        </p:nvSpPr>
        <p:spPr>
          <a:xfrm>
            <a:off x="7900416" y="2107692"/>
            <a:ext cx="274320" cy="182880"/>
          </a:xfrm>
          <a:prstGeom prst="rect">
            <a:avLst/>
          </a:prstGeom>
          <a:noFill/>
          <a:ln/>
        </p:spPr>
        <p:txBody>
          <a:bodyPr wrap="square" lIns="0" tIns="0" rIns="0" bIns="0" rtlCol="0" anchor="ctr">
            <a:normAutofit/>
          </a:bodyPr>
          <a:lstStyle/>
          <a:p>
            <a:pPr algn="ctr" indent="0" marL="0">
              <a:buNone/>
            </a:pPr>
            <a:r>
              <a:rPr lang="en-US" sz="1000" b="1" dirty="0">
                <a:solidFill>
                  <a:srgbClr val="0B0A18"/>
                </a:solidFill>
                <a:latin typeface="Inter Display" pitchFamily="34" charset="0"/>
                <a:ea typeface="Inter Display" pitchFamily="34" charset="-122"/>
                <a:cs typeface="Inter Display" pitchFamily="34" charset="-120"/>
              </a:rPr>
              <a:t>1</a:t>
            </a:r>
            <a:endParaRPr lang="en-US" sz="1000" dirty="0"/>
          </a:p>
        </p:txBody>
      </p:sp>
      <p:sp>
        <p:nvSpPr>
          <p:cNvPr id="13" name="Text 10"/>
          <p:cNvSpPr/>
          <p:nvPr/>
        </p:nvSpPr>
        <p:spPr>
          <a:xfrm>
            <a:off x="8311896" y="2011680"/>
            <a:ext cx="3072384" cy="301752"/>
          </a:xfrm>
          <a:prstGeom prst="rect">
            <a:avLst/>
          </a:prstGeom>
          <a:noFill/>
          <a:ln/>
        </p:spPr>
        <p:txBody>
          <a:bodyPr wrap="square" lIns="0" tIns="0" rIns="0" bIns="0" rtlCol="0" anchor="ctr">
            <a:normAutofit/>
          </a:bodyPr>
          <a:lstStyle/>
          <a:p>
            <a:pPr indent="0" marL="0">
              <a:buNone/>
            </a:pPr>
            <a:r>
              <a:rPr lang="en-US" sz="1350" b="1" dirty="0">
                <a:solidFill>
                  <a:srgbClr val="FFFFFF"/>
                </a:solidFill>
                <a:latin typeface="Inter Display" pitchFamily="34" charset="0"/>
                <a:ea typeface="Inter Display" pitchFamily="34" charset="-122"/>
                <a:cs typeface="Inter Display" pitchFamily="34" charset="-120"/>
              </a:rPr>
              <a:t>TV-FIRST SCALE</a:t>
            </a:r>
            <a:endParaRPr lang="en-US" sz="1350" dirty="0"/>
          </a:p>
        </p:txBody>
      </p:sp>
      <p:sp>
        <p:nvSpPr>
          <p:cNvPr id="14" name="Text 11"/>
          <p:cNvSpPr/>
          <p:nvPr/>
        </p:nvSpPr>
        <p:spPr>
          <a:xfrm>
            <a:off x="8311896" y="2340864"/>
            <a:ext cx="3054096" cy="356616"/>
          </a:xfrm>
          <a:prstGeom prst="rect">
            <a:avLst/>
          </a:prstGeom>
          <a:noFill/>
          <a:ln/>
        </p:spPr>
        <p:txBody>
          <a:bodyPr wrap="square" lIns="0" tIns="0" rIns="0" bIns="0" rtlCol="0" anchor="t">
            <a:normAutofit/>
          </a:bodyPr>
          <a:lstStyle/>
          <a:p>
            <a:pPr indent="0" marL="0">
              <a:buNone/>
            </a:pPr>
            <a:r>
              <a:rPr lang="en-US" sz="1160" dirty="0">
                <a:solidFill>
                  <a:srgbClr val="B6AACF"/>
                </a:solidFill>
                <a:latin typeface="Inter" pitchFamily="34" charset="0"/>
                <a:ea typeface="Inter" pitchFamily="34" charset="-122"/>
                <a:cs typeface="Inter" pitchFamily="34" charset="-120"/>
              </a:rPr>
              <a:t>Large labels and full-screen feedback</a:t>
            </a:r>
            <a:endParaRPr lang="en-US" sz="1160" dirty="0"/>
          </a:p>
        </p:txBody>
      </p:sp>
      <p:sp>
        <p:nvSpPr>
          <p:cNvPr id="15" name="Shape 12"/>
          <p:cNvSpPr/>
          <p:nvPr/>
        </p:nvSpPr>
        <p:spPr>
          <a:xfrm>
            <a:off x="7900416" y="3044952"/>
            <a:ext cx="274320" cy="274320"/>
          </a:xfrm>
          <a:prstGeom prst="ellipse">
            <a:avLst/>
          </a:prstGeom>
          <a:solidFill>
            <a:srgbClr val="42D4F4"/>
          </a:solidFill>
          <a:ln w="12700">
            <a:solidFill>
              <a:srgbClr val="42D4F4">
                <a:alpha val="0"/>
              </a:srgbClr>
            </a:solidFill>
            <a:prstDash val="solid"/>
          </a:ln>
        </p:spPr>
      </p:sp>
      <p:sp>
        <p:nvSpPr>
          <p:cNvPr id="16" name="Text 13"/>
          <p:cNvSpPr/>
          <p:nvPr/>
        </p:nvSpPr>
        <p:spPr>
          <a:xfrm>
            <a:off x="7900416" y="3049524"/>
            <a:ext cx="274320" cy="182880"/>
          </a:xfrm>
          <a:prstGeom prst="rect">
            <a:avLst/>
          </a:prstGeom>
          <a:noFill/>
          <a:ln/>
        </p:spPr>
        <p:txBody>
          <a:bodyPr wrap="square" lIns="0" tIns="0" rIns="0" bIns="0" rtlCol="0" anchor="ctr">
            <a:normAutofit/>
          </a:bodyPr>
          <a:lstStyle/>
          <a:p>
            <a:pPr algn="ctr" indent="0" marL="0">
              <a:buNone/>
            </a:pPr>
            <a:r>
              <a:rPr lang="en-US" sz="1000" b="1" dirty="0">
                <a:solidFill>
                  <a:srgbClr val="0B0A18"/>
                </a:solidFill>
                <a:latin typeface="Inter Display" pitchFamily="34" charset="0"/>
                <a:ea typeface="Inter Display" pitchFamily="34" charset="-122"/>
                <a:cs typeface="Inter Display" pitchFamily="34" charset="-120"/>
              </a:rPr>
              <a:t>2</a:t>
            </a:r>
            <a:endParaRPr lang="en-US" sz="1000" dirty="0"/>
          </a:p>
        </p:txBody>
      </p:sp>
      <p:sp>
        <p:nvSpPr>
          <p:cNvPr id="17" name="Text 14"/>
          <p:cNvSpPr/>
          <p:nvPr/>
        </p:nvSpPr>
        <p:spPr>
          <a:xfrm>
            <a:off x="8311896" y="2953512"/>
            <a:ext cx="3072384" cy="301752"/>
          </a:xfrm>
          <a:prstGeom prst="rect">
            <a:avLst/>
          </a:prstGeom>
          <a:noFill/>
          <a:ln/>
        </p:spPr>
        <p:txBody>
          <a:bodyPr wrap="square" lIns="0" tIns="0" rIns="0" bIns="0" rtlCol="0" anchor="ctr">
            <a:normAutofit/>
          </a:bodyPr>
          <a:lstStyle/>
          <a:p>
            <a:pPr indent="0" marL="0">
              <a:buNone/>
            </a:pPr>
            <a:r>
              <a:rPr lang="en-US" sz="1350" b="1" dirty="0">
                <a:solidFill>
                  <a:srgbClr val="FFFFFF"/>
                </a:solidFill>
                <a:latin typeface="Inter Display" pitchFamily="34" charset="0"/>
                <a:ea typeface="Inter Display" pitchFamily="34" charset="-122"/>
                <a:cs typeface="Inter Display" pitchFamily="34" charset="-120"/>
              </a:rPr>
              <a:t>FOCUS-BASED INPUT</a:t>
            </a:r>
            <a:endParaRPr lang="en-US" sz="1350" dirty="0"/>
          </a:p>
        </p:txBody>
      </p:sp>
      <p:sp>
        <p:nvSpPr>
          <p:cNvPr id="18" name="Text 15"/>
          <p:cNvSpPr/>
          <p:nvPr/>
        </p:nvSpPr>
        <p:spPr>
          <a:xfrm>
            <a:off x="8311896" y="3282696"/>
            <a:ext cx="3054096" cy="356616"/>
          </a:xfrm>
          <a:prstGeom prst="rect">
            <a:avLst/>
          </a:prstGeom>
          <a:noFill/>
          <a:ln/>
        </p:spPr>
        <p:txBody>
          <a:bodyPr wrap="square" lIns="0" tIns="0" rIns="0" bIns="0" rtlCol="0" anchor="t">
            <a:normAutofit/>
          </a:bodyPr>
          <a:lstStyle/>
          <a:p>
            <a:pPr indent="0" marL="0">
              <a:buNone/>
            </a:pPr>
            <a:r>
              <a:rPr lang="en-US" sz="1160" dirty="0">
                <a:solidFill>
                  <a:srgbClr val="B6AACF"/>
                </a:solidFill>
                <a:latin typeface="Inter" pitchFamily="34" charset="0"/>
                <a:ea typeface="Inter" pitchFamily="34" charset="-122"/>
                <a:cs typeface="Inter" pitchFamily="34" charset="-120"/>
              </a:rPr>
              <a:t>Arrow / remote selection supported</a:t>
            </a:r>
            <a:endParaRPr lang="en-US" sz="1160" dirty="0"/>
          </a:p>
        </p:txBody>
      </p:sp>
      <p:sp>
        <p:nvSpPr>
          <p:cNvPr id="19" name="Shape 16"/>
          <p:cNvSpPr/>
          <p:nvPr/>
        </p:nvSpPr>
        <p:spPr>
          <a:xfrm>
            <a:off x="7900416" y="3986784"/>
            <a:ext cx="274320" cy="274320"/>
          </a:xfrm>
          <a:prstGeom prst="ellipse">
            <a:avLst/>
          </a:prstGeom>
          <a:solidFill>
            <a:srgbClr val="E04CF4"/>
          </a:solidFill>
          <a:ln w="12700">
            <a:solidFill>
              <a:srgbClr val="E04CF4">
                <a:alpha val="0"/>
              </a:srgbClr>
            </a:solidFill>
            <a:prstDash val="solid"/>
          </a:ln>
        </p:spPr>
      </p:sp>
      <p:sp>
        <p:nvSpPr>
          <p:cNvPr id="20" name="Text 17"/>
          <p:cNvSpPr/>
          <p:nvPr/>
        </p:nvSpPr>
        <p:spPr>
          <a:xfrm>
            <a:off x="7900416" y="3991356"/>
            <a:ext cx="274320" cy="182880"/>
          </a:xfrm>
          <a:prstGeom prst="rect">
            <a:avLst/>
          </a:prstGeom>
          <a:noFill/>
          <a:ln/>
        </p:spPr>
        <p:txBody>
          <a:bodyPr wrap="square" lIns="0" tIns="0" rIns="0" bIns="0" rtlCol="0" anchor="ctr">
            <a:normAutofit/>
          </a:bodyPr>
          <a:lstStyle/>
          <a:p>
            <a:pPr algn="ctr" indent="0" marL="0">
              <a:buNone/>
            </a:pPr>
            <a:r>
              <a:rPr lang="en-US" sz="1000" b="1" dirty="0">
                <a:solidFill>
                  <a:srgbClr val="0B0A18"/>
                </a:solidFill>
                <a:latin typeface="Inter Display" pitchFamily="34" charset="0"/>
                <a:ea typeface="Inter Display" pitchFamily="34" charset="-122"/>
                <a:cs typeface="Inter Display" pitchFamily="34" charset="-120"/>
              </a:rPr>
              <a:t>3</a:t>
            </a:r>
            <a:endParaRPr lang="en-US" sz="1000" dirty="0"/>
          </a:p>
        </p:txBody>
      </p:sp>
      <p:sp>
        <p:nvSpPr>
          <p:cNvPr id="21" name="Text 18"/>
          <p:cNvSpPr/>
          <p:nvPr/>
        </p:nvSpPr>
        <p:spPr>
          <a:xfrm>
            <a:off x="8311896" y="3895344"/>
            <a:ext cx="3072384" cy="301752"/>
          </a:xfrm>
          <a:prstGeom prst="rect">
            <a:avLst/>
          </a:prstGeom>
          <a:noFill/>
          <a:ln/>
        </p:spPr>
        <p:txBody>
          <a:bodyPr wrap="square" lIns="0" tIns="0" rIns="0" bIns="0" rtlCol="0" anchor="ctr">
            <a:normAutofit/>
          </a:bodyPr>
          <a:lstStyle/>
          <a:p>
            <a:pPr indent="0" marL="0">
              <a:buNone/>
            </a:pPr>
            <a:r>
              <a:rPr lang="en-US" sz="1350" b="1" dirty="0">
                <a:solidFill>
                  <a:srgbClr val="FFFFFF"/>
                </a:solidFill>
                <a:latin typeface="Inter Display" pitchFamily="34" charset="0"/>
                <a:ea typeface="Inter Display" pitchFamily="34" charset="-122"/>
                <a:cs typeface="Inter Display" pitchFamily="34" charset="-120"/>
              </a:rPr>
              <a:t>TURN HANDOFF</a:t>
            </a:r>
            <a:endParaRPr lang="en-US" sz="1350" dirty="0"/>
          </a:p>
        </p:txBody>
      </p:sp>
      <p:sp>
        <p:nvSpPr>
          <p:cNvPr id="22" name="Text 19"/>
          <p:cNvSpPr/>
          <p:nvPr/>
        </p:nvSpPr>
        <p:spPr>
          <a:xfrm>
            <a:off x="8311896" y="4224528"/>
            <a:ext cx="3054096" cy="356616"/>
          </a:xfrm>
          <a:prstGeom prst="rect">
            <a:avLst/>
          </a:prstGeom>
          <a:noFill/>
          <a:ln/>
        </p:spPr>
        <p:txBody>
          <a:bodyPr wrap="square" lIns="0" tIns="0" rIns="0" bIns="0" rtlCol="0" anchor="t">
            <a:normAutofit/>
          </a:bodyPr>
          <a:lstStyle/>
          <a:p>
            <a:pPr indent="0" marL="0">
              <a:buNone/>
            </a:pPr>
            <a:r>
              <a:rPr lang="en-US" sz="1160" dirty="0">
                <a:solidFill>
                  <a:srgbClr val="B6AACF"/>
                </a:solidFill>
                <a:latin typeface="Inter" pitchFamily="34" charset="0"/>
                <a:ea typeface="Inter" pitchFamily="34" charset="-122"/>
                <a:cs typeface="Inter" pitchFamily="34" charset="-120"/>
              </a:rPr>
              <a:t>Ready screen prevents wasted time</a:t>
            </a:r>
            <a:endParaRPr lang="en-US" sz="1160" dirty="0"/>
          </a:p>
        </p:txBody>
      </p:sp>
      <p:sp>
        <p:nvSpPr>
          <p:cNvPr id="23" name="Shape 20"/>
          <p:cNvSpPr/>
          <p:nvPr/>
        </p:nvSpPr>
        <p:spPr>
          <a:xfrm>
            <a:off x="7900416" y="4928616"/>
            <a:ext cx="274320" cy="274320"/>
          </a:xfrm>
          <a:prstGeom prst="ellipse">
            <a:avLst/>
          </a:prstGeom>
          <a:solidFill>
            <a:srgbClr val="42D4F4"/>
          </a:solidFill>
          <a:ln w="12700">
            <a:solidFill>
              <a:srgbClr val="42D4F4">
                <a:alpha val="0"/>
              </a:srgbClr>
            </a:solidFill>
            <a:prstDash val="solid"/>
          </a:ln>
        </p:spPr>
      </p:sp>
      <p:sp>
        <p:nvSpPr>
          <p:cNvPr id="24" name="Text 21"/>
          <p:cNvSpPr/>
          <p:nvPr/>
        </p:nvSpPr>
        <p:spPr>
          <a:xfrm>
            <a:off x="7900416" y="4933188"/>
            <a:ext cx="274320" cy="182880"/>
          </a:xfrm>
          <a:prstGeom prst="rect">
            <a:avLst/>
          </a:prstGeom>
          <a:noFill/>
          <a:ln/>
        </p:spPr>
        <p:txBody>
          <a:bodyPr wrap="square" lIns="0" tIns="0" rIns="0" bIns="0" rtlCol="0" anchor="ctr">
            <a:normAutofit/>
          </a:bodyPr>
          <a:lstStyle/>
          <a:p>
            <a:pPr algn="ctr" indent="0" marL="0">
              <a:buNone/>
            </a:pPr>
            <a:r>
              <a:rPr lang="en-US" sz="1000" b="1" dirty="0">
                <a:solidFill>
                  <a:srgbClr val="0B0A18"/>
                </a:solidFill>
                <a:latin typeface="Inter Display" pitchFamily="34" charset="0"/>
                <a:ea typeface="Inter Display" pitchFamily="34" charset="-122"/>
                <a:cs typeface="Inter Display" pitchFamily="34" charset="-120"/>
              </a:rPr>
              <a:t>4</a:t>
            </a:r>
            <a:endParaRPr lang="en-US" sz="1000" dirty="0"/>
          </a:p>
        </p:txBody>
      </p:sp>
      <p:sp>
        <p:nvSpPr>
          <p:cNvPr id="25" name="Text 22"/>
          <p:cNvSpPr/>
          <p:nvPr/>
        </p:nvSpPr>
        <p:spPr>
          <a:xfrm>
            <a:off x="8311896" y="4837176"/>
            <a:ext cx="3072384" cy="301752"/>
          </a:xfrm>
          <a:prstGeom prst="rect">
            <a:avLst/>
          </a:prstGeom>
          <a:noFill/>
          <a:ln/>
        </p:spPr>
        <p:txBody>
          <a:bodyPr wrap="square" lIns="0" tIns="0" rIns="0" bIns="0" rtlCol="0" anchor="ctr">
            <a:normAutofit/>
          </a:bodyPr>
          <a:lstStyle/>
          <a:p>
            <a:pPr indent="0" marL="0">
              <a:buNone/>
            </a:pPr>
            <a:r>
              <a:rPr lang="en-US" sz="1350" b="1" dirty="0">
                <a:solidFill>
                  <a:srgbClr val="FFFFFF"/>
                </a:solidFill>
                <a:latin typeface="Inter Display" pitchFamily="34" charset="0"/>
                <a:ea typeface="Inter Display" pitchFamily="34" charset="-122"/>
                <a:cs typeface="Inter Display" pitchFamily="34" charset="-120"/>
              </a:rPr>
              <a:t>CLARITY</a:t>
            </a:r>
            <a:endParaRPr lang="en-US" sz="1350" dirty="0"/>
          </a:p>
        </p:txBody>
      </p:sp>
      <p:sp>
        <p:nvSpPr>
          <p:cNvPr id="26" name="Text 23"/>
          <p:cNvSpPr/>
          <p:nvPr/>
        </p:nvSpPr>
        <p:spPr>
          <a:xfrm>
            <a:off x="8311896" y="5166360"/>
            <a:ext cx="3054096" cy="356616"/>
          </a:xfrm>
          <a:prstGeom prst="rect">
            <a:avLst/>
          </a:prstGeom>
          <a:noFill/>
          <a:ln/>
        </p:spPr>
        <p:txBody>
          <a:bodyPr wrap="square" lIns="0" tIns="0" rIns="0" bIns="0" rtlCol="0" anchor="t">
            <a:normAutofit/>
          </a:bodyPr>
          <a:lstStyle/>
          <a:p>
            <a:pPr indent="0" marL="0">
              <a:buNone/>
            </a:pPr>
            <a:r>
              <a:rPr lang="en-US" sz="1160" dirty="0">
                <a:solidFill>
                  <a:srgbClr val="B6AACF"/>
                </a:solidFill>
                <a:latin typeface="Inter" pitchFamily="34" charset="0"/>
                <a:ea typeface="Inter" pitchFamily="34" charset="-122"/>
                <a:cs typeface="Inter" pitchFamily="34" charset="-120"/>
              </a:rPr>
              <a:t>Single question, four high-contrast choices</a:t>
            </a:r>
            <a:endParaRPr lang="en-US" sz="1160" dirty="0"/>
          </a:p>
        </p:txBody>
      </p:sp>
      <p:sp>
        <p:nvSpPr>
          <p:cNvPr id="27" name="Shape 24"/>
          <p:cNvSpPr/>
          <p:nvPr/>
        </p:nvSpPr>
        <p:spPr>
          <a:xfrm>
            <a:off x="566928" y="6556248"/>
            <a:ext cx="11045952" cy="0"/>
          </a:xfrm>
          <a:prstGeom prst="line">
            <a:avLst/>
          </a:prstGeom>
          <a:noFill/>
          <a:ln w="8890">
            <a:solidFill>
              <a:srgbClr val="44365D">
                <a:alpha val="80000"/>
              </a:srgbClr>
            </a:solidFill>
            <a:prstDash val="solid"/>
          </a:ln>
        </p:spPr>
      </p:sp>
      <p:sp>
        <p:nvSpPr>
          <p:cNvPr id="28" name="Text 25"/>
          <p:cNvSpPr/>
          <p:nvPr/>
        </p:nvSpPr>
        <p:spPr>
          <a:xfrm>
            <a:off x="585216" y="6601968"/>
            <a:ext cx="7772400" cy="155448"/>
          </a:xfrm>
          <a:prstGeom prst="rect">
            <a:avLst/>
          </a:prstGeom>
          <a:noFill/>
          <a:ln/>
        </p:spPr>
        <p:txBody>
          <a:bodyPr wrap="square" lIns="0" tIns="0" rIns="0" bIns="0" rtlCol="0" anchor="ctr">
            <a:normAutofit/>
          </a:bodyPr>
          <a:lstStyle/>
          <a:p>
            <a:pPr indent="0" marL="0">
              <a:buNone/>
            </a:pPr>
            <a:r>
              <a:rPr lang="en-US" sz="900" b="1" spc="50" kern="0" dirty="0">
                <a:solidFill>
                  <a:srgbClr val="B6AACF"/>
                </a:solidFill>
                <a:latin typeface="Inter Display" pitchFamily="34" charset="0"/>
                <a:ea typeface="Inter Display" pitchFamily="34" charset="-122"/>
                <a:cs typeface="Inter Display" pitchFamily="34" charset="-120"/>
              </a:rPr>
              <a:t>SKETCHQUEST PARTY  /  SE4041 — PART B</a:t>
            </a:r>
            <a:endParaRPr lang="en-US" sz="900" dirty="0"/>
          </a:p>
        </p:txBody>
      </p:sp>
      <p:sp>
        <p:nvSpPr>
          <p:cNvPr id="29" name="Text 26"/>
          <p:cNvSpPr/>
          <p:nvPr/>
        </p:nvSpPr>
        <p:spPr>
          <a:xfrm>
            <a:off x="11155680" y="6583680"/>
            <a:ext cx="457200" cy="201168"/>
          </a:xfrm>
          <a:prstGeom prst="rect">
            <a:avLst/>
          </a:prstGeom>
          <a:noFill/>
          <a:ln/>
        </p:spPr>
        <p:txBody>
          <a:bodyPr wrap="square" lIns="0" tIns="0" rIns="0" bIns="0" rtlCol="0" anchor="ctr">
            <a:normAutofit/>
          </a:bodyPr>
          <a:lstStyle/>
          <a:p>
            <a:pPr algn="r" indent="0" marL="0">
              <a:buNone/>
            </a:pPr>
            <a:r>
              <a:rPr lang="en-US" sz="950" b="1" dirty="0">
                <a:solidFill>
                  <a:srgbClr val="B6AACF"/>
                </a:solidFill>
                <a:latin typeface="Inter Display" pitchFamily="34" charset="0"/>
                <a:ea typeface="Inter Display" pitchFamily="34" charset="-122"/>
                <a:cs typeface="Inter Display"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Shape 1"/>
          <p:cNvSpPr/>
          <p:nvPr/>
        </p:nvSpPr>
        <p:spPr>
          <a:xfrm>
            <a:off x="9290304" y="0"/>
            <a:ext cx="2880360" cy="2880360"/>
          </a:xfrm>
          <a:prstGeom prst="ellipse">
            <a:avLst/>
          </a:prstGeom>
          <a:solidFill>
            <a:srgbClr val="402273">
              <a:alpha val="35000"/>
            </a:srgbClr>
          </a:solidFill>
          <a:ln w="12700">
            <a:solidFill>
              <a:srgbClr val="402273">
                <a:alpha val="0"/>
              </a:srgbClr>
            </a:solidFill>
            <a:prstDash val="solid"/>
          </a:ln>
        </p:spPr>
      </p:sp>
      <p:sp>
        <p:nvSpPr>
          <p:cNvPr id="4" name="Shape 2"/>
          <p:cNvSpPr/>
          <p:nvPr/>
        </p:nvSpPr>
        <p:spPr>
          <a:xfrm>
            <a:off x="0" y="5047488"/>
            <a:ext cx="1773936" cy="1773936"/>
          </a:xfrm>
          <a:prstGeom prst="ellipse">
            <a:avLst/>
          </a:prstGeom>
          <a:solidFill>
            <a:srgbClr val="2C1A61">
              <a:alpha val="36000"/>
            </a:srgbClr>
          </a:solidFill>
          <a:ln w="12700">
            <a:solidFill>
              <a:srgbClr val="2C1A61">
                <a:alpha val="0"/>
              </a:srgbClr>
            </a:solidFill>
            <a:prstDash val="solid"/>
          </a:ln>
        </p:spPr>
      </p:sp>
      <p:sp>
        <p:nvSpPr>
          <p:cNvPr id="5" name="Shape 3"/>
          <p:cNvSpPr/>
          <p:nvPr/>
        </p:nvSpPr>
        <p:spPr>
          <a:xfrm>
            <a:off x="6583680" y="5175504"/>
            <a:ext cx="1572768" cy="1572768"/>
          </a:xfrm>
          <a:prstGeom prst="ellipse">
            <a:avLst/>
          </a:prstGeom>
          <a:solidFill>
            <a:srgbClr val="3B2079">
              <a:alpha val="16000"/>
            </a:srgbClr>
          </a:solidFill>
          <a:ln w="12700">
            <a:solidFill>
              <a:srgbClr val="3B2079">
                <a:alpha val="0"/>
              </a:srgbClr>
            </a:solidFill>
            <a:prstDash val="solid"/>
          </a:ln>
        </p:spPr>
      </p:sp>
      <p:sp>
        <p:nvSpPr>
          <p:cNvPr id="6" name="Text 4"/>
          <p:cNvSpPr/>
          <p:nvPr/>
        </p:nvSpPr>
        <p:spPr>
          <a:xfrm>
            <a:off x="566928" y="329184"/>
            <a:ext cx="7315200" cy="237744"/>
          </a:xfrm>
          <a:prstGeom prst="rect">
            <a:avLst/>
          </a:prstGeom>
          <a:noFill/>
          <a:ln/>
        </p:spPr>
        <p:txBody>
          <a:bodyPr wrap="square" lIns="0" tIns="0" rIns="0" bIns="0" rtlCol="0" anchor="ctr">
            <a:normAutofit/>
          </a:bodyPr>
          <a:lstStyle/>
          <a:p>
            <a:pPr indent="0" marL="0">
              <a:buNone/>
            </a:pPr>
            <a:r>
              <a:rPr lang="en-US" sz="1050" b="1" spc="200" kern="0" dirty="0">
                <a:solidFill>
                  <a:srgbClr val="E04CF4"/>
                </a:solidFill>
                <a:latin typeface="Inter Display" pitchFamily="34" charset="0"/>
                <a:ea typeface="Inter Display" pitchFamily="34" charset="-122"/>
                <a:cs typeface="Inter Display" pitchFamily="34" charset="-120"/>
              </a:rPr>
              <a:t>07 / TECHNICAL IMPLEMENTATION</a:t>
            </a:r>
            <a:endParaRPr lang="en-US" sz="1050" dirty="0"/>
          </a:p>
        </p:txBody>
      </p:sp>
      <p:sp>
        <p:nvSpPr>
          <p:cNvPr id="7" name="Text 5"/>
          <p:cNvSpPr/>
          <p:nvPr/>
        </p:nvSpPr>
        <p:spPr>
          <a:xfrm>
            <a:off x="566928" y="768096"/>
            <a:ext cx="11082528" cy="576072"/>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Inter Display" pitchFamily="34" charset="0"/>
                <a:ea typeface="Inter Display" pitchFamily="34" charset="-122"/>
                <a:cs typeface="Inter Display" pitchFamily="34" charset="-120"/>
              </a:rPr>
              <a:t>Simple state, clear responsibilities.</a:t>
            </a:r>
            <a:endParaRPr lang="en-US" sz="3200" dirty="0"/>
          </a:p>
        </p:txBody>
      </p:sp>
      <p:sp>
        <p:nvSpPr>
          <p:cNvPr id="8" name="Text 6"/>
          <p:cNvSpPr/>
          <p:nvPr/>
        </p:nvSpPr>
        <p:spPr>
          <a:xfrm>
            <a:off x="594360" y="1389888"/>
            <a:ext cx="10899648" cy="438912"/>
          </a:xfrm>
          <a:prstGeom prst="rect">
            <a:avLst/>
          </a:prstGeom>
          <a:noFill/>
          <a:ln/>
        </p:spPr>
        <p:txBody>
          <a:bodyPr wrap="square" lIns="0" tIns="0" rIns="0" bIns="0" rtlCol="0" anchor="ctr">
            <a:normAutofit/>
          </a:bodyPr>
          <a:lstStyle/>
          <a:p>
            <a:pPr indent="0" marL="0">
              <a:buNone/>
            </a:pPr>
            <a:r>
              <a:rPr lang="en-US" sz="1540" dirty="0">
                <a:solidFill>
                  <a:srgbClr val="B6AACF"/>
                </a:solidFill>
                <a:latin typeface="Inter" pitchFamily="34" charset="0"/>
                <a:ea typeface="Inter" pitchFamily="34" charset="-122"/>
                <a:cs typeface="Inter" pitchFamily="34" charset="-120"/>
              </a:rPr>
              <a:t>An event-driven SwiftUI flow with no backend or external assets required.</a:t>
            </a:r>
            <a:endParaRPr lang="en-US" sz="1540" dirty="0"/>
          </a:p>
        </p:txBody>
      </p:sp>
      <p:sp>
        <p:nvSpPr>
          <p:cNvPr id="9" name="Shape 7"/>
          <p:cNvSpPr/>
          <p:nvPr/>
        </p:nvSpPr>
        <p:spPr>
          <a:xfrm>
            <a:off x="502920" y="2450592"/>
            <a:ext cx="2139696" cy="2048256"/>
          </a:xfrm>
          <a:prstGeom prst="roundRect">
            <a:avLst>
              <a:gd name="adj" fmla="val 7589"/>
            </a:avLst>
          </a:prstGeom>
          <a:solidFill>
            <a:srgbClr val="21183E"/>
          </a:solidFill>
          <a:ln w="10160">
            <a:solidFill>
              <a:srgbClr val="50406B"/>
            </a:solidFill>
            <a:prstDash val="solid"/>
          </a:ln>
        </p:spPr>
      </p:sp>
      <p:sp>
        <p:nvSpPr>
          <p:cNvPr id="10" name="Text 8"/>
          <p:cNvSpPr/>
          <p:nvPr/>
        </p:nvSpPr>
        <p:spPr>
          <a:xfrm>
            <a:off x="694944" y="2651760"/>
            <a:ext cx="521208" cy="310896"/>
          </a:xfrm>
          <a:prstGeom prst="rect">
            <a:avLst/>
          </a:prstGeom>
          <a:noFill/>
          <a:ln/>
        </p:spPr>
        <p:txBody>
          <a:bodyPr wrap="square" lIns="0" tIns="0" rIns="0" bIns="0" rtlCol="0" anchor="ctr">
            <a:normAutofit/>
          </a:bodyPr>
          <a:lstStyle/>
          <a:p>
            <a:pPr indent="0" marL="0">
              <a:buNone/>
            </a:pPr>
            <a:r>
              <a:rPr lang="en-US" sz="1320" b="1" dirty="0">
                <a:solidFill>
                  <a:srgbClr val="E04CF4"/>
                </a:solidFill>
                <a:latin typeface="Inter Display" pitchFamily="34" charset="0"/>
                <a:ea typeface="Inter Display" pitchFamily="34" charset="-122"/>
                <a:cs typeface="Inter Display" pitchFamily="34" charset="-120"/>
              </a:rPr>
              <a:t>01</a:t>
            </a:r>
            <a:endParaRPr lang="en-US" sz="1320" dirty="0"/>
          </a:p>
        </p:txBody>
      </p:sp>
      <p:sp>
        <p:nvSpPr>
          <p:cNvPr id="11" name="Text 9"/>
          <p:cNvSpPr/>
          <p:nvPr/>
        </p:nvSpPr>
        <p:spPr>
          <a:xfrm>
            <a:off x="694944" y="3081528"/>
            <a:ext cx="1810512" cy="475488"/>
          </a:xfrm>
          <a:prstGeom prst="rect">
            <a:avLst/>
          </a:prstGeom>
          <a:noFill/>
          <a:ln/>
        </p:spPr>
        <p:txBody>
          <a:bodyPr wrap="square" lIns="0" tIns="0" rIns="0" bIns="0" rtlCol="0" anchor="ctr">
            <a:normAutofit/>
          </a:bodyPr>
          <a:lstStyle/>
          <a:p>
            <a:pPr indent="0" marL="0">
              <a:buNone/>
            </a:pPr>
            <a:r>
              <a:rPr lang="en-US" sz="1480" b="1" dirty="0">
                <a:solidFill>
                  <a:srgbClr val="FFFFFF"/>
                </a:solidFill>
                <a:latin typeface="Inter Display" pitchFamily="34" charset="0"/>
                <a:ea typeface="Inter Display" pitchFamily="34" charset="-122"/>
                <a:cs typeface="Inter Display" pitchFamily="34" charset="-120"/>
              </a:rPr>
              <a:t>PLAYER SETUP</a:t>
            </a:r>
            <a:endParaRPr lang="en-US" sz="1480" dirty="0"/>
          </a:p>
        </p:txBody>
      </p:sp>
      <p:sp>
        <p:nvSpPr>
          <p:cNvPr id="12" name="Text 10"/>
          <p:cNvSpPr/>
          <p:nvPr/>
        </p:nvSpPr>
        <p:spPr>
          <a:xfrm>
            <a:off x="685800" y="3666744"/>
            <a:ext cx="1801368" cy="347472"/>
          </a:xfrm>
          <a:prstGeom prst="rect">
            <a:avLst/>
          </a:prstGeom>
          <a:noFill/>
          <a:ln/>
        </p:spPr>
        <p:txBody>
          <a:bodyPr wrap="square" lIns="0" tIns="0" rIns="0" bIns="0" rtlCol="0" anchor="ctr">
            <a:normAutofit/>
          </a:bodyPr>
          <a:lstStyle/>
          <a:p>
            <a:pPr indent="0" marL="0">
              <a:buNone/>
            </a:pPr>
            <a:r>
              <a:rPr lang="en-US" sz="1180" b="1" dirty="0">
                <a:solidFill>
                  <a:srgbClr val="42D4F4"/>
                </a:solidFill>
                <a:latin typeface="Inter Display" pitchFamily="34" charset="0"/>
                <a:ea typeface="Inter Display" pitchFamily="34" charset="-122"/>
                <a:cs typeface="Inter Display" pitchFamily="34" charset="-120"/>
              </a:rPr>
              <a:t>ContentView</a:t>
            </a:r>
            <a:endParaRPr lang="en-US" sz="1180" dirty="0"/>
          </a:p>
        </p:txBody>
      </p:sp>
      <p:sp>
        <p:nvSpPr>
          <p:cNvPr id="13" name="Text 11"/>
          <p:cNvSpPr/>
          <p:nvPr/>
        </p:nvSpPr>
        <p:spPr>
          <a:xfrm>
            <a:off x="685800" y="4050792"/>
            <a:ext cx="1810512" cy="283464"/>
          </a:xfrm>
          <a:prstGeom prst="rect">
            <a:avLst/>
          </a:prstGeom>
          <a:noFill/>
          <a:ln/>
        </p:spPr>
        <p:txBody>
          <a:bodyPr wrap="square" lIns="0" tIns="0" rIns="0" bIns="0" rtlCol="0" anchor="ctr">
            <a:normAutofit/>
          </a:bodyPr>
          <a:lstStyle/>
          <a:p>
            <a:pPr indent="0" marL="0">
              <a:buNone/>
            </a:pPr>
            <a:r>
              <a:rPr lang="en-US" sz="1020" dirty="0">
                <a:solidFill>
                  <a:srgbClr val="B6AACF"/>
                </a:solidFill>
                <a:latin typeface="Inter" pitchFamily="34" charset="0"/>
                <a:ea typeface="Inter" pitchFamily="34" charset="-122"/>
                <a:cs typeface="Inter" pitchFamily="34" charset="-120"/>
              </a:rPr>
              <a:t>2–4 players</a:t>
            </a:r>
            <a:endParaRPr lang="en-US" sz="1020" dirty="0"/>
          </a:p>
        </p:txBody>
      </p:sp>
      <p:sp>
        <p:nvSpPr>
          <p:cNvPr id="14" name="Text 12"/>
          <p:cNvSpPr/>
          <p:nvPr/>
        </p:nvSpPr>
        <p:spPr>
          <a:xfrm>
            <a:off x="2633472" y="3209544"/>
            <a:ext cx="265176" cy="310896"/>
          </a:xfrm>
          <a:prstGeom prst="rect">
            <a:avLst/>
          </a:prstGeom>
          <a:noFill/>
          <a:ln/>
        </p:spPr>
        <p:txBody>
          <a:bodyPr wrap="square" lIns="0" tIns="0" rIns="0" bIns="0" rtlCol="0" anchor="ctr">
            <a:normAutofit/>
          </a:bodyPr>
          <a:lstStyle/>
          <a:p>
            <a:pPr algn="ctr" indent="0" marL="0">
              <a:buNone/>
            </a:pPr>
            <a:r>
              <a:rPr lang="en-US" sz="1900" b="1" dirty="0">
                <a:solidFill>
                  <a:srgbClr val="E04CF4"/>
                </a:solidFill>
                <a:latin typeface="Inter Display" pitchFamily="34" charset="0"/>
                <a:ea typeface="Inter Display" pitchFamily="34" charset="-122"/>
                <a:cs typeface="Inter Display" pitchFamily="34" charset="-120"/>
              </a:rPr>
              <a:t>→</a:t>
            </a:r>
            <a:endParaRPr lang="en-US" sz="1900" dirty="0"/>
          </a:p>
        </p:txBody>
      </p:sp>
      <p:sp>
        <p:nvSpPr>
          <p:cNvPr id="15" name="Shape 13"/>
          <p:cNvSpPr/>
          <p:nvPr/>
        </p:nvSpPr>
        <p:spPr>
          <a:xfrm>
            <a:off x="2871216" y="2450592"/>
            <a:ext cx="2139696" cy="2048256"/>
          </a:xfrm>
          <a:prstGeom prst="roundRect">
            <a:avLst>
              <a:gd name="adj" fmla="val 7589"/>
            </a:avLst>
          </a:prstGeom>
          <a:solidFill>
            <a:srgbClr val="37215A"/>
          </a:solidFill>
          <a:ln w="10160">
            <a:solidFill>
              <a:srgbClr val="8C54D7"/>
            </a:solidFill>
            <a:prstDash val="solid"/>
          </a:ln>
        </p:spPr>
      </p:sp>
      <p:sp>
        <p:nvSpPr>
          <p:cNvPr id="16" name="Text 14"/>
          <p:cNvSpPr/>
          <p:nvPr/>
        </p:nvSpPr>
        <p:spPr>
          <a:xfrm>
            <a:off x="3063240" y="2651760"/>
            <a:ext cx="521208" cy="310896"/>
          </a:xfrm>
          <a:prstGeom prst="rect">
            <a:avLst/>
          </a:prstGeom>
          <a:noFill/>
          <a:ln/>
        </p:spPr>
        <p:txBody>
          <a:bodyPr wrap="square" lIns="0" tIns="0" rIns="0" bIns="0" rtlCol="0" anchor="ctr">
            <a:normAutofit/>
          </a:bodyPr>
          <a:lstStyle/>
          <a:p>
            <a:pPr indent="0" marL="0">
              <a:buNone/>
            </a:pPr>
            <a:r>
              <a:rPr lang="en-US" sz="1320" b="1" dirty="0">
                <a:solidFill>
                  <a:srgbClr val="E04CF4"/>
                </a:solidFill>
                <a:latin typeface="Inter Display" pitchFamily="34" charset="0"/>
                <a:ea typeface="Inter Display" pitchFamily="34" charset="-122"/>
                <a:cs typeface="Inter Display" pitchFamily="34" charset="-120"/>
              </a:rPr>
              <a:t>02</a:t>
            </a:r>
            <a:endParaRPr lang="en-US" sz="1320" dirty="0"/>
          </a:p>
        </p:txBody>
      </p:sp>
      <p:sp>
        <p:nvSpPr>
          <p:cNvPr id="17" name="Text 15"/>
          <p:cNvSpPr/>
          <p:nvPr/>
        </p:nvSpPr>
        <p:spPr>
          <a:xfrm>
            <a:off x="3063240" y="3081528"/>
            <a:ext cx="1810512" cy="475488"/>
          </a:xfrm>
          <a:prstGeom prst="rect">
            <a:avLst/>
          </a:prstGeom>
          <a:noFill/>
          <a:ln/>
        </p:spPr>
        <p:txBody>
          <a:bodyPr wrap="square" lIns="0" tIns="0" rIns="0" bIns="0" rtlCol="0" anchor="ctr">
            <a:normAutofit/>
          </a:bodyPr>
          <a:lstStyle/>
          <a:p>
            <a:pPr indent="0" marL="0">
              <a:buNone/>
            </a:pPr>
            <a:r>
              <a:rPr lang="en-US" sz="1480" b="1" dirty="0">
                <a:solidFill>
                  <a:srgbClr val="FFFFFF"/>
                </a:solidFill>
                <a:latin typeface="Inter Display" pitchFamily="34" charset="0"/>
                <a:ea typeface="Inter Display" pitchFamily="34" charset="-122"/>
                <a:cs typeface="Inter Display" pitchFamily="34" charset="-120"/>
              </a:rPr>
              <a:t>ROUND ENGINE</a:t>
            </a:r>
            <a:endParaRPr lang="en-US" sz="1480" dirty="0"/>
          </a:p>
        </p:txBody>
      </p:sp>
      <p:sp>
        <p:nvSpPr>
          <p:cNvPr id="18" name="Text 16"/>
          <p:cNvSpPr/>
          <p:nvPr/>
        </p:nvSpPr>
        <p:spPr>
          <a:xfrm>
            <a:off x="3054096" y="3666744"/>
            <a:ext cx="1801368" cy="347472"/>
          </a:xfrm>
          <a:prstGeom prst="rect">
            <a:avLst/>
          </a:prstGeom>
          <a:noFill/>
          <a:ln/>
        </p:spPr>
        <p:txBody>
          <a:bodyPr wrap="square" lIns="0" tIns="0" rIns="0" bIns="0" rtlCol="0" anchor="ctr">
            <a:normAutofit/>
          </a:bodyPr>
          <a:lstStyle/>
          <a:p>
            <a:pPr indent="0" marL="0">
              <a:buNone/>
            </a:pPr>
            <a:r>
              <a:rPr lang="en-US" sz="1180" b="1" dirty="0">
                <a:solidFill>
                  <a:srgbClr val="42D4F4"/>
                </a:solidFill>
                <a:latin typeface="Inter Display" pitchFamily="34" charset="0"/>
                <a:ea typeface="Inter Display" pitchFamily="34" charset="-122"/>
                <a:cs typeface="Inter Display" pitchFamily="34" charset="-120"/>
              </a:rPr>
              <a:t>PartyGameView</a:t>
            </a:r>
            <a:endParaRPr lang="en-US" sz="1180" dirty="0"/>
          </a:p>
        </p:txBody>
      </p:sp>
      <p:sp>
        <p:nvSpPr>
          <p:cNvPr id="19" name="Text 17"/>
          <p:cNvSpPr/>
          <p:nvPr/>
        </p:nvSpPr>
        <p:spPr>
          <a:xfrm>
            <a:off x="3054096" y="4050792"/>
            <a:ext cx="1810512" cy="283464"/>
          </a:xfrm>
          <a:prstGeom prst="rect">
            <a:avLst/>
          </a:prstGeom>
          <a:noFill/>
          <a:ln/>
        </p:spPr>
        <p:txBody>
          <a:bodyPr wrap="square" lIns="0" tIns="0" rIns="0" bIns="0" rtlCol="0" anchor="ctr">
            <a:normAutofit/>
          </a:bodyPr>
          <a:lstStyle/>
          <a:p>
            <a:pPr indent="0" marL="0">
              <a:buNone/>
            </a:pPr>
            <a:r>
              <a:rPr lang="en-US" sz="1020" dirty="0">
                <a:solidFill>
                  <a:srgbClr val="B6AACF"/>
                </a:solidFill>
                <a:latin typeface="Inter" pitchFamily="34" charset="0"/>
                <a:ea typeface="Inter" pitchFamily="34" charset="-122"/>
                <a:cs typeface="Inter" pitchFamily="34" charset="-120"/>
              </a:rPr>
              <a:t>turns / timer / score</a:t>
            </a:r>
            <a:endParaRPr lang="en-US" sz="1020" dirty="0"/>
          </a:p>
        </p:txBody>
      </p:sp>
      <p:sp>
        <p:nvSpPr>
          <p:cNvPr id="20" name="Text 18"/>
          <p:cNvSpPr/>
          <p:nvPr/>
        </p:nvSpPr>
        <p:spPr>
          <a:xfrm>
            <a:off x="5001768" y="3209544"/>
            <a:ext cx="265176" cy="310896"/>
          </a:xfrm>
          <a:prstGeom prst="rect">
            <a:avLst/>
          </a:prstGeom>
          <a:noFill/>
          <a:ln/>
        </p:spPr>
        <p:txBody>
          <a:bodyPr wrap="square" lIns="0" tIns="0" rIns="0" bIns="0" rtlCol="0" anchor="ctr">
            <a:normAutofit/>
          </a:bodyPr>
          <a:lstStyle/>
          <a:p>
            <a:pPr algn="ctr" indent="0" marL="0">
              <a:buNone/>
            </a:pPr>
            <a:r>
              <a:rPr lang="en-US" sz="1900" b="1" dirty="0">
                <a:solidFill>
                  <a:srgbClr val="E04CF4"/>
                </a:solidFill>
                <a:latin typeface="Inter Display" pitchFamily="34" charset="0"/>
                <a:ea typeface="Inter Display" pitchFamily="34" charset="-122"/>
                <a:cs typeface="Inter Display" pitchFamily="34" charset="-120"/>
              </a:rPr>
              <a:t>→</a:t>
            </a:r>
            <a:endParaRPr lang="en-US" sz="1900" dirty="0"/>
          </a:p>
        </p:txBody>
      </p:sp>
      <p:sp>
        <p:nvSpPr>
          <p:cNvPr id="21" name="Shape 19"/>
          <p:cNvSpPr/>
          <p:nvPr/>
        </p:nvSpPr>
        <p:spPr>
          <a:xfrm>
            <a:off x="5239512" y="2450592"/>
            <a:ext cx="2139696" cy="2048256"/>
          </a:xfrm>
          <a:prstGeom prst="roundRect">
            <a:avLst>
              <a:gd name="adj" fmla="val 7589"/>
            </a:avLst>
          </a:prstGeom>
          <a:solidFill>
            <a:srgbClr val="21183E"/>
          </a:solidFill>
          <a:ln w="10160">
            <a:solidFill>
              <a:srgbClr val="50406B"/>
            </a:solidFill>
            <a:prstDash val="solid"/>
          </a:ln>
        </p:spPr>
      </p:sp>
      <p:sp>
        <p:nvSpPr>
          <p:cNvPr id="22" name="Text 20"/>
          <p:cNvSpPr/>
          <p:nvPr/>
        </p:nvSpPr>
        <p:spPr>
          <a:xfrm>
            <a:off x="5431536" y="2651760"/>
            <a:ext cx="521208" cy="310896"/>
          </a:xfrm>
          <a:prstGeom prst="rect">
            <a:avLst/>
          </a:prstGeom>
          <a:noFill/>
          <a:ln/>
        </p:spPr>
        <p:txBody>
          <a:bodyPr wrap="square" lIns="0" tIns="0" rIns="0" bIns="0" rtlCol="0" anchor="ctr">
            <a:normAutofit/>
          </a:bodyPr>
          <a:lstStyle/>
          <a:p>
            <a:pPr indent="0" marL="0">
              <a:buNone/>
            </a:pPr>
            <a:r>
              <a:rPr lang="en-US" sz="1320" b="1" dirty="0">
                <a:solidFill>
                  <a:srgbClr val="E04CF4"/>
                </a:solidFill>
                <a:latin typeface="Inter Display" pitchFamily="34" charset="0"/>
                <a:ea typeface="Inter Display" pitchFamily="34" charset="-122"/>
                <a:cs typeface="Inter Display" pitchFamily="34" charset="-120"/>
              </a:rPr>
              <a:t>03</a:t>
            </a:r>
            <a:endParaRPr lang="en-US" sz="1320" dirty="0"/>
          </a:p>
        </p:txBody>
      </p:sp>
      <p:sp>
        <p:nvSpPr>
          <p:cNvPr id="23" name="Text 21"/>
          <p:cNvSpPr/>
          <p:nvPr/>
        </p:nvSpPr>
        <p:spPr>
          <a:xfrm>
            <a:off x="5431536" y="3081528"/>
            <a:ext cx="1810512" cy="475488"/>
          </a:xfrm>
          <a:prstGeom prst="rect">
            <a:avLst/>
          </a:prstGeom>
          <a:noFill/>
          <a:ln/>
        </p:spPr>
        <p:txBody>
          <a:bodyPr wrap="square" lIns="0" tIns="0" rIns="0" bIns="0" rtlCol="0" anchor="ctr">
            <a:normAutofit/>
          </a:bodyPr>
          <a:lstStyle/>
          <a:p>
            <a:pPr indent="0" marL="0">
              <a:buNone/>
            </a:pPr>
            <a:r>
              <a:rPr lang="en-US" sz="1480" b="1" dirty="0">
                <a:solidFill>
                  <a:srgbClr val="FFFFFF"/>
                </a:solidFill>
                <a:latin typeface="Inter Display" pitchFamily="34" charset="0"/>
                <a:ea typeface="Inter Display" pitchFamily="34" charset="-122"/>
                <a:cs typeface="Inter Display" pitchFamily="34" charset="-120"/>
              </a:rPr>
              <a:t>DRAWING VIEW</a:t>
            </a:r>
            <a:endParaRPr lang="en-US" sz="1480" dirty="0"/>
          </a:p>
        </p:txBody>
      </p:sp>
      <p:sp>
        <p:nvSpPr>
          <p:cNvPr id="24" name="Text 22"/>
          <p:cNvSpPr/>
          <p:nvPr/>
        </p:nvSpPr>
        <p:spPr>
          <a:xfrm>
            <a:off x="5422392" y="3666744"/>
            <a:ext cx="1801368" cy="347472"/>
          </a:xfrm>
          <a:prstGeom prst="rect">
            <a:avLst/>
          </a:prstGeom>
          <a:noFill/>
          <a:ln/>
        </p:spPr>
        <p:txBody>
          <a:bodyPr wrap="square" lIns="0" tIns="0" rIns="0" bIns="0" rtlCol="0" anchor="ctr">
            <a:normAutofit/>
          </a:bodyPr>
          <a:lstStyle/>
          <a:p>
            <a:pPr indent="0" marL="0">
              <a:buNone/>
            </a:pPr>
            <a:r>
              <a:rPr lang="en-US" sz="1180" b="1" dirty="0">
                <a:solidFill>
                  <a:srgbClr val="42D4F4"/>
                </a:solidFill>
                <a:latin typeface="Inter Display" pitchFamily="34" charset="0"/>
                <a:ea typeface="Inter Display" pitchFamily="34" charset="-122"/>
                <a:cs typeface="Inter Display" pitchFamily="34" charset="-120"/>
              </a:rPr>
              <a:t>SketchDrawingView</a:t>
            </a:r>
            <a:endParaRPr lang="en-US" sz="1180" dirty="0"/>
          </a:p>
        </p:txBody>
      </p:sp>
      <p:sp>
        <p:nvSpPr>
          <p:cNvPr id="25" name="Text 23"/>
          <p:cNvSpPr/>
          <p:nvPr/>
        </p:nvSpPr>
        <p:spPr>
          <a:xfrm>
            <a:off x="5422392" y="4050792"/>
            <a:ext cx="1810512" cy="283464"/>
          </a:xfrm>
          <a:prstGeom prst="rect">
            <a:avLst/>
          </a:prstGeom>
          <a:noFill/>
          <a:ln/>
        </p:spPr>
        <p:txBody>
          <a:bodyPr wrap="square" lIns="0" tIns="0" rIns="0" bIns="0" rtlCol="0" anchor="ctr">
            <a:normAutofit/>
          </a:bodyPr>
          <a:lstStyle/>
          <a:p>
            <a:pPr indent="0" marL="0">
              <a:buNone/>
            </a:pPr>
            <a:r>
              <a:rPr lang="en-US" sz="1020" dirty="0">
                <a:solidFill>
                  <a:srgbClr val="B6AACF"/>
                </a:solidFill>
                <a:latin typeface="Inter" pitchFamily="34" charset="0"/>
                <a:ea typeface="Inter" pitchFamily="34" charset="-122"/>
                <a:cs typeface="Inter" pitchFamily="34" charset="-120"/>
              </a:rPr>
              <a:t>SwiftUI Path + Shape</a:t>
            </a:r>
            <a:endParaRPr lang="en-US" sz="1020" dirty="0"/>
          </a:p>
        </p:txBody>
      </p:sp>
      <p:sp>
        <p:nvSpPr>
          <p:cNvPr id="26" name="Text 24"/>
          <p:cNvSpPr/>
          <p:nvPr/>
        </p:nvSpPr>
        <p:spPr>
          <a:xfrm>
            <a:off x="7370064" y="3209544"/>
            <a:ext cx="265176" cy="310896"/>
          </a:xfrm>
          <a:prstGeom prst="rect">
            <a:avLst/>
          </a:prstGeom>
          <a:noFill/>
          <a:ln/>
        </p:spPr>
        <p:txBody>
          <a:bodyPr wrap="square" lIns="0" tIns="0" rIns="0" bIns="0" rtlCol="0" anchor="ctr">
            <a:normAutofit/>
          </a:bodyPr>
          <a:lstStyle/>
          <a:p>
            <a:pPr algn="ctr" indent="0" marL="0">
              <a:buNone/>
            </a:pPr>
            <a:r>
              <a:rPr lang="en-US" sz="1900" b="1" dirty="0">
                <a:solidFill>
                  <a:srgbClr val="E04CF4"/>
                </a:solidFill>
                <a:latin typeface="Inter Display" pitchFamily="34" charset="0"/>
                <a:ea typeface="Inter Display" pitchFamily="34" charset="-122"/>
                <a:cs typeface="Inter Display" pitchFamily="34" charset="-120"/>
              </a:rPr>
              <a:t>→</a:t>
            </a:r>
            <a:endParaRPr lang="en-US" sz="1900" dirty="0"/>
          </a:p>
        </p:txBody>
      </p:sp>
      <p:sp>
        <p:nvSpPr>
          <p:cNvPr id="27" name="Shape 25"/>
          <p:cNvSpPr/>
          <p:nvPr/>
        </p:nvSpPr>
        <p:spPr>
          <a:xfrm>
            <a:off x="7607808" y="2450592"/>
            <a:ext cx="2139696" cy="2048256"/>
          </a:xfrm>
          <a:prstGeom prst="roundRect">
            <a:avLst>
              <a:gd name="adj" fmla="val 7589"/>
            </a:avLst>
          </a:prstGeom>
          <a:solidFill>
            <a:srgbClr val="21183E"/>
          </a:solidFill>
          <a:ln w="10160">
            <a:solidFill>
              <a:srgbClr val="50406B"/>
            </a:solidFill>
            <a:prstDash val="solid"/>
          </a:ln>
        </p:spPr>
      </p:sp>
      <p:sp>
        <p:nvSpPr>
          <p:cNvPr id="28" name="Text 26"/>
          <p:cNvSpPr/>
          <p:nvPr/>
        </p:nvSpPr>
        <p:spPr>
          <a:xfrm>
            <a:off x="7799832" y="2651760"/>
            <a:ext cx="521208" cy="310896"/>
          </a:xfrm>
          <a:prstGeom prst="rect">
            <a:avLst/>
          </a:prstGeom>
          <a:noFill/>
          <a:ln/>
        </p:spPr>
        <p:txBody>
          <a:bodyPr wrap="square" lIns="0" tIns="0" rIns="0" bIns="0" rtlCol="0" anchor="ctr">
            <a:normAutofit/>
          </a:bodyPr>
          <a:lstStyle/>
          <a:p>
            <a:pPr indent="0" marL="0">
              <a:buNone/>
            </a:pPr>
            <a:r>
              <a:rPr lang="en-US" sz="1320" b="1" dirty="0">
                <a:solidFill>
                  <a:srgbClr val="E04CF4"/>
                </a:solidFill>
                <a:latin typeface="Inter Display" pitchFamily="34" charset="0"/>
                <a:ea typeface="Inter Display" pitchFamily="34" charset="-122"/>
                <a:cs typeface="Inter Display" pitchFamily="34" charset="-120"/>
              </a:rPr>
              <a:t>04</a:t>
            </a:r>
            <a:endParaRPr lang="en-US" sz="1320" dirty="0"/>
          </a:p>
        </p:txBody>
      </p:sp>
      <p:sp>
        <p:nvSpPr>
          <p:cNvPr id="29" name="Text 27"/>
          <p:cNvSpPr/>
          <p:nvPr/>
        </p:nvSpPr>
        <p:spPr>
          <a:xfrm>
            <a:off x="7799832" y="3081528"/>
            <a:ext cx="1810512" cy="475488"/>
          </a:xfrm>
          <a:prstGeom prst="rect">
            <a:avLst/>
          </a:prstGeom>
          <a:noFill/>
          <a:ln/>
        </p:spPr>
        <p:txBody>
          <a:bodyPr wrap="square" lIns="0" tIns="0" rIns="0" bIns="0" rtlCol="0" anchor="ctr">
            <a:normAutofit/>
          </a:bodyPr>
          <a:lstStyle/>
          <a:p>
            <a:pPr indent="0" marL="0">
              <a:buNone/>
            </a:pPr>
            <a:r>
              <a:rPr lang="en-US" sz="1480" b="1" dirty="0">
                <a:solidFill>
                  <a:srgbClr val="FFFFFF"/>
                </a:solidFill>
                <a:latin typeface="Inter Display" pitchFamily="34" charset="0"/>
                <a:ea typeface="Inter Display" pitchFamily="34" charset="-122"/>
                <a:cs typeface="Inter Display" pitchFamily="34" charset="-120"/>
              </a:rPr>
              <a:t>ANSWER LOGIC</a:t>
            </a:r>
            <a:endParaRPr lang="en-US" sz="1480" dirty="0"/>
          </a:p>
        </p:txBody>
      </p:sp>
      <p:sp>
        <p:nvSpPr>
          <p:cNvPr id="30" name="Text 28"/>
          <p:cNvSpPr/>
          <p:nvPr/>
        </p:nvSpPr>
        <p:spPr>
          <a:xfrm>
            <a:off x="7790688" y="3666744"/>
            <a:ext cx="1801368" cy="347472"/>
          </a:xfrm>
          <a:prstGeom prst="rect">
            <a:avLst/>
          </a:prstGeom>
          <a:noFill/>
          <a:ln/>
        </p:spPr>
        <p:txBody>
          <a:bodyPr wrap="square" lIns="0" tIns="0" rIns="0" bIns="0" rtlCol="0" anchor="ctr">
            <a:normAutofit/>
          </a:bodyPr>
          <a:lstStyle/>
          <a:p>
            <a:pPr indent="0" marL="0">
              <a:buNone/>
            </a:pPr>
            <a:r>
              <a:rPr lang="en-US" sz="1180" b="1" dirty="0">
                <a:solidFill>
                  <a:srgbClr val="42D4F4"/>
                </a:solidFill>
                <a:latin typeface="Inter Display" pitchFamily="34" charset="0"/>
                <a:ea typeface="Inter Display" pitchFamily="34" charset="-122"/>
                <a:cs typeface="Inter Display" pitchFamily="34" charset="-120"/>
              </a:rPr>
              <a:t>SketchCategory</a:t>
            </a:r>
            <a:endParaRPr lang="en-US" sz="1180" dirty="0"/>
          </a:p>
        </p:txBody>
      </p:sp>
      <p:sp>
        <p:nvSpPr>
          <p:cNvPr id="31" name="Text 29"/>
          <p:cNvSpPr/>
          <p:nvPr/>
        </p:nvSpPr>
        <p:spPr>
          <a:xfrm>
            <a:off x="7790688" y="4050792"/>
            <a:ext cx="1810512" cy="283464"/>
          </a:xfrm>
          <a:prstGeom prst="rect">
            <a:avLst/>
          </a:prstGeom>
          <a:noFill/>
          <a:ln/>
        </p:spPr>
        <p:txBody>
          <a:bodyPr wrap="square" lIns="0" tIns="0" rIns="0" bIns="0" rtlCol="0" anchor="ctr">
            <a:normAutofit/>
          </a:bodyPr>
          <a:lstStyle/>
          <a:p>
            <a:pPr indent="0" marL="0">
              <a:buNone/>
            </a:pPr>
            <a:r>
              <a:rPr lang="en-US" sz="1020" dirty="0">
                <a:solidFill>
                  <a:srgbClr val="B6AACF"/>
                </a:solidFill>
                <a:latin typeface="Inter" pitchFamily="34" charset="0"/>
                <a:ea typeface="Inter" pitchFamily="34" charset="-122"/>
                <a:cs typeface="Inter" pitchFamily="34" charset="-120"/>
              </a:rPr>
              <a:t>random 4 options</a:t>
            </a:r>
            <a:endParaRPr lang="en-US" sz="1020" dirty="0"/>
          </a:p>
        </p:txBody>
      </p:sp>
      <p:sp>
        <p:nvSpPr>
          <p:cNvPr id="32" name="Text 30"/>
          <p:cNvSpPr/>
          <p:nvPr/>
        </p:nvSpPr>
        <p:spPr>
          <a:xfrm>
            <a:off x="9738360" y="3209544"/>
            <a:ext cx="265176" cy="310896"/>
          </a:xfrm>
          <a:prstGeom prst="rect">
            <a:avLst/>
          </a:prstGeom>
          <a:noFill/>
          <a:ln/>
        </p:spPr>
        <p:txBody>
          <a:bodyPr wrap="square" lIns="0" tIns="0" rIns="0" bIns="0" rtlCol="0" anchor="ctr">
            <a:normAutofit/>
          </a:bodyPr>
          <a:lstStyle/>
          <a:p>
            <a:pPr algn="ctr" indent="0" marL="0">
              <a:buNone/>
            </a:pPr>
            <a:r>
              <a:rPr lang="en-US" sz="1900" b="1" dirty="0">
                <a:solidFill>
                  <a:srgbClr val="E04CF4"/>
                </a:solidFill>
                <a:latin typeface="Inter Display" pitchFamily="34" charset="0"/>
                <a:ea typeface="Inter Display" pitchFamily="34" charset="-122"/>
                <a:cs typeface="Inter Display" pitchFamily="34" charset="-120"/>
              </a:rPr>
              <a:t>→</a:t>
            </a:r>
            <a:endParaRPr lang="en-US" sz="1900" dirty="0"/>
          </a:p>
        </p:txBody>
      </p:sp>
      <p:sp>
        <p:nvSpPr>
          <p:cNvPr id="33" name="Shape 31"/>
          <p:cNvSpPr/>
          <p:nvPr/>
        </p:nvSpPr>
        <p:spPr>
          <a:xfrm>
            <a:off x="9976104" y="2450592"/>
            <a:ext cx="2139696" cy="2048256"/>
          </a:xfrm>
          <a:prstGeom prst="roundRect">
            <a:avLst>
              <a:gd name="adj" fmla="val 7589"/>
            </a:avLst>
          </a:prstGeom>
          <a:solidFill>
            <a:srgbClr val="21183E"/>
          </a:solidFill>
          <a:ln w="10160">
            <a:solidFill>
              <a:srgbClr val="50406B"/>
            </a:solidFill>
            <a:prstDash val="solid"/>
          </a:ln>
        </p:spPr>
      </p:sp>
      <p:sp>
        <p:nvSpPr>
          <p:cNvPr id="34" name="Text 32"/>
          <p:cNvSpPr/>
          <p:nvPr/>
        </p:nvSpPr>
        <p:spPr>
          <a:xfrm>
            <a:off x="10168128" y="2651760"/>
            <a:ext cx="521208" cy="310896"/>
          </a:xfrm>
          <a:prstGeom prst="rect">
            <a:avLst/>
          </a:prstGeom>
          <a:noFill/>
          <a:ln/>
        </p:spPr>
        <p:txBody>
          <a:bodyPr wrap="square" lIns="0" tIns="0" rIns="0" bIns="0" rtlCol="0" anchor="ctr">
            <a:normAutofit/>
          </a:bodyPr>
          <a:lstStyle/>
          <a:p>
            <a:pPr indent="0" marL="0">
              <a:buNone/>
            </a:pPr>
            <a:r>
              <a:rPr lang="en-US" sz="1320" b="1" dirty="0">
                <a:solidFill>
                  <a:srgbClr val="E04CF4"/>
                </a:solidFill>
                <a:latin typeface="Inter Display" pitchFamily="34" charset="0"/>
                <a:ea typeface="Inter Display" pitchFamily="34" charset="-122"/>
                <a:cs typeface="Inter Display" pitchFamily="34" charset="-120"/>
              </a:rPr>
              <a:t>05</a:t>
            </a:r>
            <a:endParaRPr lang="en-US" sz="1320" dirty="0"/>
          </a:p>
        </p:txBody>
      </p:sp>
      <p:sp>
        <p:nvSpPr>
          <p:cNvPr id="35" name="Text 33"/>
          <p:cNvSpPr/>
          <p:nvPr/>
        </p:nvSpPr>
        <p:spPr>
          <a:xfrm>
            <a:off x="10168128" y="3081528"/>
            <a:ext cx="1810512" cy="475488"/>
          </a:xfrm>
          <a:prstGeom prst="rect">
            <a:avLst/>
          </a:prstGeom>
          <a:noFill/>
          <a:ln/>
        </p:spPr>
        <p:txBody>
          <a:bodyPr wrap="square" lIns="0" tIns="0" rIns="0" bIns="0" rtlCol="0" anchor="ctr">
            <a:normAutofit/>
          </a:bodyPr>
          <a:lstStyle/>
          <a:p>
            <a:pPr indent="0" marL="0">
              <a:buNone/>
            </a:pPr>
            <a:r>
              <a:rPr lang="en-US" sz="1480" b="1" dirty="0">
                <a:solidFill>
                  <a:srgbClr val="FFFFFF"/>
                </a:solidFill>
                <a:latin typeface="Inter Display" pitchFamily="34" charset="0"/>
                <a:ea typeface="Inter Display" pitchFamily="34" charset="-122"/>
                <a:cs typeface="Inter Display" pitchFamily="34" charset="-120"/>
              </a:rPr>
              <a:t>RESULTS</a:t>
            </a:r>
            <a:endParaRPr lang="en-US" sz="1480" dirty="0"/>
          </a:p>
        </p:txBody>
      </p:sp>
      <p:sp>
        <p:nvSpPr>
          <p:cNvPr id="36" name="Text 34"/>
          <p:cNvSpPr/>
          <p:nvPr/>
        </p:nvSpPr>
        <p:spPr>
          <a:xfrm>
            <a:off x="10158984" y="3666744"/>
            <a:ext cx="1801368" cy="347472"/>
          </a:xfrm>
          <a:prstGeom prst="rect">
            <a:avLst/>
          </a:prstGeom>
          <a:noFill/>
          <a:ln/>
        </p:spPr>
        <p:txBody>
          <a:bodyPr wrap="square" lIns="0" tIns="0" rIns="0" bIns="0" rtlCol="0" anchor="ctr">
            <a:normAutofit/>
          </a:bodyPr>
          <a:lstStyle/>
          <a:p>
            <a:pPr indent="0" marL="0">
              <a:buNone/>
            </a:pPr>
            <a:r>
              <a:rPr lang="en-US" sz="1180" b="1" dirty="0">
                <a:solidFill>
                  <a:srgbClr val="42D4F4"/>
                </a:solidFill>
                <a:latin typeface="Inter Display" pitchFamily="34" charset="0"/>
                <a:ea typeface="Inter Display" pitchFamily="34" charset="-122"/>
                <a:cs typeface="Inter Display" pitchFamily="34" charset="-120"/>
              </a:rPr>
              <a:t>Leaderboard</a:t>
            </a:r>
            <a:endParaRPr lang="en-US" sz="1180" dirty="0"/>
          </a:p>
        </p:txBody>
      </p:sp>
      <p:sp>
        <p:nvSpPr>
          <p:cNvPr id="37" name="Text 35"/>
          <p:cNvSpPr/>
          <p:nvPr/>
        </p:nvSpPr>
        <p:spPr>
          <a:xfrm>
            <a:off x="10158984" y="4050792"/>
            <a:ext cx="1810512" cy="283464"/>
          </a:xfrm>
          <a:prstGeom prst="rect">
            <a:avLst/>
          </a:prstGeom>
          <a:noFill/>
          <a:ln/>
        </p:spPr>
        <p:txBody>
          <a:bodyPr wrap="square" lIns="0" tIns="0" rIns="0" bIns="0" rtlCol="0" anchor="ctr">
            <a:normAutofit/>
          </a:bodyPr>
          <a:lstStyle/>
          <a:p>
            <a:pPr indent="0" marL="0">
              <a:buNone/>
            </a:pPr>
            <a:r>
              <a:rPr lang="en-US" sz="1020" dirty="0">
                <a:solidFill>
                  <a:srgbClr val="B6AACF"/>
                </a:solidFill>
                <a:latin typeface="Inter" pitchFamily="34" charset="0"/>
                <a:ea typeface="Inter" pitchFamily="34" charset="-122"/>
                <a:cs typeface="Inter" pitchFamily="34" charset="-120"/>
              </a:rPr>
              <a:t>winner / tie / replay</a:t>
            </a:r>
            <a:endParaRPr lang="en-US" sz="1020" dirty="0"/>
          </a:p>
        </p:txBody>
      </p:sp>
      <p:sp>
        <p:nvSpPr>
          <p:cNvPr id="38" name="Shape 36"/>
          <p:cNvSpPr/>
          <p:nvPr/>
        </p:nvSpPr>
        <p:spPr>
          <a:xfrm>
            <a:off x="1078992" y="5047488"/>
            <a:ext cx="1152144" cy="365760"/>
          </a:xfrm>
          <a:prstGeom prst="roundRect">
            <a:avLst>
              <a:gd name="adj" fmla="val 47500"/>
            </a:avLst>
          </a:prstGeom>
          <a:solidFill>
            <a:srgbClr val="3A285B"/>
          </a:solidFill>
          <a:ln w="12700">
            <a:solidFill>
              <a:srgbClr val="3A285B">
                <a:alpha val="0"/>
              </a:srgbClr>
            </a:solidFill>
            <a:prstDash val="solid"/>
          </a:ln>
        </p:spPr>
      </p:sp>
      <p:sp>
        <p:nvSpPr>
          <p:cNvPr id="39" name="Text 37"/>
          <p:cNvSpPr/>
          <p:nvPr/>
        </p:nvSpPr>
        <p:spPr>
          <a:xfrm>
            <a:off x="1188720" y="5088636"/>
            <a:ext cx="932688" cy="256032"/>
          </a:xfrm>
          <a:prstGeom prst="rect">
            <a:avLst/>
          </a:prstGeom>
          <a:noFill/>
          <a:ln/>
        </p:spPr>
        <p:txBody>
          <a:bodyPr wrap="square" lIns="0" tIns="0" rIns="0" bIns="0" rtlCol="0" anchor="ctr">
            <a:normAutofit/>
          </a:bodyPr>
          <a:lstStyle/>
          <a:p>
            <a:pPr algn="ctr" indent="0" marL="0">
              <a:buNone/>
            </a:pPr>
            <a:r>
              <a:rPr lang="en-US" sz="1050" b="1" dirty="0">
                <a:solidFill>
                  <a:srgbClr val="E9E0FF"/>
                </a:solidFill>
                <a:latin typeface="Inter Display" pitchFamily="34" charset="0"/>
                <a:ea typeface="Inter Display" pitchFamily="34" charset="-122"/>
                <a:cs typeface="Inter Display" pitchFamily="34" charset="-120"/>
              </a:rPr>
              <a:t>SwiftUI</a:t>
            </a:r>
            <a:endParaRPr lang="en-US" sz="1050" dirty="0"/>
          </a:p>
        </p:txBody>
      </p:sp>
      <p:sp>
        <p:nvSpPr>
          <p:cNvPr id="40" name="Shape 38"/>
          <p:cNvSpPr/>
          <p:nvPr/>
        </p:nvSpPr>
        <p:spPr>
          <a:xfrm>
            <a:off x="2423160" y="5047488"/>
            <a:ext cx="1600200" cy="365760"/>
          </a:xfrm>
          <a:prstGeom prst="roundRect">
            <a:avLst>
              <a:gd name="adj" fmla="val 47500"/>
            </a:avLst>
          </a:prstGeom>
          <a:solidFill>
            <a:srgbClr val="3A285B"/>
          </a:solidFill>
          <a:ln w="12700">
            <a:solidFill>
              <a:srgbClr val="3A285B">
                <a:alpha val="0"/>
              </a:srgbClr>
            </a:solidFill>
            <a:prstDash val="solid"/>
          </a:ln>
        </p:spPr>
      </p:sp>
      <p:sp>
        <p:nvSpPr>
          <p:cNvPr id="41" name="Text 39"/>
          <p:cNvSpPr/>
          <p:nvPr/>
        </p:nvSpPr>
        <p:spPr>
          <a:xfrm>
            <a:off x="2532888" y="5088636"/>
            <a:ext cx="1380744" cy="256032"/>
          </a:xfrm>
          <a:prstGeom prst="rect">
            <a:avLst/>
          </a:prstGeom>
          <a:noFill/>
          <a:ln/>
        </p:spPr>
        <p:txBody>
          <a:bodyPr wrap="square" lIns="0" tIns="0" rIns="0" bIns="0" rtlCol="0" anchor="ctr">
            <a:normAutofit/>
          </a:bodyPr>
          <a:lstStyle/>
          <a:p>
            <a:pPr algn="ctr" indent="0" marL="0">
              <a:buNone/>
            </a:pPr>
            <a:r>
              <a:rPr lang="en-US" sz="1050" b="1" dirty="0">
                <a:solidFill>
                  <a:srgbClr val="E9E0FF"/>
                </a:solidFill>
                <a:latin typeface="Inter Display" pitchFamily="34" charset="0"/>
                <a:ea typeface="Inter Display" pitchFamily="34" charset="-122"/>
                <a:cs typeface="Inter Display" pitchFamily="34" charset="-120"/>
              </a:rPr>
              <a:t>Combine Timer</a:t>
            </a:r>
            <a:endParaRPr lang="en-US" sz="1050" dirty="0"/>
          </a:p>
        </p:txBody>
      </p:sp>
      <p:sp>
        <p:nvSpPr>
          <p:cNvPr id="42" name="Shape 40"/>
          <p:cNvSpPr/>
          <p:nvPr/>
        </p:nvSpPr>
        <p:spPr>
          <a:xfrm>
            <a:off x="4224528" y="5047488"/>
            <a:ext cx="1124712" cy="365760"/>
          </a:xfrm>
          <a:prstGeom prst="roundRect">
            <a:avLst>
              <a:gd name="adj" fmla="val 47500"/>
            </a:avLst>
          </a:prstGeom>
          <a:solidFill>
            <a:srgbClr val="3A285B"/>
          </a:solidFill>
          <a:ln w="12700">
            <a:solidFill>
              <a:srgbClr val="3A285B">
                <a:alpha val="0"/>
              </a:srgbClr>
            </a:solidFill>
            <a:prstDash val="solid"/>
          </a:ln>
        </p:spPr>
      </p:sp>
      <p:sp>
        <p:nvSpPr>
          <p:cNvPr id="43" name="Text 41"/>
          <p:cNvSpPr/>
          <p:nvPr/>
        </p:nvSpPr>
        <p:spPr>
          <a:xfrm>
            <a:off x="4334256" y="5088636"/>
            <a:ext cx="905256" cy="256032"/>
          </a:xfrm>
          <a:prstGeom prst="rect">
            <a:avLst/>
          </a:prstGeom>
          <a:noFill/>
          <a:ln/>
        </p:spPr>
        <p:txBody>
          <a:bodyPr wrap="square" lIns="0" tIns="0" rIns="0" bIns="0" rtlCol="0" anchor="ctr">
            <a:normAutofit/>
          </a:bodyPr>
          <a:lstStyle/>
          <a:p>
            <a:pPr algn="ctr" indent="0" marL="0">
              <a:buNone/>
            </a:pPr>
            <a:r>
              <a:rPr lang="en-US" sz="1050" b="1" dirty="0">
                <a:solidFill>
                  <a:srgbClr val="E9E0FF"/>
                </a:solidFill>
                <a:latin typeface="Inter Display" pitchFamily="34" charset="0"/>
                <a:ea typeface="Inter Display" pitchFamily="34" charset="-122"/>
                <a:cs typeface="Inter Display" pitchFamily="34" charset="-120"/>
              </a:rPr>
              <a:t>@State</a:t>
            </a:r>
            <a:endParaRPr lang="en-US" sz="1050" dirty="0"/>
          </a:p>
        </p:txBody>
      </p:sp>
      <p:sp>
        <p:nvSpPr>
          <p:cNvPr id="44" name="Shape 42"/>
          <p:cNvSpPr/>
          <p:nvPr/>
        </p:nvSpPr>
        <p:spPr>
          <a:xfrm>
            <a:off x="5522976" y="5047488"/>
            <a:ext cx="1600200" cy="365760"/>
          </a:xfrm>
          <a:prstGeom prst="roundRect">
            <a:avLst>
              <a:gd name="adj" fmla="val 47500"/>
            </a:avLst>
          </a:prstGeom>
          <a:solidFill>
            <a:srgbClr val="3A285B"/>
          </a:solidFill>
          <a:ln w="12700">
            <a:solidFill>
              <a:srgbClr val="3A285B">
                <a:alpha val="0"/>
              </a:srgbClr>
            </a:solidFill>
            <a:prstDash val="solid"/>
          </a:ln>
        </p:spPr>
      </p:sp>
      <p:sp>
        <p:nvSpPr>
          <p:cNvPr id="45" name="Text 43"/>
          <p:cNvSpPr/>
          <p:nvPr/>
        </p:nvSpPr>
        <p:spPr>
          <a:xfrm>
            <a:off x="5632704" y="5088636"/>
            <a:ext cx="1380744" cy="256032"/>
          </a:xfrm>
          <a:prstGeom prst="rect">
            <a:avLst/>
          </a:prstGeom>
          <a:noFill/>
          <a:ln/>
        </p:spPr>
        <p:txBody>
          <a:bodyPr wrap="square" lIns="0" tIns="0" rIns="0" bIns="0" rtlCol="0" anchor="ctr">
            <a:normAutofit/>
          </a:bodyPr>
          <a:lstStyle/>
          <a:p>
            <a:pPr algn="ctr" indent="0" marL="0">
              <a:buNone/>
            </a:pPr>
            <a:r>
              <a:rPr lang="en-US" sz="1050" b="1" dirty="0">
                <a:solidFill>
                  <a:srgbClr val="E9E0FF"/>
                </a:solidFill>
                <a:latin typeface="Inter Display" pitchFamily="34" charset="0"/>
                <a:ea typeface="Inter Display" pitchFamily="34" charset="-122"/>
                <a:cs typeface="Inter Display" pitchFamily="34" charset="-120"/>
              </a:rPr>
              <a:t>@FocusState</a:t>
            </a:r>
            <a:endParaRPr lang="en-US" sz="1050" dirty="0"/>
          </a:p>
        </p:txBody>
      </p:sp>
      <p:sp>
        <p:nvSpPr>
          <p:cNvPr id="46" name="Shape 44"/>
          <p:cNvSpPr/>
          <p:nvPr/>
        </p:nvSpPr>
        <p:spPr>
          <a:xfrm>
            <a:off x="7306056" y="5047488"/>
            <a:ext cx="2167128" cy="365760"/>
          </a:xfrm>
          <a:prstGeom prst="roundRect">
            <a:avLst>
              <a:gd name="adj" fmla="val 47500"/>
            </a:avLst>
          </a:prstGeom>
          <a:solidFill>
            <a:srgbClr val="3A285B"/>
          </a:solidFill>
          <a:ln w="12700">
            <a:solidFill>
              <a:srgbClr val="3A285B">
                <a:alpha val="0"/>
              </a:srgbClr>
            </a:solidFill>
            <a:prstDash val="solid"/>
          </a:ln>
        </p:spPr>
      </p:sp>
      <p:sp>
        <p:nvSpPr>
          <p:cNvPr id="47" name="Text 45"/>
          <p:cNvSpPr/>
          <p:nvPr/>
        </p:nvSpPr>
        <p:spPr>
          <a:xfrm>
            <a:off x="7415784" y="5088636"/>
            <a:ext cx="1947672" cy="256032"/>
          </a:xfrm>
          <a:prstGeom prst="rect">
            <a:avLst/>
          </a:prstGeom>
          <a:noFill/>
          <a:ln/>
        </p:spPr>
        <p:txBody>
          <a:bodyPr wrap="square" lIns="0" tIns="0" rIns="0" bIns="0" rtlCol="0" anchor="ctr">
            <a:normAutofit/>
          </a:bodyPr>
          <a:lstStyle/>
          <a:p>
            <a:pPr algn="ctr" indent="0" marL="0">
              <a:buNone/>
            </a:pPr>
            <a:r>
              <a:rPr lang="en-US" sz="1050" b="1" dirty="0">
                <a:solidFill>
                  <a:srgbClr val="E9E0FF"/>
                </a:solidFill>
                <a:latin typeface="Inter Display" pitchFamily="34" charset="0"/>
                <a:ea typeface="Inter Display" pitchFamily="34" charset="-122"/>
                <a:cs typeface="Inter Display" pitchFamily="34" charset="-120"/>
              </a:rPr>
              <a:t>Local-only game state</a:t>
            </a:r>
            <a:endParaRPr lang="en-US" sz="1050" dirty="0"/>
          </a:p>
        </p:txBody>
      </p:sp>
      <p:sp>
        <p:nvSpPr>
          <p:cNvPr id="48" name="Text 46"/>
          <p:cNvSpPr/>
          <p:nvPr/>
        </p:nvSpPr>
        <p:spPr>
          <a:xfrm>
            <a:off x="585216" y="6281928"/>
            <a:ext cx="10835640" cy="164592"/>
          </a:xfrm>
          <a:prstGeom prst="rect">
            <a:avLst/>
          </a:prstGeom>
          <a:noFill/>
          <a:ln/>
        </p:spPr>
        <p:txBody>
          <a:bodyPr wrap="square" lIns="0" tIns="0" rIns="0" bIns="0" rtlCol="0" anchor="ctr">
            <a:normAutofit/>
          </a:bodyPr>
          <a:lstStyle/>
          <a:p>
            <a:pPr indent="0" marL="0">
              <a:buNone/>
            </a:pPr>
            <a:r>
              <a:rPr lang="en-US" sz="920" i="1" dirty="0">
                <a:solidFill>
                  <a:srgbClr val="B6AACF"/>
                </a:solidFill>
                <a:latin typeface="Inter" pitchFamily="34" charset="0"/>
                <a:ea typeface="Inter" pitchFamily="34" charset="-122"/>
                <a:cs typeface="Inter" pitchFamily="34" charset="-120"/>
              </a:rPr>
              <a:t>Scope note: This tvOS game uses rule-based quiz logic, not a Core ML image classifier.</a:t>
            </a:r>
            <a:endParaRPr lang="en-US" sz="920" dirty="0"/>
          </a:p>
        </p:txBody>
      </p:sp>
      <p:sp>
        <p:nvSpPr>
          <p:cNvPr id="49" name="Shape 47"/>
          <p:cNvSpPr/>
          <p:nvPr/>
        </p:nvSpPr>
        <p:spPr>
          <a:xfrm>
            <a:off x="566928" y="6556248"/>
            <a:ext cx="11045952" cy="0"/>
          </a:xfrm>
          <a:prstGeom prst="line">
            <a:avLst/>
          </a:prstGeom>
          <a:noFill/>
          <a:ln w="8890">
            <a:solidFill>
              <a:srgbClr val="44365D">
                <a:alpha val="80000"/>
              </a:srgbClr>
            </a:solidFill>
            <a:prstDash val="solid"/>
          </a:ln>
        </p:spPr>
      </p:sp>
      <p:sp>
        <p:nvSpPr>
          <p:cNvPr id="50" name="Text 48"/>
          <p:cNvSpPr/>
          <p:nvPr/>
        </p:nvSpPr>
        <p:spPr>
          <a:xfrm>
            <a:off x="585216" y="6601968"/>
            <a:ext cx="7772400" cy="155448"/>
          </a:xfrm>
          <a:prstGeom prst="rect">
            <a:avLst/>
          </a:prstGeom>
          <a:noFill/>
          <a:ln/>
        </p:spPr>
        <p:txBody>
          <a:bodyPr wrap="square" lIns="0" tIns="0" rIns="0" bIns="0" rtlCol="0" anchor="ctr">
            <a:normAutofit/>
          </a:bodyPr>
          <a:lstStyle/>
          <a:p>
            <a:pPr indent="0" marL="0">
              <a:buNone/>
            </a:pPr>
            <a:r>
              <a:rPr lang="en-US" sz="900" b="1" spc="50" kern="0" dirty="0">
                <a:solidFill>
                  <a:srgbClr val="B6AACF"/>
                </a:solidFill>
                <a:latin typeface="Inter Display" pitchFamily="34" charset="0"/>
                <a:ea typeface="Inter Display" pitchFamily="34" charset="-122"/>
                <a:cs typeface="Inter Display" pitchFamily="34" charset="-120"/>
              </a:rPr>
              <a:t>SKETCHQUEST PARTY  /  SE4041 — PART B</a:t>
            </a:r>
            <a:endParaRPr lang="en-US" sz="900" dirty="0"/>
          </a:p>
        </p:txBody>
      </p:sp>
      <p:sp>
        <p:nvSpPr>
          <p:cNvPr id="51" name="Text 49"/>
          <p:cNvSpPr/>
          <p:nvPr/>
        </p:nvSpPr>
        <p:spPr>
          <a:xfrm>
            <a:off x="11155680" y="6583680"/>
            <a:ext cx="457200" cy="201168"/>
          </a:xfrm>
          <a:prstGeom prst="rect">
            <a:avLst/>
          </a:prstGeom>
          <a:noFill/>
          <a:ln/>
        </p:spPr>
        <p:txBody>
          <a:bodyPr wrap="square" lIns="0" tIns="0" rIns="0" bIns="0" rtlCol="0" anchor="ctr">
            <a:normAutofit/>
          </a:bodyPr>
          <a:lstStyle/>
          <a:p>
            <a:pPr algn="r" indent="0" marL="0">
              <a:buNone/>
            </a:pPr>
            <a:r>
              <a:rPr lang="en-US" sz="950" b="1" dirty="0">
                <a:solidFill>
                  <a:srgbClr val="B6AACF"/>
                </a:solidFill>
                <a:latin typeface="Inter Display" pitchFamily="34" charset="0"/>
                <a:ea typeface="Inter Display" pitchFamily="34" charset="-122"/>
                <a:cs typeface="Inter Display"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Shape 1"/>
          <p:cNvSpPr/>
          <p:nvPr/>
        </p:nvSpPr>
        <p:spPr>
          <a:xfrm>
            <a:off x="9290304" y="0"/>
            <a:ext cx="2880360" cy="2880360"/>
          </a:xfrm>
          <a:prstGeom prst="ellipse">
            <a:avLst/>
          </a:prstGeom>
          <a:solidFill>
            <a:srgbClr val="402273">
              <a:alpha val="35000"/>
            </a:srgbClr>
          </a:solidFill>
          <a:ln w="12700">
            <a:solidFill>
              <a:srgbClr val="402273">
                <a:alpha val="0"/>
              </a:srgbClr>
            </a:solidFill>
            <a:prstDash val="solid"/>
          </a:ln>
        </p:spPr>
      </p:sp>
      <p:sp>
        <p:nvSpPr>
          <p:cNvPr id="4" name="Shape 2"/>
          <p:cNvSpPr/>
          <p:nvPr/>
        </p:nvSpPr>
        <p:spPr>
          <a:xfrm>
            <a:off x="0" y="5047488"/>
            <a:ext cx="1773936" cy="1773936"/>
          </a:xfrm>
          <a:prstGeom prst="ellipse">
            <a:avLst/>
          </a:prstGeom>
          <a:solidFill>
            <a:srgbClr val="2C1A61">
              <a:alpha val="36000"/>
            </a:srgbClr>
          </a:solidFill>
          <a:ln w="12700">
            <a:solidFill>
              <a:srgbClr val="2C1A61">
                <a:alpha val="0"/>
              </a:srgbClr>
            </a:solidFill>
            <a:prstDash val="solid"/>
          </a:ln>
        </p:spPr>
      </p:sp>
      <p:sp>
        <p:nvSpPr>
          <p:cNvPr id="5" name="Shape 3"/>
          <p:cNvSpPr/>
          <p:nvPr/>
        </p:nvSpPr>
        <p:spPr>
          <a:xfrm>
            <a:off x="6583680" y="5175504"/>
            <a:ext cx="1572768" cy="1572768"/>
          </a:xfrm>
          <a:prstGeom prst="ellipse">
            <a:avLst/>
          </a:prstGeom>
          <a:solidFill>
            <a:srgbClr val="3B2079">
              <a:alpha val="16000"/>
            </a:srgbClr>
          </a:solidFill>
          <a:ln w="12700">
            <a:solidFill>
              <a:srgbClr val="3B2079">
                <a:alpha val="0"/>
              </a:srgbClr>
            </a:solidFill>
            <a:prstDash val="solid"/>
          </a:ln>
        </p:spPr>
      </p:sp>
      <p:sp>
        <p:nvSpPr>
          <p:cNvPr id="6" name="Text 4"/>
          <p:cNvSpPr/>
          <p:nvPr/>
        </p:nvSpPr>
        <p:spPr>
          <a:xfrm>
            <a:off x="566928" y="329184"/>
            <a:ext cx="7315200" cy="237744"/>
          </a:xfrm>
          <a:prstGeom prst="rect">
            <a:avLst/>
          </a:prstGeom>
          <a:noFill/>
          <a:ln/>
        </p:spPr>
        <p:txBody>
          <a:bodyPr wrap="square" lIns="0" tIns="0" rIns="0" bIns="0" rtlCol="0" anchor="ctr">
            <a:normAutofit/>
          </a:bodyPr>
          <a:lstStyle/>
          <a:p>
            <a:pPr indent="0" marL="0">
              <a:buNone/>
            </a:pPr>
            <a:r>
              <a:rPr lang="en-US" sz="1050" b="1" spc="200" kern="0" dirty="0">
                <a:solidFill>
                  <a:srgbClr val="E04CF4"/>
                </a:solidFill>
                <a:latin typeface="Inter Display" pitchFamily="34" charset="0"/>
                <a:ea typeface="Inter Display" pitchFamily="34" charset="-122"/>
                <a:cs typeface="Inter Display" pitchFamily="34" charset="-120"/>
              </a:rPr>
              <a:t>08 / EXISTING ALTERNATIVES</a:t>
            </a:r>
            <a:endParaRPr lang="en-US" sz="1050" dirty="0"/>
          </a:p>
        </p:txBody>
      </p:sp>
      <p:sp>
        <p:nvSpPr>
          <p:cNvPr id="7" name="Text 5"/>
          <p:cNvSpPr/>
          <p:nvPr/>
        </p:nvSpPr>
        <p:spPr>
          <a:xfrm>
            <a:off x="566928" y="768096"/>
            <a:ext cx="11082528" cy="576072"/>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Inter Display" pitchFamily="34" charset="0"/>
                <a:ea typeface="Inter Display" pitchFamily="34" charset="-122"/>
                <a:cs typeface="Inter Display" pitchFamily="34" charset="-120"/>
              </a:rPr>
              <a:t>Different games. Different entry points.</a:t>
            </a:r>
            <a:endParaRPr lang="en-US" sz="3200" dirty="0"/>
          </a:p>
        </p:txBody>
      </p:sp>
      <p:sp>
        <p:nvSpPr>
          <p:cNvPr id="8" name="Text 6"/>
          <p:cNvSpPr/>
          <p:nvPr/>
        </p:nvSpPr>
        <p:spPr>
          <a:xfrm>
            <a:off x="594360" y="1389888"/>
            <a:ext cx="10899648" cy="438912"/>
          </a:xfrm>
          <a:prstGeom prst="rect">
            <a:avLst/>
          </a:prstGeom>
          <a:noFill/>
          <a:ln/>
        </p:spPr>
        <p:txBody>
          <a:bodyPr wrap="square" lIns="0" tIns="0" rIns="0" bIns="0" rtlCol="0" anchor="ctr">
            <a:normAutofit/>
          </a:bodyPr>
          <a:lstStyle/>
          <a:p>
            <a:pPr indent="0" marL="0">
              <a:buNone/>
            </a:pPr>
            <a:r>
              <a:rPr lang="en-US" sz="1540" dirty="0">
                <a:solidFill>
                  <a:srgbClr val="B6AACF"/>
                </a:solidFill>
                <a:latin typeface="Inter" pitchFamily="34" charset="0"/>
                <a:ea typeface="Inter" pitchFamily="34" charset="-122"/>
                <a:cs typeface="Inter" pitchFamily="34" charset="-120"/>
              </a:rPr>
              <a:t>SketchQuest Party positions itself as an approachable, shared-remote sketch quiz.</a:t>
            </a:r>
            <a:endParaRPr lang="en-US" sz="1540" dirty="0"/>
          </a:p>
        </p:txBody>
      </p:sp>
      <p:sp>
        <p:nvSpPr>
          <p:cNvPr id="9" name="Shape 7"/>
          <p:cNvSpPr/>
          <p:nvPr/>
        </p:nvSpPr>
        <p:spPr>
          <a:xfrm>
            <a:off x="594360" y="1993392"/>
            <a:ext cx="3374136" cy="3392424"/>
          </a:xfrm>
          <a:prstGeom prst="roundRect">
            <a:avLst>
              <a:gd name="adj" fmla="val 5691"/>
            </a:avLst>
          </a:prstGeom>
          <a:solidFill>
            <a:srgbClr val="21183E"/>
          </a:solidFill>
          <a:ln w="10160">
            <a:solidFill>
              <a:srgbClr val="51406A"/>
            </a:solidFill>
            <a:prstDash val="solid"/>
          </a:ln>
        </p:spPr>
      </p:sp>
      <p:sp>
        <p:nvSpPr>
          <p:cNvPr id="10" name="Text 8"/>
          <p:cNvSpPr/>
          <p:nvPr/>
        </p:nvSpPr>
        <p:spPr>
          <a:xfrm>
            <a:off x="832104" y="2258568"/>
            <a:ext cx="2898648" cy="438912"/>
          </a:xfrm>
          <a:prstGeom prst="rect">
            <a:avLst/>
          </a:prstGeom>
          <a:noFill/>
          <a:ln/>
        </p:spPr>
        <p:txBody>
          <a:bodyPr wrap="square" lIns="0" tIns="0" rIns="0" bIns="0" rtlCol="0" anchor="ctr">
            <a:normAutofit/>
          </a:bodyPr>
          <a:lstStyle/>
          <a:p>
            <a:pPr indent="0" marL="0">
              <a:buNone/>
            </a:pPr>
            <a:r>
              <a:rPr lang="en-US" sz="1850" b="1" dirty="0">
                <a:solidFill>
                  <a:srgbClr val="FFCC55"/>
                </a:solidFill>
                <a:latin typeface="Inter Display" pitchFamily="34" charset="0"/>
                <a:ea typeface="Inter Display" pitchFamily="34" charset="-122"/>
                <a:cs typeface="Inter Display" pitchFamily="34" charset="-120"/>
              </a:rPr>
              <a:t>DRAWFUL 2</a:t>
            </a:r>
            <a:endParaRPr lang="en-US" sz="1850" dirty="0"/>
          </a:p>
        </p:txBody>
      </p:sp>
      <p:sp>
        <p:nvSpPr>
          <p:cNvPr id="11" name="Text 9"/>
          <p:cNvSpPr/>
          <p:nvPr/>
        </p:nvSpPr>
        <p:spPr>
          <a:xfrm>
            <a:off x="841248" y="2770632"/>
            <a:ext cx="2898648" cy="301752"/>
          </a:xfrm>
          <a:prstGeom prst="rect">
            <a:avLst/>
          </a:prstGeom>
          <a:noFill/>
          <a:ln/>
        </p:spPr>
        <p:txBody>
          <a:bodyPr wrap="square" lIns="0" tIns="0" rIns="0" bIns="0" rtlCol="0" anchor="ctr">
            <a:normAutofit/>
          </a:bodyPr>
          <a:lstStyle/>
          <a:p>
            <a:pPr indent="0" marL="0">
              <a:buNone/>
            </a:pPr>
            <a:r>
              <a:rPr lang="en-US" sz="1180" dirty="0">
                <a:solidFill>
                  <a:srgbClr val="B6AACF"/>
                </a:solidFill>
                <a:latin typeface="Inter" pitchFamily="34" charset="0"/>
                <a:ea typeface="Inter" pitchFamily="34" charset="-122"/>
                <a:cs typeface="Inter" pitchFamily="34" charset="-120"/>
              </a:rPr>
              <a:t>Apple TV party title</a:t>
            </a:r>
            <a:endParaRPr lang="en-US" sz="1180" dirty="0"/>
          </a:p>
        </p:txBody>
      </p:sp>
      <p:sp>
        <p:nvSpPr>
          <p:cNvPr id="12" name="Shape 10"/>
          <p:cNvSpPr/>
          <p:nvPr/>
        </p:nvSpPr>
        <p:spPr>
          <a:xfrm>
            <a:off x="850392" y="3255264"/>
            <a:ext cx="2862072" cy="0"/>
          </a:xfrm>
          <a:prstGeom prst="line">
            <a:avLst/>
          </a:prstGeom>
          <a:noFill/>
          <a:ln w="9525">
            <a:solidFill>
              <a:srgbClr val="554374"/>
            </a:solidFill>
            <a:prstDash val="solid"/>
          </a:ln>
        </p:spPr>
      </p:sp>
      <p:sp>
        <p:nvSpPr>
          <p:cNvPr id="13" name="Shape 11"/>
          <p:cNvSpPr/>
          <p:nvPr/>
        </p:nvSpPr>
        <p:spPr>
          <a:xfrm>
            <a:off x="877824" y="3557016"/>
            <a:ext cx="109728" cy="109728"/>
          </a:xfrm>
          <a:prstGeom prst="ellipse">
            <a:avLst/>
          </a:prstGeom>
          <a:solidFill>
            <a:srgbClr val="FFCC55"/>
          </a:solidFill>
          <a:ln w="12700">
            <a:solidFill>
              <a:srgbClr val="FFCC55">
                <a:alpha val="0"/>
              </a:srgbClr>
            </a:solidFill>
            <a:prstDash val="solid"/>
          </a:ln>
        </p:spPr>
      </p:sp>
      <p:sp>
        <p:nvSpPr>
          <p:cNvPr id="14" name="Text 12"/>
          <p:cNvSpPr/>
          <p:nvPr/>
        </p:nvSpPr>
        <p:spPr>
          <a:xfrm>
            <a:off x="1133856" y="3465576"/>
            <a:ext cx="2606040" cy="356616"/>
          </a:xfrm>
          <a:prstGeom prst="rect">
            <a:avLst/>
          </a:prstGeom>
          <a:noFill/>
          <a:ln/>
        </p:spPr>
        <p:txBody>
          <a:bodyPr wrap="square" lIns="0" tIns="0" rIns="0" bIns="0" rtlCol="0" anchor="ctr">
            <a:normAutofit/>
          </a:bodyPr>
          <a:lstStyle/>
          <a:p>
            <a:pPr indent="0" marL="0">
              <a:buNone/>
            </a:pPr>
            <a:r>
              <a:rPr lang="en-US" sz="1270" dirty="0">
                <a:solidFill>
                  <a:srgbClr val="E9E0FF"/>
                </a:solidFill>
                <a:latin typeface="Inter" pitchFamily="34" charset="0"/>
                <a:ea typeface="Inter" pitchFamily="34" charset="-122"/>
                <a:cs typeface="Inter" pitchFamily="34" charset="-120"/>
              </a:rPr>
              <a:t>Player-created prompts</a:t>
            </a:r>
            <a:endParaRPr lang="en-US" sz="1270" dirty="0"/>
          </a:p>
        </p:txBody>
      </p:sp>
      <p:sp>
        <p:nvSpPr>
          <p:cNvPr id="15" name="Shape 13"/>
          <p:cNvSpPr/>
          <p:nvPr/>
        </p:nvSpPr>
        <p:spPr>
          <a:xfrm>
            <a:off x="877824" y="4059936"/>
            <a:ext cx="109728" cy="109728"/>
          </a:xfrm>
          <a:prstGeom prst="ellipse">
            <a:avLst/>
          </a:prstGeom>
          <a:solidFill>
            <a:srgbClr val="FFCC55"/>
          </a:solidFill>
          <a:ln w="12700">
            <a:solidFill>
              <a:srgbClr val="FFCC55">
                <a:alpha val="0"/>
              </a:srgbClr>
            </a:solidFill>
            <a:prstDash val="solid"/>
          </a:ln>
        </p:spPr>
      </p:sp>
      <p:sp>
        <p:nvSpPr>
          <p:cNvPr id="16" name="Text 14"/>
          <p:cNvSpPr/>
          <p:nvPr/>
        </p:nvSpPr>
        <p:spPr>
          <a:xfrm>
            <a:off x="1133856" y="3968496"/>
            <a:ext cx="2606040" cy="356616"/>
          </a:xfrm>
          <a:prstGeom prst="rect">
            <a:avLst/>
          </a:prstGeom>
          <a:noFill/>
          <a:ln/>
        </p:spPr>
        <p:txBody>
          <a:bodyPr wrap="square" lIns="0" tIns="0" rIns="0" bIns="0" rtlCol="0" anchor="ctr">
            <a:normAutofit/>
          </a:bodyPr>
          <a:lstStyle/>
          <a:p>
            <a:pPr indent="0" marL="0">
              <a:buNone/>
            </a:pPr>
            <a:r>
              <a:rPr lang="en-US" sz="1270" dirty="0">
                <a:solidFill>
                  <a:srgbClr val="E9E0FF"/>
                </a:solidFill>
                <a:latin typeface="Inter" pitchFamily="34" charset="0"/>
                <a:ea typeface="Inter" pitchFamily="34" charset="-122"/>
                <a:cs typeface="Inter" pitchFamily="34" charset="-120"/>
              </a:rPr>
              <a:t>Phone / tablet input</a:t>
            </a:r>
            <a:endParaRPr lang="en-US" sz="1270" dirty="0"/>
          </a:p>
        </p:txBody>
      </p:sp>
      <p:sp>
        <p:nvSpPr>
          <p:cNvPr id="17" name="Shape 15"/>
          <p:cNvSpPr/>
          <p:nvPr/>
        </p:nvSpPr>
        <p:spPr>
          <a:xfrm>
            <a:off x="877824" y="4562856"/>
            <a:ext cx="109728" cy="109728"/>
          </a:xfrm>
          <a:prstGeom prst="ellipse">
            <a:avLst/>
          </a:prstGeom>
          <a:solidFill>
            <a:srgbClr val="FFCC55"/>
          </a:solidFill>
          <a:ln w="12700">
            <a:solidFill>
              <a:srgbClr val="FFCC55">
                <a:alpha val="0"/>
              </a:srgbClr>
            </a:solidFill>
            <a:prstDash val="solid"/>
          </a:ln>
        </p:spPr>
      </p:sp>
      <p:sp>
        <p:nvSpPr>
          <p:cNvPr id="18" name="Text 16"/>
          <p:cNvSpPr/>
          <p:nvPr/>
        </p:nvSpPr>
        <p:spPr>
          <a:xfrm>
            <a:off x="1133856" y="4471416"/>
            <a:ext cx="2606040" cy="356616"/>
          </a:xfrm>
          <a:prstGeom prst="rect">
            <a:avLst/>
          </a:prstGeom>
          <a:noFill/>
          <a:ln/>
        </p:spPr>
        <p:txBody>
          <a:bodyPr wrap="square" lIns="0" tIns="0" rIns="0" bIns="0" rtlCol="0" anchor="ctr">
            <a:normAutofit/>
          </a:bodyPr>
          <a:lstStyle/>
          <a:p>
            <a:pPr indent="0" marL="0">
              <a:buNone/>
            </a:pPr>
            <a:r>
              <a:rPr lang="en-US" sz="1270" dirty="0">
                <a:solidFill>
                  <a:srgbClr val="E9E0FF"/>
                </a:solidFill>
                <a:latin typeface="Inter" pitchFamily="34" charset="0"/>
                <a:ea typeface="Inter" pitchFamily="34" charset="-122"/>
                <a:cs typeface="Inter" pitchFamily="34" charset="-120"/>
              </a:rPr>
              <a:t>Drawing + decoy guessing</a:t>
            </a:r>
            <a:endParaRPr lang="en-US" sz="1270" dirty="0"/>
          </a:p>
        </p:txBody>
      </p:sp>
      <p:sp>
        <p:nvSpPr>
          <p:cNvPr id="19" name="Shape 17"/>
          <p:cNvSpPr/>
          <p:nvPr/>
        </p:nvSpPr>
        <p:spPr>
          <a:xfrm>
            <a:off x="4407408" y="1993392"/>
            <a:ext cx="3374136" cy="3392424"/>
          </a:xfrm>
          <a:prstGeom prst="roundRect">
            <a:avLst>
              <a:gd name="adj" fmla="val 5691"/>
            </a:avLst>
          </a:prstGeom>
          <a:solidFill>
            <a:srgbClr val="21183E"/>
          </a:solidFill>
          <a:ln w="10160">
            <a:solidFill>
              <a:srgbClr val="51406A"/>
            </a:solidFill>
            <a:prstDash val="solid"/>
          </a:ln>
        </p:spPr>
      </p:sp>
      <p:sp>
        <p:nvSpPr>
          <p:cNvPr id="20" name="Text 18"/>
          <p:cNvSpPr/>
          <p:nvPr/>
        </p:nvSpPr>
        <p:spPr>
          <a:xfrm>
            <a:off x="4645152" y="2258568"/>
            <a:ext cx="2898648" cy="438912"/>
          </a:xfrm>
          <a:prstGeom prst="rect">
            <a:avLst/>
          </a:prstGeom>
          <a:noFill/>
          <a:ln/>
        </p:spPr>
        <p:txBody>
          <a:bodyPr wrap="square" lIns="0" tIns="0" rIns="0" bIns="0" rtlCol="0" anchor="ctr">
            <a:normAutofit/>
          </a:bodyPr>
          <a:lstStyle/>
          <a:p>
            <a:pPr indent="0" marL="0">
              <a:buNone/>
            </a:pPr>
            <a:r>
              <a:rPr lang="en-US" sz="1850" b="1" dirty="0">
                <a:solidFill>
                  <a:srgbClr val="42D4F4"/>
                </a:solidFill>
                <a:latin typeface="Inter Display" pitchFamily="34" charset="0"/>
                <a:ea typeface="Inter Display" pitchFamily="34" charset="-122"/>
                <a:cs typeface="Inter Display" pitchFamily="34" charset="-120"/>
              </a:rPr>
              <a:t>SKRIBBL.IO</a:t>
            </a:r>
            <a:endParaRPr lang="en-US" sz="1850" dirty="0"/>
          </a:p>
        </p:txBody>
      </p:sp>
      <p:sp>
        <p:nvSpPr>
          <p:cNvPr id="21" name="Text 19"/>
          <p:cNvSpPr/>
          <p:nvPr/>
        </p:nvSpPr>
        <p:spPr>
          <a:xfrm>
            <a:off x="4654296" y="2770632"/>
            <a:ext cx="2898648" cy="301752"/>
          </a:xfrm>
          <a:prstGeom prst="rect">
            <a:avLst/>
          </a:prstGeom>
          <a:noFill/>
          <a:ln/>
        </p:spPr>
        <p:txBody>
          <a:bodyPr wrap="square" lIns="0" tIns="0" rIns="0" bIns="0" rtlCol="0" anchor="ctr">
            <a:normAutofit/>
          </a:bodyPr>
          <a:lstStyle/>
          <a:p>
            <a:pPr indent="0" marL="0">
              <a:buNone/>
            </a:pPr>
            <a:r>
              <a:rPr lang="en-US" sz="1180" dirty="0">
                <a:solidFill>
                  <a:srgbClr val="B6AACF"/>
                </a:solidFill>
                <a:latin typeface="Inter" pitchFamily="34" charset="0"/>
                <a:ea typeface="Inter" pitchFamily="34" charset="-122"/>
                <a:cs typeface="Inter" pitchFamily="34" charset="-120"/>
              </a:rPr>
              <a:t>Online browser game</a:t>
            </a:r>
            <a:endParaRPr lang="en-US" sz="1180" dirty="0"/>
          </a:p>
        </p:txBody>
      </p:sp>
      <p:sp>
        <p:nvSpPr>
          <p:cNvPr id="22" name="Shape 20"/>
          <p:cNvSpPr/>
          <p:nvPr/>
        </p:nvSpPr>
        <p:spPr>
          <a:xfrm>
            <a:off x="4663440" y="3255264"/>
            <a:ext cx="2862072" cy="0"/>
          </a:xfrm>
          <a:prstGeom prst="line">
            <a:avLst/>
          </a:prstGeom>
          <a:noFill/>
          <a:ln w="9525">
            <a:solidFill>
              <a:srgbClr val="554374"/>
            </a:solidFill>
            <a:prstDash val="solid"/>
          </a:ln>
        </p:spPr>
      </p:sp>
      <p:sp>
        <p:nvSpPr>
          <p:cNvPr id="23" name="Shape 21"/>
          <p:cNvSpPr/>
          <p:nvPr/>
        </p:nvSpPr>
        <p:spPr>
          <a:xfrm>
            <a:off x="4690872" y="3557016"/>
            <a:ext cx="109728" cy="109728"/>
          </a:xfrm>
          <a:prstGeom prst="ellipse">
            <a:avLst/>
          </a:prstGeom>
          <a:solidFill>
            <a:srgbClr val="42D4F4"/>
          </a:solidFill>
          <a:ln w="12700">
            <a:solidFill>
              <a:srgbClr val="42D4F4">
                <a:alpha val="0"/>
              </a:srgbClr>
            </a:solidFill>
            <a:prstDash val="solid"/>
          </a:ln>
        </p:spPr>
      </p:sp>
      <p:sp>
        <p:nvSpPr>
          <p:cNvPr id="24" name="Text 22"/>
          <p:cNvSpPr/>
          <p:nvPr/>
        </p:nvSpPr>
        <p:spPr>
          <a:xfrm>
            <a:off x="4946904" y="3465576"/>
            <a:ext cx="2606040" cy="356616"/>
          </a:xfrm>
          <a:prstGeom prst="rect">
            <a:avLst/>
          </a:prstGeom>
          <a:noFill/>
          <a:ln/>
        </p:spPr>
        <p:txBody>
          <a:bodyPr wrap="square" lIns="0" tIns="0" rIns="0" bIns="0" rtlCol="0" anchor="ctr">
            <a:normAutofit/>
          </a:bodyPr>
          <a:lstStyle/>
          <a:p>
            <a:pPr indent="0" marL="0">
              <a:buNone/>
            </a:pPr>
            <a:r>
              <a:rPr lang="en-US" sz="1270" dirty="0">
                <a:solidFill>
                  <a:srgbClr val="E9E0FF"/>
                </a:solidFill>
                <a:latin typeface="Inter" pitchFamily="34" charset="0"/>
                <a:ea typeface="Inter" pitchFamily="34" charset="-122"/>
                <a:cs typeface="Inter" pitchFamily="34" charset="-120"/>
              </a:rPr>
              <a:t>Player draws a word</a:t>
            </a:r>
            <a:endParaRPr lang="en-US" sz="1270" dirty="0"/>
          </a:p>
        </p:txBody>
      </p:sp>
      <p:sp>
        <p:nvSpPr>
          <p:cNvPr id="25" name="Shape 23"/>
          <p:cNvSpPr/>
          <p:nvPr/>
        </p:nvSpPr>
        <p:spPr>
          <a:xfrm>
            <a:off x="4690872" y="4059936"/>
            <a:ext cx="109728" cy="109728"/>
          </a:xfrm>
          <a:prstGeom prst="ellipse">
            <a:avLst/>
          </a:prstGeom>
          <a:solidFill>
            <a:srgbClr val="42D4F4"/>
          </a:solidFill>
          <a:ln w="12700">
            <a:solidFill>
              <a:srgbClr val="42D4F4">
                <a:alpha val="0"/>
              </a:srgbClr>
            </a:solidFill>
            <a:prstDash val="solid"/>
          </a:ln>
        </p:spPr>
      </p:sp>
      <p:sp>
        <p:nvSpPr>
          <p:cNvPr id="26" name="Text 24"/>
          <p:cNvSpPr/>
          <p:nvPr/>
        </p:nvSpPr>
        <p:spPr>
          <a:xfrm>
            <a:off x="4946904" y="3968496"/>
            <a:ext cx="2606040" cy="356616"/>
          </a:xfrm>
          <a:prstGeom prst="rect">
            <a:avLst/>
          </a:prstGeom>
          <a:noFill/>
          <a:ln/>
        </p:spPr>
        <p:txBody>
          <a:bodyPr wrap="square" lIns="0" tIns="0" rIns="0" bIns="0" rtlCol="0" anchor="ctr">
            <a:normAutofit/>
          </a:bodyPr>
          <a:lstStyle/>
          <a:p>
            <a:pPr indent="0" marL="0">
              <a:buNone/>
            </a:pPr>
            <a:r>
              <a:rPr lang="en-US" sz="1270" dirty="0">
                <a:solidFill>
                  <a:srgbClr val="E9E0FF"/>
                </a:solidFill>
                <a:latin typeface="Inter" pitchFamily="34" charset="0"/>
                <a:ea typeface="Inter" pitchFamily="34" charset="-122"/>
                <a:cs typeface="Inter" pitchFamily="34" charset="-120"/>
              </a:rPr>
              <a:t>Browser / text input</a:t>
            </a:r>
            <a:endParaRPr lang="en-US" sz="1270" dirty="0"/>
          </a:p>
        </p:txBody>
      </p:sp>
      <p:sp>
        <p:nvSpPr>
          <p:cNvPr id="27" name="Shape 25"/>
          <p:cNvSpPr/>
          <p:nvPr/>
        </p:nvSpPr>
        <p:spPr>
          <a:xfrm>
            <a:off x="4690872" y="4562856"/>
            <a:ext cx="109728" cy="109728"/>
          </a:xfrm>
          <a:prstGeom prst="ellipse">
            <a:avLst/>
          </a:prstGeom>
          <a:solidFill>
            <a:srgbClr val="42D4F4"/>
          </a:solidFill>
          <a:ln w="12700">
            <a:solidFill>
              <a:srgbClr val="42D4F4">
                <a:alpha val="0"/>
              </a:srgbClr>
            </a:solidFill>
            <a:prstDash val="solid"/>
          </a:ln>
        </p:spPr>
      </p:sp>
      <p:sp>
        <p:nvSpPr>
          <p:cNvPr id="28" name="Text 26"/>
          <p:cNvSpPr/>
          <p:nvPr/>
        </p:nvSpPr>
        <p:spPr>
          <a:xfrm>
            <a:off x="4946904" y="4471416"/>
            <a:ext cx="2606040" cy="356616"/>
          </a:xfrm>
          <a:prstGeom prst="rect">
            <a:avLst/>
          </a:prstGeom>
          <a:noFill/>
          <a:ln/>
        </p:spPr>
        <p:txBody>
          <a:bodyPr wrap="square" lIns="0" tIns="0" rIns="0" bIns="0" rtlCol="0" anchor="ctr">
            <a:normAutofit/>
          </a:bodyPr>
          <a:lstStyle/>
          <a:p>
            <a:pPr indent="0" marL="0">
              <a:buNone/>
            </a:pPr>
            <a:r>
              <a:rPr lang="en-US" sz="1270" dirty="0">
                <a:solidFill>
                  <a:srgbClr val="E9E0FF"/>
                </a:solidFill>
                <a:latin typeface="Inter" pitchFamily="34" charset="0"/>
                <a:ea typeface="Inter" pitchFamily="34" charset="-122"/>
                <a:cs typeface="Inter" pitchFamily="34" charset="-120"/>
              </a:rPr>
              <a:t>Live typed guesses</a:t>
            </a:r>
            <a:endParaRPr lang="en-US" sz="1270" dirty="0"/>
          </a:p>
        </p:txBody>
      </p:sp>
      <p:sp>
        <p:nvSpPr>
          <p:cNvPr id="29" name="Shape 27"/>
          <p:cNvSpPr/>
          <p:nvPr/>
        </p:nvSpPr>
        <p:spPr>
          <a:xfrm>
            <a:off x="8220456" y="1993392"/>
            <a:ext cx="3374136" cy="3392424"/>
          </a:xfrm>
          <a:prstGeom prst="roundRect">
            <a:avLst>
              <a:gd name="adj" fmla="val 5691"/>
            </a:avLst>
          </a:prstGeom>
          <a:solidFill>
            <a:srgbClr val="352053"/>
          </a:solidFill>
          <a:ln w="21590">
            <a:solidFill>
              <a:srgbClr val="AF4BF0"/>
            </a:solidFill>
            <a:prstDash val="solid"/>
          </a:ln>
        </p:spPr>
      </p:sp>
      <p:sp>
        <p:nvSpPr>
          <p:cNvPr id="30" name="Text 28"/>
          <p:cNvSpPr/>
          <p:nvPr/>
        </p:nvSpPr>
        <p:spPr>
          <a:xfrm>
            <a:off x="8458200" y="2258568"/>
            <a:ext cx="2898648" cy="438912"/>
          </a:xfrm>
          <a:prstGeom prst="rect">
            <a:avLst/>
          </a:prstGeom>
          <a:noFill/>
          <a:ln/>
        </p:spPr>
        <p:txBody>
          <a:bodyPr wrap="square" lIns="0" tIns="0" rIns="0" bIns="0" rtlCol="0" anchor="ctr">
            <a:normAutofit/>
          </a:bodyPr>
          <a:lstStyle/>
          <a:p>
            <a:pPr indent="0" marL="0">
              <a:buNone/>
            </a:pPr>
            <a:r>
              <a:rPr lang="en-US" sz="1850" b="1" dirty="0">
                <a:solidFill>
                  <a:srgbClr val="E04CF4"/>
                </a:solidFill>
                <a:latin typeface="Inter Display" pitchFamily="34" charset="0"/>
                <a:ea typeface="Inter Display" pitchFamily="34" charset="-122"/>
                <a:cs typeface="Inter Display" pitchFamily="34" charset="-120"/>
              </a:rPr>
              <a:t>SKETCHQUEST PARTY</a:t>
            </a:r>
            <a:endParaRPr lang="en-US" sz="1850" dirty="0"/>
          </a:p>
        </p:txBody>
      </p:sp>
      <p:sp>
        <p:nvSpPr>
          <p:cNvPr id="31" name="Text 29"/>
          <p:cNvSpPr/>
          <p:nvPr/>
        </p:nvSpPr>
        <p:spPr>
          <a:xfrm>
            <a:off x="8467344" y="2770632"/>
            <a:ext cx="2898648" cy="301752"/>
          </a:xfrm>
          <a:prstGeom prst="rect">
            <a:avLst/>
          </a:prstGeom>
          <a:noFill/>
          <a:ln/>
        </p:spPr>
        <p:txBody>
          <a:bodyPr wrap="square" lIns="0" tIns="0" rIns="0" bIns="0" rtlCol="0" anchor="ctr">
            <a:normAutofit/>
          </a:bodyPr>
          <a:lstStyle/>
          <a:p>
            <a:pPr indent="0" marL="0">
              <a:buNone/>
            </a:pPr>
            <a:r>
              <a:rPr lang="en-US" sz="1180" dirty="0">
                <a:solidFill>
                  <a:srgbClr val="B6AACF"/>
                </a:solidFill>
                <a:latin typeface="Inter" pitchFamily="34" charset="0"/>
                <a:ea typeface="Inter" pitchFamily="34" charset="-122"/>
                <a:cs typeface="Inter" pitchFamily="34" charset="-120"/>
              </a:rPr>
              <a:t>This tvOS prototype</a:t>
            </a:r>
            <a:endParaRPr lang="en-US" sz="1180" dirty="0"/>
          </a:p>
        </p:txBody>
      </p:sp>
      <p:sp>
        <p:nvSpPr>
          <p:cNvPr id="32" name="Shape 30"/>
          <p:cNvSpPr/>
          <p:nvPr/>
        </p:nvSpPr>
        <p:spPr>
          <a:xfrm>
            <a:off x="8476488" y="3255264"/>
            <a:ext cx="2862072" cy="0"/>
          </a:xfrm>
          <a:prstGeom prst="line">
            <a:avLst/>
          </a:prstGeom>
          <a:noFill/>
          <a:ln w="9525">
            <a:solidFill>
              <a:srgbClr val="554374"/>
            </a:solidFill>
            <a:prstDash val="solid"/>
          </a:ln>
        </p:spPr>
      </p:sp>
      <p:sp>
        <p:nvSpPr>
          <p:cNvPr id="33" name="Shape 31"/>
          <p:cNvSpPr/>
          <p:nvPr/>
        </p:nvSpPr>
        <p:spPr>
          <a:xfrm>
            <a:off x="8503920" y="3557016"/>
            <a:ext cx="109728" cy="109728"/>
          </a:xfrm>
          <a:prstGeom prst="ellipse">
            <a:avLst/>
          </a:prstGeom>
          <a:solidFill>
            <a:srgbClr val="E04CF4"/>
          </a:solidFill>
          <a:ln w="12700">
            <a:solidFill>
              <a:srgbClr val="E04CF4">
                <a:alpha val="0"/>
              </a:srgbClr>
            </a:solidFill>
            <a:prstDash val="solid"/>
          </a:ln>
        </p:spPr>
      </p:sp>
      <p:sp>
        <p:nvSpPr>
          <p:cNvPr id="34" name="Text 32"/>
          <p:cNvSpPr/>
          <p:nvPr/>
        </p:nvSpPr>
        <p:spPr>
          <a:xfrm>
            <a:off x="8759952" y="3465576"/>
            <a:ext cx="2606040" cy="356616"/>
          </a:xfrm>
          <a:prstGeom prst="rect">
            <a:avLst/>
          </a:prstGeom>
          <a:noFill/>
          <a:ln/>
        </p:spPr>
        <p:txBody>
          <a:bodyPr wrap="square" lIns="0" tIns="0" rIns="0" bIns="0" rtlCol="0" anchor="ctr">
            <a:normAutofit/>
          </a:bodyPr>
          <a:lstStyle/>
          <a:p>
            <a:pPr indent="0" marL="0">
              <a:buNone/>
            </a:pPr>
            <a:r>
              <a:rPr lang="en-US" sz="1270" dirty="0">
                <a:solidFill>
                  <a:srgbClr val="E9E0FF"/>
                </a:solidFill>
                <a:latin typeface="Inter" pitchFamily="34" charset="0"/>
                <a:ea typeface="Inter" pitchFamily="34" charset="-122"/>
                <a:cs typeface="Inter" pitchFamily="34" charset="-120"/>
              </a:rPr>
              <a:t>Pre-drawn vector sketches</a:t>
            </a:r>
            <a:endParaRPr lang="en-US" sz="1270" dirty="0"/>
          </a:p>
        </p:txBody>
      </p:sp>
      <p:sp>
        <p:nvSpPr>
          <p:cNvPr id="35" name="Shape 33"/>
          <p:cNvSpPr/>
          <p:nvPr/>
        </p:nvSpPr>
        <p:spPr>
          <a:xfrm>
            <a:off x="8503920" y="4059936"/>
            <a:ext cx="109728" cy="109728"/>
          </a:xfrm>
          <a:prstGeom prst="ellipse">
            <a:avLst/>
          </a:prstGeom>
          <a:solidFill>
            <a:srgbClr val="E04CF4"/>
          </a:solidFill>
          <a:ln w="12700">
            <a:solidFill>
              <a:srgbClr val="E04CF4">
                <a:alpha val="0"/>
              </a:srgbClr>
            </a:solidFill>
            <a:prstDash val="solid"/>
          </a:ln>
        </p:spPr>
      </p:sp>
      <p:sp>
        <p:nvSpPr>
          <p:cNvPr id="36" name="Text 34"/>
          <p:cNvSpPr/>
          <p:nvPr/>
        </p:nvSpPr>
        <p:spPr>
          <a:xfrm>
            <a:off x="8759952" y="3968496"/>
            <a:ext cx="2606040" cy="356616"/>
          </a:xfrm>
          <a:prstGeom prst="rect">
            <a:avLst/>
          </a:prstGeom>
          <a:noFill/>
          <a:ln/>
        </p:spPr>
        <p:txBody>
          <a:bodyPr wrap="square" lIns="0" tIns="0" rIns="0" bIns="0" rtlCol="0" anchor="ctr">
            <a:normAutofit/>
          </a:bodyPr>
          <a:lstStyle/>
          <a:p>
            <a:pPr indent="0" marL="0">
              <a:buNone/>
            </a:pPr>
            <a:r>
              <a:rPr lang="en-US" sz="1270" dirty="0">
                <a:solidFill>
                  <a:srgbClr val="E9E0FF"/>
                </a:solidFill>
                <a:latin typeface="Inter" pitchFamily="34" charset="0"/>
                <a:ea typeface="Inter" pitchFamily="34" charset="-122"/>
                <a:cs typeface="Inter" pitchFamily="34" charset="-120"/>
              </a:rPr>
              <a:t>One shared TV remote</a:t>
            </a:r>
            <a:endParaRPr lang="en-US" sz="1270" dirty="0"/>
          </a:p>
        </p:txBody>
      </p:sp>
      <p:sp>
        <p:nvSpPr>
          <p:cNvPr id="37" name="Shape 35"/>
          <p:cNvSpPr/>
          <p:nvPr/>
        </p:nvSpPr>
        <p:spPr>
          <a:xfrm>
            <a:off x="8503920" y="4562856"/>
            <a:ext cx="109728" cy="109728"/>
          </a:xfrm>
          <a:prstGeom prst="ellipse">
            <a:avLst/>
          </a:prstGeom>
          <a:solidFill>
            <a:srgbClr val="E04CF4"/>
          </a:solidFill>
          <a:ln w="12700">
            <a:solidFill>
              <a:srgbClr val="E04CF4">
                <a:alpha val="0"/>
              </a:srgbClr>
            </a:solidFill>
            <a:prstDash val="solid"/>
          </a:ln>
        </p:spPr>
      </p:sp>
      <p:sp>
        <p:nvSpPr>
          <p:cNvPr id="38" name="Text 36"/>
          <p:cNvSpPr/>
          <p:nvPr/>
        </p:nvSpPr>
        <p:spPr>
          <a:xfrm>
            <a:off x="8759952" y="4471416"/>
            <a:ext cx="2606040" cy="356616"/>
          </a:xfrm>
          <a:prstGeom prst="rect">
            <a:avLst/>
          </a:prstGeom>
          <a:noFill/>
          <a:ln/>
        </p:spPr>
        <p:txBody>
          <a:bodyPr wrap="square" lIns="0" tIns="0" rIns="0" bIns="0" rtlCol="0" anchor="ctr">
            <a:normAutofit/>
          </a:bodyPr>
          <a:lstStyle/>
          <a:p>
            <a:pPr indent="0" marL="0">
              <a:buNone/>
            </a:pPr>
            <a:r>
              <a:rPr lang="en-US" sz="1270" dirty="0">
                <a:solidFill>
                  <a:srgbClr val="E9E0FF"/>
                </a:solidFill>
                <a:latin typeface="Inter" pitchFamily="34" charset="0"/>
                <a:ea typeface="Inter" pitchFamily="34" charset="-122"/>
                <a:cs typeface="Inter" pitchFamily="34" charset="-120"/>
              </a:rPr>
              <a:t>4-choice, timed quiz</a:t>
            </a:r>
            <a:endParaRPr lang="en-US" sz="1270" dirty="0"/>
          </a:p>
        </p:txBody>
      </p:sp>
      <p:sp>
        <p:nvSpPr>
          <p:cNvPr id="39" name="Shape 37"/>
          <p:cNvSpPr/>
          <p:nvPr/>
        </p:nvSpPr>
        <p:spPr>
          <a:xfrm>
            <a:off x="1664208" y="5669280"/>
            <a:ext cx="8860536" cy="365760"/>
          </a:xfrm>
          <a:prstGeom prst="roundRect">
            <a:avLst>
              <a:gd name="adj" fmla="val 47500"/>
            </a:avLst>
          </a:prstGeom>
          <a:solidFill>
            <a:srgbClr val="3C255E"/>
          </a:solidFill>
          <a:ln w="12700">
            <a:solidFill>
              <a:srgbClr val="3C255E">
                <a:alpha val="0"/>
              </a:srgbClr>
            </a:solidFill>
            <a:prstDash val="solid"/>
          </a:ln>
        </p:spPr>
      </p:sp>
      <p:sp>
        <p:nvSpPr>
          <p:cNvPr id="40" name="Text 38"/>
          <p:cNvSpPr/>
          <p:nvPr/>
        </p:nvSpPr>
        <p:spPr>
          <a:xfrm>
            <a:off x="1773936" y="5710428"/>
            <a:ext cx="8641080" cy="256032"/>
          </a:xfrm>
          <a:prstGeom prst="rect">
            <a:avLst/>
          </a:prstGeom>
          <a:noFill/>
          <a:ln/>
        </p:spPr>
        <p:txBody>
          <a:bodyPr wrap="square" lIns="0" tIns="0" rIns="0" bIns="0" rtlCol="0" anchor="ctr">
            <a:normAutofit/>
          </a:bodyPr>
          <a:lstStyle/>
          <a:p>
            <a:pPr algn="ctr" indent="0" marL="0">
              <a:buNone/>
            </a:pPr>
            <a:r>
              <a:rPr lang="en-US" sz="1050" b="1" dirty="0">
                <a:solidFill>
                  <a:srgbClr val="E9E0FF"/>
                </a:solidFill>
                <a:latin typeface="Inter Display" pitchFamily="34" charset="0"/>
                <a:ea typeface="Inter Display" pitchFamily="34" charset="-122"/>
                <a:cs typeface="Inter Display" pitchFamily="34" charset="-120"/>
              </a:rPr>
              <a:t>POSITIONING: QUICK-GUESS, SHARED-SCREEN, NO PERSONAL DEVICE REQUIRED</a:t>
            </a:r>
            <a:endParaRPr lang="en-US" sz="1050" dirty="0"/>
          </a:p>
        </p:txBody>
      </p:sp>
      <p:sp>
        <p:nvSpPr>
          <p:cNvPr id="41" name="Text 39"/>
          <p:cNvSpPr/>
          <p:nvPr/>
        </p:nvSpPr>
        <p:spPr>
          <a:xfrm>
            <a:off x="585216" y="6281928"/>
            <a:ext cx="10835640" cy="164592"/>
          </a:xfrm>
          <a:prstGeom prst="rect">
            <a:avLst/>
          </a:prstGeom>
          <a:noFill/>
          <a:ln/>
        </p:spPr>
        <p:txBody>
          <a:bodyPr wrap="square" lIns="0" tIns="0" rIns="0" bIns="0" rtlCol="0" anchor="ctr">
            <a:normAutofit/>
          </a:bodyPr>
          <a:lstStyle/>
          <a:p>
            <a:pPr indent="0" marL="0">
              <a:buNone/>
            </a:pPr>
            <a:r>
              <a:rPr lang="en-US" sz="920" i="1" dirty="0">
                <a:solidFill>
                  <a:srgbClr val="B6AACF"/>
                </a:solidFill>
                <a:latin typeface="Inter" pitchFamily="34" charset="0"/>
                <a:ea typeface="Inter" pitchFamily="34" charset="-122"/>
                <a:cs typeface="Inter" pitchFamily="34" charset="-120"/>
              </a:rPr>
              <a:t>Comparison sourced from Drawful 2 Apple TV listing and the official skribbl.io game description.</a:t>
            </a:r>
            <a:endParaRPr lang="en-US" sz="920" dirty="0"/>
          </a:p>
        </p:txBody>
      </p:sp>
      <p:sp>
        <p:nvSpPr>
          <p:cNvPr id="42" name="Shape 40"/>
          <p:cNvSpPr/>
          <p:nvPr/>
        </p:nvSpPr>
        <p:spPr>
          <a:xfrm>
            <a:off x="566928" y="6556248"/>
            <a:ext cx="11045952" cy="0"/>
          </a:xfrm>
          <a:prstGeom prst="line">
            <a:avLst/>
          </a:prstGeom>
          <a:noFill/>
          <a:ln w="8890">
            <a:solidFill>
              <a:srgbClr val="44365D">
                <a:alpha val="80000"/>
              </a:srgbClr>
            </a:solidFill>
            <a:prstDash val="solid"/>
          </a:ln>
        </p:spPr>
      </p:sp>
      <p:sp>
        <p:nvSpPr>
          <p:cNvPr id="43" name="Text 41"/>
          <p:cNvSpPr/>
          <p:nvPr/>
        </p:nvSpPr>
        <p:spPr>
          <a:xfrm>
            <a:off x="585216" y="6601968"/>
            <a:ext cx="7772400" cy="155448"/>
          </a:xfrm>
          <a:prstGeom prst="rect">
            <a:avLst/>
          </a:prstGeom>
          <a:noFill/>
          <a:ln/>
        </p:spPr>
        <p:txBody>
          <a:bodyPr wrap="square" lIns="0" tIns="0" rIns="0" bIns="0" rtlCol="0" anchor="ctr">
            <a:normAutofit/>
          </a:bodyPr>
          <a:lstStyle/>
          <a:p>
            <a:pPr indent="0" marL="0">
              <a:buNone/>
            </a:pPr>
            <a:r>
              <a:rPr lang="en-US" sz="900" b="1" spc="50" kern="0" dirty="0">
                <a:solidFill>
                  <a:srgbClr val="B6AACF"/>
                </a:solidFill>
                <a:latin typeface="Inter Display" pitchFamily="34" charset="0"/>
                <a:ea typeface="Inter Display" pitchFamily="34" charset="-122"/>
                <a:cs typeface="Inter Display" pitchFamily="34" charset="-120"/>
              </a:rPr>
              <a:t>SKETCHQUEST PARTY  /  SE4041 — PART B</a:t>
            </a:r>
            <a:endParaRPr lang="en-US" sz="900" dirty="0"/>
          </a:p>
        </p:txBody>
      </p:sp>
      <p:sp>
        <p:nvSpPr>
          <p:cNvPr id="44" name="Text 42"/>
          <p:cNvSpPr/>
          <p:nvPr/>
        </p:nvSpPr>
        <p:spPr>
          <a:xfrm>
            <a:off x="11155680" y="6583680"/>
            <a:ext cx="457200" cy="201168"/>
          </a:xfrm>
          <a:prstGeom prst="rect">
            <a:avLst/>
          </a:prstGeom>
          <a:noFill/>
          <a:ln/>
        </p:spPr>
        <p:txBody>
          <a:bodyPr wrap="square" lIns="0" tIns="0" rIns="0" bIns="0" rtlCol="0" anchor="ctr">
            <a:normAutofit/>
          </a:bodyPr>
          <a:lstStyle/>
          <a:p>
            <a:pPr algn="r" indent="0" marL="0">
              <a:buNone/>
            </a:pPr>
            <a:r>
              <a:rPr lang="en-US" sz="950" b="1" dirty="0">
                <a:solidFill>
                  <a:srgbClr val="B6AACF"/>
                </a:solidFill>
                <a:latin typeface="Inter Display" pitchFamily="34" charset="0"/>
                <a:ea typeface="Inter Display" pitchFamily="34" charset="-122"/>
                <a:cs typeface="Inter Display"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Shape 1"/>
          <p:cNvSpPr/>
          <p:nvPr/>
        </p:nvSpPr>
        <p:spPr>
          <a:xfrm>
            <a:off x="9290304" y="0"/>
            <a:ext cx="2880360" cy="2880360"/>
          </a:xfrm>
          <a:prstGeom prst="ellipse">
            <a:avLst/>
          </a:prstGeom>
          <a:solidFill>
            <a:srgbClr val="402273">
              <a:alpha val="35000"/>
            </a:srgbClr>
          </a:solidFill>
          <a:ln w="12700">
            <a:solidFill>
              <a:srgbClr val="402273">
                <a:alpha val="0"/>
              </a:srgbClr>
            </a:solidFill>
            <a:prstDash val="solid"/>
          </a:ln>
        </p:spPr>
      </p:sp>
      <p:sp>
        <p:nvSpPr>
          <p:cNvPr id="4" name="Shape 2"/>
          <p:cNvSpPr/>
          <p:nvPr/>
        </p:nvSpPr>
        <p:spPr>
          <a:xfrm>
            <a:off x="0" y="5047488"/>
            <a:ext cx="1773936" cy="1773936"/>
          </a:xfrm>
          <a:prstGeom prst="ellipse">
            <a:avLst/>
          </a:prstGeom>
          <a:solidFill>
            <a:srgbClr val="2C1A61">
              <a:alpha val="36000"/>
            </a:srgbClr>
          </a:solidFill>
          <a:ln w="12700">
            <a:solidFill>
              <a:srgbClr val="2C1A61">
                <a:alpha val="0"/>
              </a:srgbClr>
            </a:solidFill>
            <a:prstDash val="solid"/>
          </a:ln>
        </p:spPr>
      </p:sp>
      <p:sp>
        <p:nvSpPr>
          <p:cNvPr id="5" name="Shape 3"/>
          <p:cNvSpPr/>
          <p:nvPr/>
        </p:nvSpPr>
        <p:spPr>
          <a:xfrm>
            <a:off x="6583680" y="5175504"/>
            <a:ext cx="1572768" cy="1572768"/>
          </a:xfrm>
          <a:prstGeom prst="ellipse">
            <a:avLst/>
          </a:prstGeom>
          <a:solidFill>
            <a:srgbClr val="3B2079">
              <a:alpha val="16000"/>
            </a:srgbClr>
          </a:solidFill>
          <a:ln w="12700">
            <a:solidFill>
              <a:srgbClr val="3B2079">
                <a:alpha val="0"/>
              </a:srgbClr>
            </a:solidFill>
            <a:prstDash val="solid"/>
          </a:ln>
        </p:spPr>
      </p:sp>
      <p:sp>
        <p:nvSpPr>
          <p:cNvPr id="6" name="Text 4"/>
          <p:cNvSpPr/>
          <p:nvPr/>
        </p:nvSpPr>
        <p:spPr>
          <a:xfrm>
            <a:off x="566928" y="329184"/>
            <a:ext cx="7315200" cy="237744"/>
          </a:xfrm>
          <a:prstGeom prst="rect">
            <a:avLst/>
          </a:prstGeom>
          <a:noFill/>
          <a:ln/>
        </p:spPr>
        <p:txBody>
          <a:bodyPr wrap="square" lIns="0" tIns="0" rIns="0" bIns="0" rtlCol="0" anchor="ctr">
            <a:normAutofit/>
          </a:bodyPr>
          <a:lstStyle/>
          <a:p>
            <a:pPr indent="0" marL="0">
              <a:buNone/>
            </a:pPr>
            <a:r>
              <a:rPr lang="en-US" sz="1050" b="1" spc="200" kern="0" dirty="0">
                <a:solidFill>
                  <a:srgbClr val="E04CF4"/>
                </a:solidFill>
                <a:latin typeface="Inter Display" pitchFamily="34" charset="0"/>
                <a:ea typeface="Inter Display" pitchFamily="34" charset="-122"/>
                <a:cs typeface="Inter Display" pitchFamily="34" charset="-120"/>
              </a:rPr>
              <a:t>09 / TARGET USERS</a:t>
            </a:r>
            <a:endParaRPr lang="en-US" sz="1050" dirty="0"/>
          </a:p>
        </p:txBody>
      </p:sp>
      <p:sp>
        <p:nvSpPr>
          <p:cNvPr id="7" name="Text 5"/>
          <p:cNvSpPr/>
          <p:nvPr/>
        </p:nvSpPr>
        <p:spPr>
          <a:xfrm>
            <a:off x="566928" y="768096"/>
            <a:ext cx="11082528" cy="576072"/>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Inter Display" pitchFamily="34" charset="0"/>
                <a:ea typeface="Inter Display" pitchFamily="34" charset="-122"/>
                <a:cs typeface="Inter Display" pitchFamily="34" charset="-120"/>
              </a:rPr>
              <a:t>Built around real-life group moments.</a:t>
            </a:r>
            <a:endParaRPr lang="en-US" sz="3200" dirty="0"/>
          </a:p>
        </p:txBody>
      </p:sp>
      <p:sp>
        <p:nvSpPr>
          <p:cNvPr id="8" name="Text 6"/>
          <p:cNvSpPr/>
          <p:nvPr/>
        </p:nvSpPr>
        <p:spPr>
          <a:xfrm>
            <a:off x="594360" y="1389888"/>
            <a:ext cx="10899648" cy="438912"/>
          </a:xfrm>
          <a:prstGeom prst="rect">
            <a:avLst/>
          </a:prstGeom>
          <a:noFill/>
          <a:ln/>
        </p:spPr>
        <p:txBody>
          <a:bodyPr wrap="square" lIns="0" tIns="0" rIns="0" bIns="0" rtlCol="0" anchor="ctr">
            <a:normAutofit/>
          </a:bodyPr>
          <a:lstStyle/>
          <a:p>
            <a:pPr indent="0" marL="0">
              <a:buNone/>
            </a:pPr>
            <a:r>
              <a:rPr lang="en-US" sz="1540" dirty="0">
                <a:solidFill>
                  <a:srgbClr val="B6AACF"/>
                </a:solidFill>
                <a:latin typeface="Inter" pitchFamily="34" charset="0"/>
                <a:ea typeface="Inter" pitchFamily="34" charset="-122"/>
                <a:cs typeface="Inter" pitchFamily="34" charset="-120"/>
              </a:rPr>
              <a:t>These are proposed early-adopter segments — not measured market-size claims.</a:t>
            </a:r>
            <a:endParaRPr lang="en-US" sz="1540" dirty="0"/>
          </a:p>
        </p:txBody>
      </p:sp>
      <p:sp>
        <p:nvSpPr>
          <p:cNvPr id="9" name="Shape 7"/>
          <p:cNvSpPr/>
          <p:nvPr/>
        </p:nvSpPr>
        <p:spPr>
          <a:xfrm>
            <a:off x="594360" y="2011680"/>
            <a:ext cx="3648456" cy="3547872"/>
          </a:xfrm>
          <a:prstGeom prst="roundRect">
            <a:avLst>
              <a:gd name="adj" fmla="val 5670"/>
            </a:avLst>
          </a:prstGeom>
          <a:solidFill>
            <a:srgbClr val="21183E"/>
          </a:solidFill>
          <a:ln w="10795">
            <a:solidFill>
              <a:srgbClr val="563C78"/>
            </a:solidFill>
            <a:prstDash val="solid"/>
          </a:ln>
        </p:spPr>
      </p:sp>
      <p:sp>
        <p:nvSpPr>
          <p:cNvPr id="10" name="Shape 8"/>
          <p:cNvSpPr/>
          <p:nvPr/>
        </p:nvSpPr>
        <p:spPr>
          <a:xfrm>
            <a:off x="932688" y="2404872"/>
            <a:ext cx="832104" cy="832104"/>
          </a:xfrm>
          <a:prstGeom prst="ellipse">
            <a:avLst/>
          </a:prstGeom>
          <a:solidFill>
            <a:srgbClr val="E04CF4">
              <a:alpha val="33000"/>
            </a:srgbClr>
          </a:solidFill>
          <a:ln w="12700">
            <a:solidFill>
              <a:srgbClr val="E04CF4">
                <a:alpha val="0"/>
              </a:srgbClr>
            </a:solidFill>
            <a:prstDash val="solid"/>
          </a:ln>
        </p:spPr>
      </p:sp>
      <p:sp>
        <p:nvSpPr>
          <p:cNvPr id="11" name="Text 9"/>
          <p:cNvSpPr/>
          <p:nvPr/>
        </p:nvSpPr>
        <p:spPr>
          <a:xfrm>
            <a:off x="1115568" y="2660904"/>
            <a:ext cx="475488" cy="210312"/>
          </a:xfrm>
          <a:prstGeom prst="rect">
            <a:avLst/>
          </a:prstGeom>
          <a:noFill/>
          <a:ln/>
        </p:spPr>
        <p:txBody>
          <a:bodyPr wrap="square" lIns="0" tIns="0" rIns="0" bIns="0" rtlCol="0" anchor="ctr">
            <a:normAutofit/>
          </a:bodyPr>
          <a:lstStyle/>
          <a:p>
            <a:pPr indent="0" marL="0">
              <a:buNone/>
            </a:pPr>
            <a:r>
              <a:rPr lang="en-US" sz="2100" b="1" dirty="0">
                <a:solidFill>
                  <a:srgbClr val="E04CF4"/>
                </a:solidFill>
                <a:latin typeface="Inter Display" pitchFamily="34" charset="0"/>
                <a:ea typeface="Inter Display" pitchFamily="34" charset="-122"/>
                <a:cs typeface="Inter Display" pitchFamily="34" charset="-120"/>
              </a:rPr>
              <a:t>01</a:t>
            </a:r>
            <a:endParaRPr lang="en-US" sz="2100" dirty="0"/>
          </a:p>
        </p:txBody>
      </p:sp>
      <p:sp>
        <p:nvSpPr>
          <p:cNvPr id="12" name="Text 10"/>
          <p:cNvSpPr/>
          <p:nvPr/>
        </p:nvSpPr>
        <p:spPr>
          <a:xfrm>
            <a:off x="941832" y="3575304"/>
            <a:ext cx="2971800" cy="438912"/>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Inter Display" pitchFamily="34" charset="0"/>
                <a:ea typeface="Inter Display" pitchFamily="34" charset="-122"/>
                <a:cs typeface="Inter Display" pitchFamily="34" charset="-120"/>
              </a:rPr>
              <a:t>FAMILIES</a:t>
            </a:r>
            <a:endParaRPr lang="en-US" sz="2000" dirty="0"/>
          </a:p>
        </p:txBody>
      </p:sp>
      <p:sp>
        <p:nvSpPr>
          <p:cNvPr id="13" name="Text 11"/>
          <p:cNvSpPr/>
          <p:nvPr/>
        </p:nvSpPr>
        <p:spPr>
          <a:xfrm>
            <a:off x="941832" y="4069080"/>
            <a:ext cx="2916936" cy="813816"/>
          </a:xfrm>
          <a:prstGeom prst="rect">
            <a:avLst/>
          </a:prstGeom>
          <a:noFill/>
          <a:ln/>
        </p:spPr>
        <p:txBody>
          <a:bodyPr wrap="square" lIns="0" tIns="0" rIns="0" bIns="0" rtlCol="0" anchor="t">
            <a:normAutofit/>
          </a:bodyPr>
          <a:lstStyle/>
          <a:p>
            <a:pPr indent="0" marL="0">
              <a:buNone/>
            </a:pPr>
            <a:r>
              <a:rPr lang="en-US" sz="1700" dirty="0">
                <a:solidFill>
                  <a:srgbClr val="E9E0FF"/>
                </a:solidFill>
                <a:latin typeface="Inter" pitchFamily="34" charset="0"/>
                <a:ea typeface="Inter" pitchFamily="34" charset="-122"/>
                <a:cs typeface="Inter" pitchFamily="34" charset="-120"/>
              </a:rPr>
              <a:t>A quick living-room game</a:t>
            </a:r>
            <a:endParaRPr lang="en-US" sz="1700" dirty="0"/>
          </a:p>
          <a:p>
            <a:pPr indent="0" marL="0">
              <a:buNone/>
            </a:pPr>
            <a:r>
              <a:rPr lang="en-US" sz="1700" dirty="0">
                <a:solidFill>
                  <a:srgbClr val="E9E0FF"/>
                </a:solidFill>
                <a:latin typeface="Inter" pitchFamily="34" charset="0"/>
                <a:ea typeface="Inter" pitchFamily="34" charset="-122"/>
                <a:cs typeface="Inter" pitchFamily="34" charset="-120"/>
              </a:rPr>
              <a:t>that everyone can follow.</a:t>
            </a:r>
            <a:endParaRPr lang="en-US" sz="1700" dirty="0"/>
          </a:p>
        </p:txBody>
      </p:sp>
      <p:sp>
        <p:nvSpPr>
          <p:cNvPr id="14" name="Text 12"/>
          <p:cNvSpPr/>
          <p:nvPr/>
        </p:nvSpPr>
        <p:spPr>
          <a:xfrm>
            <a:off x="950976" y="5221224"/>
            <a:ext cx="2816352" cy="237744"/>
          </a:xfrm>
          <a:prstGeom prst="rect">
            <a:avLst/>
          </a:prstGeom>
          <a:noFill/>
          <a:ln/>
        </p:spPr>
        <p:txBody>
          <a:bodyPr wrap="square" lIns="0" tIns="0" rIns="0" bIns="0" rtlCol="0" anchor="ctr">
            <a:normAutofit/>
          </a:bodyPr>
          <a:lstStyle/>
          <a:p>
            <a:pPr indent="0" marL="0">
              <a:buNone/>
            </a:pPr>
            <a:r>
              <a:rPr lang="en-US" sz="1040" b="1" spc="100" kern="0" dirty="0">
                <a:solidFill>
                  <a:srgbClr val="E04CF4"/>
                </a:solidFill>
                <a:latin typeface="Inter Display" pitchFamily="34" charset="0"/>
                <a:ea typeface="Inter Display" pitchFamily="34" charset="-122"/>
                <a:cs typeface="Inter Display" pitchFamily="34" charset="-120"/>
              </a:rPr>
              <a:t>AT-HOME ENTERTAINMENT</a:t>
            </a:r>
            <a:endParaRPr lang="en-US" sz="1040" dirty="0"/>
          </a:p>
        </p:txBody>
      </p:sp>
      <p:sp>
        <p:nvSpPr>
          <p:cNvPr id="15" name="Shape 13"/>
          <p:cNvSpPr/>
          <p:nvPr/>
        </p:nvSpPr>
        <p:spPr>
          <a:xfrm>
            <a:off x="4480560" y="2011680"/>
            <a:ext cx="3648456" cy="3547872"/>
          </a:xfrm>
          <a:prstGeom prst="roundRect">
            <a:avLst>
              <a:gd name="adj" fmla="val 5670"/>
            </a:avLst>
          </a:prstGeom>
          <a:solidFill>
            <a:srgbClr val="21183E"/>
          </a:solidFill>
          <a:ln w="10795">
            <a:solidFill>
              <a:srgbClr val="563C78"/>
            </a:solidFill>
            <a:prstDash val="solid"/>
          </a:ln>
        </p:spPr>
      </p:sp>
      <p:sp>
        <p:nvSpPr>
          <p:cNvPr id="16" name="Shape 14"/>
          <p:cNvSpPr/>
          <p:nvPr/>
        </p:nvSpPr>
        <p:spPr>
          <a:xfrm>
            <a:off x="4818888" y="2404872"/>
            <a:ext cx="832104" cy="832104"/>
          </a:xfrm>
          <a:prstGeom prst="ellipse">
            <a:avLst/>
          </a:prstGeom>
          <a:solidFill>
            <a:srgbClr val="42D4F4">
              <a:alpha val="33000"/>
            </a:srgbClr>
          </a:solidFill>
          <a:ln w="12700">
            <a:solidFill>
              <a:srgbClr val="42D4F4">
                <a:alpha val="0"/>
              </a:srgbClr>
            </a:solidFill>
            <a:prstDash val="solid"/>
          </a:ln>
        </p:spPr>
      </p:sp>
      <p:sp>
        <p:nvSpPr>
          <p:cNvPr id="17" name="Text 15"/>
          <p:cNvSpPr/>
          <p:nvPr/>
        </p:nvSpPr>
        <p:spPr>
          <a:xfrm>
            <a:off x="5001768" y="2660904"/>
            <a:ext cx="475488" cy="210312"/>
          </a:xfrm>
          <a:prstGeom prst="rect">
            <a:avLst/>
          </a:prstGeom>
          <a:noFill/>
          <a:ln/>
        </p:spPr>
        <p:txBody>
          <a:bodyPr wrap="square" lIns="0" tIns="0" rIns="0" bIns="0" rtlCol="0" anchor="ctr">
            <a:normAutofit/>
          </a:bodyPr>
          <a:lstStyle/>
          <a:p>
            <a:pPr indent="0" marL="0">
              <a:buNone/>
            </a:pPr>
            <a:r>
              <a:rPr lang="en-US" sz="2100" b="1" dirty="0">
                <a:solidFill>
                  <a:srgbClr val="42D4F4"/>
                </a:solidFill>
                <a:latin typeface="Inter Display" pitchFamily="34" charset="0"/>
                <a:ea typeface="Inter Display" pitchFamily="34" charset="-122"/>
                <a:cs typeface="Inter Display" pitchFamily="34" charset="-120"/>
              </a:rPr>
              <a:t>02</a:t>
            </a:r>
            <a:endParaRPr lang="en-US" sz="2100" dirty="0"/>
          </a:p>
        </p:txBody>
      </p:sp>
      <p:sp>
        <p:nvSpPr>
          <p:cNvPr id="18" name="Text 16"/>
          <p:cNvSpPr/>
          <p:nvPr/>
        </p:nvSpPr>
        <p:spPr>
          <a:xfrm>
            <a:off x="4828032" y="3575304"/>
            <a:ext cx="2971800" cy="438912"/>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Inter Display" pitchFamily="34" charset="0"/>
                <a:ea typeface="Inter Display" pitchFamily="34" charset="-122"/>
                <a:cs typeface="Inter Display" pitchFamily="34" charset="-120"/>
              </a:rPr>
              <a:t>FRIEND GROUPS</a:t>
            </a:r>
            <a:endParaRPr lang="en-US" sz="2000" dirty="0"/>
          </a:p>
        </p:txBody>
      </p:sp>
      <p:sp>
        <p:nvSpPr>
          <p:cNvPr id="19" name="Text 17"/>
          <p:cNvSpPr/>
          <p:nvPr/>
        </p:nvSpPr>
        <p:spPr>
          <a:xfrm>
            <a:off x="4828032" y="4069080"/>
            <a:ext cx="2916936" cy="813816"/>
          </a:xfrm>
          <a:prstGeom prst="rect">
            <a:avLst/>
          </a:prstGeom>
          <a:noFill/>
          <a:ln/>
        </p:spPr>
        <p:txBody>
          <a:bodyPr wrap="square" lIns="0" tIns="0" rIns="0" bIns="0" rtlCol="0" anchor="t">
            <a:normAutofit/>
          </a:bodyPr>
          <a:lstStyle/>
          <a:p>
            <a:pPr indent="0" marL="0">
              <a:buNone/>
            </a:pPr>
            <a:r>
              <a:rPr lang="en-US" sz="1700" dirty="0">
                <a:solidFill>
                  <a:srgbClr val="E9E0FF"/>
                </a:solidFill>
                <a:latin typeface="Inter" pitchFamily="34" charset="0"/>
                <a:ea typeface="Inter" pitchFamily="34" charset="-122"/>
                <a:cs typeface="Inter" pitchFamily="34" charset="-120"/>
              </a:rPr>
              <a:t>Friendly head-to-head</a:t>
            </a:r>
            <a:endParaRPr lang="en-US" sz="1700" dirty="0"/>
          </a:p>
          <a:p>
            <a:pPr indent="0" marL="0">
              <a:buNone/>
            </a:pPr>
            <a:r>
              <a:rPr lang="en-US" sz="1700" dirty="0">
                <a:solidFill>
                  <a:srgbClr val="E9E0FF"/>
                </a:solidFill>
                <a:latin typeface="Inter" pitchFamily="34" charset="0"/>
                <a:ea typeface="Inter" pitchFamily="34" charset="-122"/>
                <a:cs typeface="Inter" pitchFamily="34" charset="-120"/>
              </a:rPr>
              <a:t>rounds on one screen.</a:t>
            </a:r>
            <a:endParaRPr lang="en-US" sz="1700" dirty="0"/>
          </a:p>
        </p:txBody>
      </p:sp>
      <p:sp>
        <p:nvSpPr>
          <p:cNvPr id="20" name="Text 18"/>
          <p:cNvSpPr/>
          <p:nvPr/>
        </p:nvSpPr>
        <p:spPr>
          <a:xfrm>
            <a:off x="4837176" y="5221224"/>
            <a:ext cx="2816352" cy="237744"/>
          </a:xfrm>
          <a:prstGeom prst="rect">
            <a:avLst/>
          </a:prstGeom>
          <a:noFill/>
          <a:ln/>
        </p:spPr>
        <p:txBody>
          <a:bodyPr wrap="square" lIns="0" tIns="0" rIns="0" bIns="0" rtlCol="0" anchor="ctr">
            <a:normAutofit/>
          </a:bodyPr>
          <a:lstStyle/>
          <a:p>
            <a:pPr indent="0" marL="0">
              <a:buNone/>
            </a:pPr>
            <a:r>
              <a:rPr lang="en-US" sz="1040" b="1" spc="100" kern="0" dirty="0">
                <a:solidFill>
                  <a:srgbClr val="42D4F4"/>
                </a:solidFill>
                <a:latin typeface="Inter Display" pitchFamily="34" charset="0"/>
                <a:ea typeface="Inter Display" pitchFamily="34" charset="-122"/>
                <a:cs typeface="Inter Display" pitchFamily="34" charset="-120"/>
              </a:rPr>
              <a:t>CASUAL GAME NIGHTS</a:t>
            </a:r>
            <a:endParaRPr lang="en-US" sz="1040" dirty="0"/>
          </a:p>
        </p:txBody>
      </p:sp>
      <p:sp>
        <p:nvSpPr>
          <p:cNvPr id="21" name="Shape 19"/>
          <p:cNvSpPr/>
          <p:nvPr/>
        </p:nvSpPr>
        <p:spPr>
          <a:xfrm>
            <a:off x="8366760" y="2011680"/>
            <a:ext cx="3648456" cy="3547872"/>
          </a:xfrm>
          <a:prstGeom prst="roundRect">
            <a:avLst>
              <a:gd name="adj" fmla="val 5670"/>
            </a:avLst>
          </a:prstGeom>
          <a:solidFill>
            <a:srgbClr val="21183E"/>
          </a:solidFill>
          <a:ln w="10795">
            <a:solidFill>
              <a:srgbClr val="563C78"/>
            </a:solidFill>
            <a:prstDash val="solid"/>
          </a:ln>
        </p:spPr>
      </p:sp>
      <p:sp>
        <p:nvSpPr>
          <p:cNvPr id="22" name="Shape 20"/>
          <p:cNvSpPr/>
          <p:nvPr/>
        </p:nvSpPr>
        <p:spPr>
          <a:xfrm>
            <a:off x="8705088" y="2404872"/>
            <a:ext cx="832104" cy="832104"/>
          </a:xfrm>
          <a:prstGeom prst="ellipse">
            <a:avLst/>
          </a:prstGeom>
          <a:solidFill>
            <a:srgbClr val="FFCC55">
              <a:alpha val="33000"/>
            </a:srgbClr>
          </a:solidFill>
          <a:ln w="12700">
            <a:solidFill>
              <a:srgbClr val="FFCC55">
                <a:alpha val="0"/>
              </a:srgbClr>
            </a:solidFill>
            <a:prstDash val="solid"/>
          </a:ln>
        </p:spPr>
      </p:sp>
      <p:sp>
        <p:nvSpPr>
          <p:cNvPr id="23" name="Text 21"/>
          <p:cNvSpPr/>
          <p:nvPr/>
        </p:nvSpPr>
        <p:spPr>
          <a:xfrm>
            <a:off x="8887968" y="2660904"/>
            <a:ext cx="475488" cy="210312"/>
          </a:xfrm>
          <a:prstGeom prst="rect">
            <a:avLst/>
          </a:prstGeom>
          <a:noFill/>
          <a:ln/>
        </p:spPr>
        <p:txBody>
          <a:bodyPr wrap="square" lIns="0" tIns="0" rIns="0" bIns="0" rtlCol="0" anchor="ctr">
            <a:normAutofit/>
          </a:bodyPr>
          <a:lstStyle/>
          <a:p>
            <a:pPr indent="0" marL="0">
              <a:buNone/>
            </a:pPr>
            <a:r>
              <a:rPr lang="en-US" sz="2100" b="1" dirty="0">
                <a:solidFill>
                  <a:srgbClr val="FFCC55"/>
                </a:solidFill>
                <a:latin typeface="Inter Display" pitchFamily="34" charset="0"/>
                <a:ea typeface="Inter Display" pitchFamily="34" charset="-122"/>
                <a:cs typeface="Inter Display" pitchFamily="34" charset="-120"/>
              </a:rPr>
              <a:t>03</a:t>
            </a:r>
            <a:endParaRPr lang="en-US" sz="2100" dirty="0"/>
          </a:p>
        </p:txBody>
      </p:sp>
      <p:sp>
        <p:nvSpPr>
          <p:cNvPr id="24" name="Text 22"/>
          <p:cNvSpPr/>
          <p:nvPr/>
        </p:nvSpPr>
        <p:spPr>
          <a:xfrm>
            <a:off x="8714232" y="3575304"/>
            <a:ext cx="2971800" cy="438912"/>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Inter Display" pitchFamily="34" charset="0"/>
                <a:ea typeface="Inter Display" pitchFamily="34" charset="-122"/>
                <a:cs typeface="Inter Display" pitchFamily="34" charset="-120"/>
              </a:rPr>
              <a:t>STUDENT CLUBS</a:t>
            </a:r>
            <a:endParaRPr lang="en-US" sz="2000" dirty="0"/>
          </a:p>
        </p:txBody>
      </p:sp>
      <p:sp>
        <p:nvSpPr>
          <p:cNvPr id="25" name="Text 23"/>
          <p:cNvSpPr/>
          <p:nvPr/>
        </p:nvSpPr>
        <p:spPr>
          <a:xfrm>
            <a:off x="8714232" y="4069080"/>
            <a:ext cx="2916936" cy="813816"/>
          </a:xfrm>
          <a:prstGeom prst="rect">
            <a:avLst/>
          </a:prstGeom>
          <a:noFill/>
          <a:ln/>
        </p:spPr>
        <p:txBody>
          <a:bodyPr wrap="square" lIns="0" tIns="0" rIns="0" bIns="0" rtlCol="0" anchor="t">
            <a:normAutofit/>
          </a:bodyPr>
          <a:lstStyle/>
          <a:p>
            <a:pPr indent="0" marL="0">
              <a:buNone/>
            </a:pPr>
            <a:r>
              <a:rPr lang="en-US" sz="1700" dirty="0">
                <a:solidFill>
                  <a:srgbClr val="E9E0FF"/>
                </a:solidFill>
                <a:latin typeface="Inter" pitchFamily="34" charset="0"/>
                <a:ea typeface="Inter" pitchFamily="34" charset="-122"/>
                <a:cs typeface="Inter" pitchFamily="34" charset="-120"/>
              </a:rPr>
              <a:t>A simple icebreaker</a:t>
            </a:r>
            <a:endParaRPr lang="en-US" sz="1700" dirty="0"/>
          </a:p>
          <a:p>
            <a:pPr indent="0" marL="0">
              <a:buNone/>
            </a:pPr>
            <a:r>
              <a:rPr lang="en-US" sz="1700" dirty="0">
                <a:solidFill>
                  <a:srgbClr val="E9E0FF"/>
                </a:solidFill>
                <a:latin typeface="Inter" pitchFamily="34" charset="0"/>
                <a:ea typeface="Inter" pitchFamily="34" charset="-122"/>
                <a:cs typeface="Inter" pitchFamily="34" charset="-120"/>
              </a:rPr>
              <a:t>for small-group events.</a:t>
            </a:r>
            <a:endParaRPr lang="en-US" sz="1700" dirty="0"/>
          </a:p>
        </p:txBody>
      </p:sp>
      <p:sp>
        <p:nvSpPr>
          <p:cNvPr id="26" name="Text 24"/>
          <p:cNvSpPr/>
          <p:nvPr/>
        </p:nvSpPr>
        <p:spPr>
          <a:xfrm>
            <a:off x="8723376" y="5221224"/>
            <a:ext cx="2816352" cy="237744"/>
          </a:xfrm>
          <a:prstGeom prst="rect">
            <a:avLst/>
          </a:prstGeom>
          <a:noFill/>
          <a:ln/>
        </p:spPr>
        <p:txBody>
          <a:bodyPr wrap="square" lIns="0" tIns="0" rIns="0" bIns="0" rtlCol="0" anchor="ctr">
            <a:normAutofit/>
          </a:bodyPr>
          <a:lstStyle/>
          <a:p>
            <a:pPr indent="0" marL="0">
              <a:buNone/>
            </a:pPr>
            <a:r>
              <a:rPr lang="en-US" sz="1040" b="1" spc="100" kern="0" dirty="0">
                <a:solidFill>
                  <a:srgbClr val="FFCC55"/>
                </a:solidFill>
                <a:latin typeface="Inter Display" pitchFamily="34" charset="0"/>
                <a:ea typeface="Inter Display" pitchFamily="34" charset="-122"/>
                <a:cs typeface="Inter Display" pitchFamily="34" charset="-120"/>
              </a:rPr>
              <a:t>CAMPUS SOCIALS</a:t>
            </a:r>
            <a:endParaRPr lang="en-US" sz="1040" dirty="0"/>
          </a:p>
        </p:txBody>
      </p:sp>
      <p:sp>
        <p:nvSpPr>
          <p:cNvPr id="27" name="Shape 25"/>
          <p:cNvSpPr/>
          <p:nvPr/>
        </p:nvSpPr>
        <p:spPr>
          <a:xfrm>
            <a:off x="2468880" y="5952744"/>
            <a:ext cx="7269480" cy="365760"/>
          </a:xfrm>
          <a:prstGeom prst="roundRect">
            <a:avLst>
              <a:gd name="adj" fmla="val 47500"/>
            </a:avLst>
          </a:prstGeom>
          <a:solidFill>
            <a:srgbClr val="332150"/>
          </a:solidFill>
          <a:ln w="12700">
            <a:solidFill>
              <a:srgbClr val="332150">
                <a:alpha val="0"/>
              </a:srgbClr>
            </a:solidFill>
            <a:prstDash val="solid"/>
          </a:ln>
        </p:spPr>
      </p:sp>
      <p:sp>
        <p:nvSpPr>
          <p:cNvPr id="28" name="Text 26"/>
          <p:cNvSpPr/>
          <p:nvPr/>
        </p:nvSpPr>
        <p:spPr>
          <a:xfrm>
            <a:off x="2578608" y="5993892"/>
            <a:ext cx="7050024" cy="256032"/>
          </a:xfrm>
          <a:prstGeom prst="rect">
            <a:avLst/>
          </a:prstGeom>
          <a:noFill/>
          <a:ln/>
        </p:spPr>
        <p:txBody>
          <a:bodyPr wrap="square" lIns="0" tIns="0" rIns="0" bIns="0" rtlCol="0" anchor="ctr">
            <a:normAutofit/>
          </a:bodyPr>
          <a:lstStyle/>
          <a:p>
            <a:pPr algn="ctr" indent="0" marL="0">
              <a:buNone/>
            </a:pPr>
            <a:r>
              <a:rPr lang="en-US" sz="1050" b="1" dirty="0">
                <a:solidFill>
                  <a:srgbClr val="E9E0FF"/>
                </a:solidFill>
                <a:latin typeface="Inter Display" pitchFamily="34" charset="0"/>
                <a:ea typeface="Inter Display" pitchFamily="34" charset="-122"/>
                <a:cs typeface="Inter Display" pitchFamily="34" charset="-120"/>
              </a:rPr>
              <a:t>PROPOSED EARLY ADOPTERS — TO BE VALIDATED WITH USER TESTING</a:t>
            </a:r>
            <a:endParaRPr lang="en-US" sz="1050" dirty="0"/>
          </a:p>
        </p:txBody>
      </p:sp>
      <p:sp>
        <p:nvSpPr>
          <p:cNvPr id="29" name="Shape 27"/>
          <p:cNvSpPr/>
          <p:nvPr/>
        </p:nvSpPr>
        <p:spPr>
          <a:xfrm>
            <a:off x="566928" y="6556248"/>
            <a:ext cx="11045952" cy="0"/>
          </a:xfrm>
          <a:prstGeom prst="line">
            <a:avLst/>
          </a:prstGeom>
          <a:noFill/>
          <a:ln w="8890">
            <a:solidFill>
              <a:srgbClr val="44365D">
                <a:alpha val="80000"/>
              </a:srgbClr>
            </a:solidFill>
            <a:prstDash val="solid"/>
          </a:ln>
        </p:spPr>
      </p:sp>
      <p:sp>
        <p:nvSpPr>
          <p:cNvPr id="30" name="Text 28"/>
          <p:cNvSpPr/>
          <p:nvPr/>
        </p:nvSpPr>
        <p:spPr>
          <a:xfrm>
            <a:off x="585216" y="6601968"/>
            <a:ext cx="7772400" cy="155448"/>
          </a:xfrm>
          <a:prstGeom prst="rect">
            <a:avLst/>
          </a:prstGeom>
          <a:noFill/>
          <a:ln/>
        </p:spPr>
        <p:txBody>
          <a:bodyPr wrap="square" lIns="0" tIns="0" rIns="0" bIns="0" rtlCol="0" anchor="ctr">
            <a:normAutofit/>
          </a:bodyPr>
          <a:lstStyle/>
          <a:p>
            <a:pPr indent="0" marL="0">
              <a:buNone/>
            </a:pPr>
            <a:r>
              <a:rPr lang="en-US" sz="900" b="1" spc="50" kern="0" dirty="0">
                <a:solidFill>
                  <a:srgbClr val="B6AACF"/>
                </a:solidFill>
                <a:latin typeface="Inter Display" pitchFamily="34" charset="0"/>
                <a:ea typeface="Inter Display" pitchFamily="34" charset="-122"/>
                <a:cs typeface="Inter Display" pitchFamily="34" charset="-120"/>
              </a:rPr>
              <a:t>SKETCHQUEST PARTY  /  SE4041 — PART B</a:t>
            </a:r>
            <a:endParaRPr lang="en-US" sz="900" dirty="0"/>
          </a:p>
        </p:txBody>
      </p:sp>
      <p:sp>
        <p:nvSpPr>
          <p:cNvPr id="31" name="Text 29"/>
          <p:cNvSpPr/>
          <p:nvPr/>
        </p:nvSpPr>
        <p:spPr>
          <a:xfrm>
            <a:off x="11155680" y="6583680"/>
            <a:ext cx="457200" cy="201168"/>
          </a:xfrm>
          <a:prstGeom prst="rect">
            <a:avLst/>
          </a:prstGeom>
          <a:noFill/>
          <a:ln/>
        </p:spPr>
        <p:txBody>
          <a:bodyPr wrap="square" lIns="0" tIns="0" rIns="0" bIns="0" rtlCol="0" anchor="ctr">
            <a:normAutofit/>
          </a:bodyPr>
          <a:lstStyle/>
          <a:p>
            <a:pPr algn="r" indent="0" marL="0">
              <a:buNone/>
            </a:pPr>
            <a:r>
              <a:rPr lang="en-US" sz="950" b="1" dirty="0">
                <a:solidFill>
                  <a:srgbClr val="B6AACF"/>
                </a:solidFill>
                <a:latin typeface="Inter Display" pitchFamily="34" charset="0"/>
                <a:ea typeface="Inter Display" pitchFamily="34" charset="-122"/>
                <a:cs typeface="Inter Display"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Shape 1"/>
          <p:cNvSpPr/>
          <p:nvPr/>
        </p:nvSpPr>
        <p:spPr>
          <a:xfrm>
            <a:off x="9290304" y="0"/>
            <a:ext cx="2880360" cy="2880360"/>
          </a:xfrm>
          <a:prstGeom prst="ellipse">
            <a:avLst/>
          </a:prstGeom>
          <a:solidFill>
            <a:srgbClr val="402273">
              <a:alpha val="35000"/>
            </a:srgbClr>
          </a:solidFill>
          <a:ln w="12700">
            <a:solidFill>
              <a:srgbClr val="402273">
                <a:alpha val="0"/>
              </a:srgbClr>
            </a:solidFill>
            <a:prstDash val="solid"/>
          </a:ln>
        </p:spPr>
      </p:sp>
      <p:sp>
        <p:nvSpPr>
          <p:cNvPr id="4" name="Shape 2"/>
          <p:cNvSpPr/>
          <p:nvPr/>
        </p:nvSpPr>
        <p:spPr>
          <a:xfrm>
            <a:off x="0" y="5047488"/>
            <a:ext cx="1773936" cy="1773936"/>
          </a:xfrm>
          <a:prstGeom prst="ellipse">
            <a:avLst/>
          </a:prstGeom>
          <a:solidFill>
            <a:srgbClr val="2C1A61">
              <a:alpha val="36000"/>
            </a:srgbClr>
          </a:solidFill>
          <a:ln w="12700">
            <a:solidFill>
              <a:srgbClr val="2C1A61">
                <a:alpha val="0"/>
              </a:srgbClr>
            </a:solidFill>
            <a:prstDash val="solid"/>
          </a:ln>
        </p:spPr>
      </p:sp>
      <p:sp>
        <p:nvSpPr>
          <p:cNvPr id="5" name="Shape 3"/>
          <p:cNvSpPr/>
          <p:nvPr/>
        </p:nvSpPr>
        <p:spPr>
          <a:xfrm>
            <a:off x="6583680" y="5175504"/>
            <a:ext cx="1572768" cy="1572768"/>
          </a:xfrm>
          <a:prstGeom prst="ellipse">
            <a:avLst/>
          </a:prstGeom>
          <a:solidFill>
            <a:srgbClr val="3B2079">
              <a:alpha val="16000"/>
            </a:srgbClr>
          </a:solidFill>
          <a:ln w="12700">
            <a:solidFill>
              <a:srgbClr val="3B2079">
                <a:alpha val="0"/>
              </a:srgbClr>
            </a:solidFill>
            <a:prstDash val="solid"/>
          </a:ln>
        </p:spPr>
      </p:sp>
      <p:sp>
        <p:nvSpPr>
          <p:cNvPr id="6" name="Text 4"/>
          <p:cNvSpPr/>
          <p:nvPr/>
        </p:nvSpPr>
        <p:spPr>
          <a:xfrm>
            <a:off x="566928" y="329184"/>
            <a:ext cx="7315200" cy="237744"/>
          </a:xfrm>
          <a:prstGeom prst="rect">
            <a:avLst/>
          </a:prstGeom>
          <a:noFill/>
          <a:ln/>
        </p:spPr>
        <p:txBody>
          <a:bodyPr wrap="square" lIns="0" tIns="0" rIns="0" bIns="0" rtlCol="0" anchor="ctr">
            <a:normAutofit/>
          </a:bodyPr>
          <a:lstStyle/>
          <a:p>
            <a:pPr indent="0" marL="0">
              <a:buNone/>
            </a:pPr>
            <a:r>
              <a:rPr lang="en-US" sz="1050" b="1" spc="200" kern="0" dirty="0">
                <a:solidFill>
                  <a:srgbClr val="E04CF4"/>
                </a:solidFill>
                <a:latin typeface="Inter Display" pitchFamily="34" charset="0"/>
                <a:ea typeface="Inter Display" pitchFamily="34" charset="-122"/>
                <a:cs typeface="Inter Display" pitchFamily="34" charset="-120"/>
              </a:rPr>
              <a:t>10 / BUSINESS STRATEGY</a:t>
            </a:r>
            <a:endParaRPr lang="en-US" sz="1050" dirty="0"/>
          </a:p>
        </p:txBody>
      </p:sp>
      <p:sp>
        <p:nvSpPr>
          <p:cNvPr id="7" name="Text 5"/>
          <p:cNvSpPr/>
          <p:nvPr/>
        </p:nvSpPr>
        <p:spPr>
          <a:xfrm>
            <a:off x="566928" y="768096"/>
            <a:ext cx="11082528" cy="576072"/>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Inter Display" pitchFamily="34" charset="0"/>
                <a:ea typeface="Inter Display" pitchFamily="34" charset="-122"/>
                <a:cs typeface="Inter Display" pitchFamily="34" charset="-120"/>
              </a:rPr>
              <a:t>Start with playful adoption; earn through content.</a:t>
            </a:r>
            <a:endParaRPr lang="en-US" sz="3200" dirty="0"/>
          </a:p>
        </p:txBody>
      </p:sp>
      <p:sp>
        <p:nvSpPr>
          <p:cNvPr id="8" name="Text 6"/>
          <p:cNvSpPr/>
          <p:nvPr/>
        </p:nvSpPr>
        <p:spPr>
          <a:xfrm>
            <a:off x="594360" y="1389888"/>
            <a:ext cx="10899648" cy="438912"/>
          </a:xfrm>
          <a:prstGeom prst="rect">
            <a:avLst/>
          </a:prstGeom>
          <a:noFill/>
          <a:ln/>
        </p:spPr>
        <p:txBody>
          <a:bodyPr wrap="square" lIns="0" tIns="0" rIns="0" bIns="0" rtlCol="0" anchor="ctr">
            <a:normAutofit/>
          </a:bodyPr>
          <a:lstStyle/>
          <a:p>
            <a:pPr indent="0" marL="0">
              <a:buNone/>
            </a:pPr>
            <a:r>
              <a:rPr lang="en-US" sz="1540" dirty="0">
                <a:solidFill>
                  <a:srgbClr val="B6AACF"/>
                </a:solidFill>
                <a:latin typeface="Inter" pitchFamily="34" charset="0"/>
                <a:ea typeface="Inter" pitchFamily="34" charset="-122"/>
                <a:cs typeface="Inter" pitchFamily="34" charset="-120"/>
              </a:rPr>
              <a:t>Illustrative commercialization pathway — not implemented in the academic prototype.</a:t>
            </a:r>
            <a:endParaRPr lang="en-US" sz="1540" dirty="0"/>
          </a:p>
        </p:txBody>
      </p:sp>
      <p:sp>
        <p:nvSpPr>
          <p:cNvPr id="9" name="Shape 7"/>
          <p:cNvSpPr/>
          <p:nvPr/>
        </p:nvSpPr>
        <p:spPr>
          <a:xfrm>
            <a:off x="594360" y="1984248"/>
            <a:ext cx="4901184" cy="3611880"/>
          </a:xfrm>
          <a:prstGeom prst="roundRect">
            <a:avLst>
              <a:gd name="adj" fmla="val 4810"/>
            </a:avLst>
          </a:prstGeom>
          <a:solidFill>
            <a:srgbClr val="21183E"/>
          </a:solidFill>
          <a:ln w="10795">
            <a:solidFill>
              <a:srgbClr val="67417B"/>
            </a:solidFill>
            <a:prstDash val="solid"/>
          </a:ln>
        </p:spPr>
      </p:sp>
      <p:sp>
        <p:nvSpPr>
          <p:cNvPr id="10" name="Text 8"/>
          <p:cNvSpPr/>
          <p:nvPr/>
        </p:nvSpPr>
        <p:spPr>
          <a:xfrm>
            <a:off x="850392" y="2267712"/>
            <a:ext cx="4306824" cy="365760"/>
          </a:xfrm>
          <a:prstGeom prst="rect">
            <a:avLst/>
          </a:prstGeom>
          <a:noFill/>
          <a:ln/>
        </p:spPr>
        <p:txBody>
          <a:bodyPr wrap="square" lIns="0" tIns="0" rIns="0" bIns="0" rtlCol="0" anchor="ctr">
            <a:normAutofit/>
          </a:bodyPr>
          <a:lstStyle/>
          <a:p>
            <a:pPr indent="0" marL="0">
              <a:buNone/>
            </a:pPr>
            <a:r>
              <a:rPr lang="en-US" sz="1300" b="1" spc="90" kern="0" dirty="0">
                <a:solidFill>
                  <a:srgbClr val="E04CF4"/>
                </a:solidFill>
                <a:latin typeface="Inter Display" pitchFamily="34" charset="0"/>
                <a:ea typeface="Inter Display" pitchFamily="34" charset="-122"/>
                <a:cs typeface="Inter Display" pitchFamily="34" charset="-120"/>
              </a:rPr>
              <a:t>PROPOSED REVENUE MODEL</a:t>
            </a:r>
            <a:endParaRPr lang="en-US" sz="1300" dirty="0"/>
          </a:p>
        </p:txBody>
      </p:sp>
      <p:sp>
        <p:nvSpPr>
          <p:cNvPr id="11" name="Text 9"/>
          <p:cNvSpPr/>
          <p:nvPr/>
        </p:nvSpPr>
        <p:spPr>
          <a:xfrm>
            <a:off x="859536" y="2770632"/>
            <a:ext cx="1737360" cy="585216"/>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Inter Display" pitchFamily="34" charset="0"/>
                <a:ea typeface="Inter Display" pitchFamily="34" charset="-122"/>
                <a:cs typeface="Inter Display" pitchFamily="34" charset="-120"/>
              </a:rPr>
              <a:t>FREE</a:t>
            </a:r>
            <a:endParaRPr lang="en-US" sz="3100" dirty="0"/>
          </a:p>
        </p:txBody>
      </p:sp>
      <p:sp>
        <p:nvSpPr>
          <p:cNvPr id="12" name="Text 10"/>
          <p:cNvSpPr/>
          <p:nvPr/>
        </p:nvSpPr>
        <p:spPr>
          <a:xfrm>
            <a:off x="2286000" y="2852928"/>
            <a:ext cx="2587752" cy="320040"/>
          </a:xfrm>
          <a:prstGeom prst="rect">
            <a:avLst/>
          </a:prstGeom>
          <a:noFill/>
          <a:ln/>
        </p:spPr>
        <p:txBody>
          <a:bodyPr wrap="square" lIns="0" tIns="0" rIns="0" bIns="0" rtlCol="0" anchor="ctr">
            <a:normAutofit/>
          </a:bodyPr>
          <a:lstStyle/>
          <a:p>
            <a:pPr indent="0" marL="0">
              <a:buNone/>
            </a:pPr>
            <a:r>
              <a:rPr lang="en-US" sz="1400" dirty="0">
                <a:solidFill>
                  <a:srgbClr val="E9E0FF"/>
                </a:solidFill>
                <a:latin typeface="Inter" pitchFamily="34" charset="0"/>
                <a:ea typeface="Inter" pitchFamily="34" charset="-122"/>
                <a:cs typeface="Inter" pitchFamily="34" charset="-120"/>
              </a:rPr>
              <a:t>Starter sketch set</a:t>
            </a:r>
            <a:endParaRPr lang="en-US" sz="1400" dirty="0"/>
          </a:p>
        </p:txBody>
      </p:sp>
      <p:sp>
        <p:nvSpPr>
          <p:cNvPr id="13" name="Shape 11"/>
          <p:cNvSpPr/>
          <p:nvPr/>
        </p:nvSpPr>
        <p:spPr>
          <a:xfrm>
            <a:off x="877824" y="3483864"/>
            <a:ext cx="4352544" cy="0"/>
          </a:xfrm>
          <a:prstGeom prst="line">
            <a:avLst/>
          </a:prstGeom>
          <a:noFill/>
          <a:ln w="8890">
            <a:solidFill>
              <a:srgbClr val="685181"/>
            </a:solidFill>
            <a:prstDash val="solid"/>
          </a:ln>
        </p:spPr>
      </p:sp>
      <p:sp>
        <p:nvSpPr>
          <p:cNvPr id="14" name="Text 12"/>
          <p:cNvSpPr/>
          <p:nvPr/>
        </p:nvSpPr>
        <p:spPr>
          <a:xfrm>
            <a:off x="859536" y="3694176"/>
            <a:ext cx="2514600" cy="557784"/>
          </a:xfrm>
          <a:prstGeom prst="rect">
            <a:avLst/>
          </a:prstGeom>
          <a:noFill/>
          <a:ln/>
        </p:spPr>
        <p:txBody>
          <a:bodyPr wrap="square" lIns="0" tIns="0" rIns="0" bIns="0" rtlCol="0" anchor="ctr">
            <a:normAutofit/>
          </a:bodyPr>
          <a:lstStyle/>
          <a:p>
            <a:pPr indent="0" marL="0">
              <a:buNone/>
            </a:pPr>
            <a:r>
              <a:rPr lang="en-US" sz="2900" b="1" dirty="0">
                <a:solidFill>
                  <a:srgbClr val="FFCC55"/>
                </a:solidFill>
                <a:latin typeface="Inter Display" pitchFamily="34" charset="0"/>
                <a:ea typeface="Inter Display" pitchFamily="34" charset="-122"/>
                <a:cs typeface="Inter Display" pitchFamily="34" charset="-120"/>
              </a:rPr>
              <a:t>PREMIUM</a:t>
            </a:r>
            <a:endParaRPr lang="en-US" sz="2900" dirty="0"/>
          </a:p>
        </p:txBody>
      </p:sp>
      <p:sp>
        <p:nvSpPr>
          <p:cNvPr id="15" name="Text 13"/>
          <p:cNvSpPr/>
          <p:nvPr/>
        </p:nvSpPr>
        <p:spPr>
          <a:xfrm>
            <a:off x="877824" y="4389120"/>
            <a:ext cx="4224528" cy="530352"/>
          </a:xfrm>
          <a:prstGeom prst="rect">
            <a:avLst/>
          </a:prstGeom>
          <a:noFill/>
          <a:ln/>
        </p:spPr>
        <p:txBody>
          <a:bodyPr wrap="square" lIns="0" tIns="0" rIns="0" bIns="0" rtlCol="0" anchor="t">
            <a:normAutofit/>
          </a:bodyPr>
          <a:lstStyle/>
          <a:p>
            <a:pPr indent="0" marL="0">
              <a:buNone/>
            </a:pPr>
            <a:r>
              <a:rPr lang="en-US" sz="1410" dirty="0">
                <a:solidFill>
                  <a:srgbClr val="E9E0FF"/>
                </a:solidFill>
                <a:latin typeface="Inter" pitchFamily="34" charset="0"/>
                <a:ea typeface="Inter" pitchFamily="34" charset="-122"/>
                <a:cs typeface="Inter" pitchFamily="34" charset="-120"/>
              </a:rPr>
              <a:t>Themed content packs / party modes</a:t>
            </a:r>
            <a:endParaRPr lang="en-US" sz="1410" dirty="0"/>
          </a:p>
        </p:txBody>
      </p:sp>
      <p:sp>
        <p:nvSpPr>
          <p:cNvPr id="16" name="Shape 14"/>
          <p:cNvSpPr/>
          <p:nvPr/>
        </p:nvSpPr>
        <p:spPr>
          <a:xfrm>
            <a:off x="5696712" y="1984248"/>
            <a:ext cx="5897880" cy="3611880"/>
          </a:xfrm>
          <a:prstGeom prst="roundRect">
            <a:avLst>
              <a:gd name="adj" fmla="val 4810"/>
            </a:avLst>
          </a:prstGeom>
          <a:solidFill>
            <a:srgbClr val="21183E"/>
          </a:solidFill>
          <a:ln w="10795">
            <a:solidFill>
              <a:srgbClr val="67417B"/>
            </a:solidFill>
            <a:prstDash val="solid"/>
          </a:ln>
        </p:spPr>
      </p:sp>
      <p:sp>
        <p:nvSpPr>
          <p:cNvPr id="17" name="Text 15"/>
          <p:cNvSpPr/>
          <p:nvPr/>
        </p:nvSpPr>
        <p:spPr>
          <a:xfrm>
            <a:off x="5971032" y="2267712"/>
            <a:ext cx="5212080" cy="329184"/>
          </a:xfrm>
          <a:prstGeom prst="rect">
            <a:avLst/>
          </a:prstGeom>
          <a:noFill/>
          <a:ln/>
        </p:spPr>
        <p:txBody>
          <a:bodyPr wrap="square" lIns="0" tIns="0" rIns="0" bIns="0" rtlCol="0" anchor="ctr">
            <a:normAutofit/>
          </a:bodyPr>
          <a:lstStyle/>
          <a:p>
            <a:pPr indent="0" marL="0">
              <a:buNone/>
            </a:pPr>
            <a:r>
              <a:rPr lang="en-US" sz="1300" b="1" spc="90" kern="0" dirty="0">
                <a:solidFill>
                  <a:srgbClr val="42D4F4"/>
                </a:solidFill>
                <a:latin typeface="Inter Display" pitchFamily="34" charset="0"/>
                <a:ea typeface="Inter Display" pitchFamily="34" charset="-122"/>
                <a:cs typeface="Inter Display" pitchFamily="34" charset="-120"/>
              </a:rPr>
              <a:t>GO-TO-MARKET (PROPOSED)</a:t>
            </a:r>
            <a:endParaRPr lang="en-US" sz="1300" dirty="0"/>
          </a:p>
        </p:txBody>
      </p:sp>
      <p:sp>
        <p:nvSpPr>
          <p:cNvPr id="18" name="Shape 16"/>
          <p:cNvSpPr/>
          <p:nvPr/>
        </p:nvSpPr>
        <p:spPr>
          <a:xfrm>
            <a:off x="5989320" y="2834640"/>
            <a:ext cx="320040" cy="320040"/>
          </a:xfrm>
          <a:prstGeom prst="ellipse">
            <a:avLst/>
          </a:prstGeom>
          <a:solidFill>
            <a:srgbClr val="E04CF4">
              <a:alpha val="95000"/>
            </a:srgbClr>
          </a:solidFill>
          <a:ln w="12700">
            <a:solidFill>
              <a:srgbClr val="E04CF4">
                <a:alpha val="0"/>
              </a:srgbClr>
            </a:solidFill>
            <a:prstDash val="solid"/>
          </a:ln>
        </p:spPr>
      </p:sp>
      <p:sp>
        <p:nvSpPr>
          <p:cNvPr id="19" name="Text 17"/>
          <p:cNvSpPr/>
          <p:nvPr/>
        </p:nvSpPr>
        <p:spPr>
          <a:xfrm>
            <a:off x="5989320" y="2875788"/>
            <a:ext cx="320040" cy="182880"/>
          </a:xfrm>
          <a:prstGeom prst="rect">
            <a:avLst/>
          </a:prstGeom>
          <a:noFill/>
          <a:ln/>
        </p:spPr>
        <p:txBody>
          <a:bodyPr wrap="square" lIns="0" tIns="0" rIns="0" bIns="0" rtlCol="0" anchor="ctr">
            <a:normAutofit/>
          </a:bodyPr>
          <a:lstStyle/>
          <a:p>
            <a:pPr algn="ctr" indent="0" marL="0">
              <a:buNone/>
            </a:pPr>
            <a:r>
              <a:rPr lang="en-US" sz="1100" b="1" dirty="0">
                <a:solidFill>
                  <a:srgbClr val="0B0A18"/>
                </a:solidFill>
                <a:latin typeface="Inter Display" pitchFamily="34" charset="0"/>
                <a:ea typeface="Inter Display" pitchFamily="34" charset="-122"/>
                <a:cs typeface="Inter Display" pitchFamily="34" charset="-120"/>
              </a:rPr>
              <a:t>1</a:t>
            </a:r>
            <a:endParaRPr lang="en-US" sz="1100" dirty="0"/>
          </a:p>
        </p:txBody>
      </p:sp>
      <p:sp>
        <p:nvSpPr>
          <p:cNvPr id="20" name="Text 18"/>
          <p:cNvSpPr/>
          <p:nvPr/>
        </p:nvSpPr>
        <p:spPr>
          <a:xfrm>
            <a:off x="6492240" y="2820924"/>
            <a:ext cx="1929384" cy="228600"/>
          </a:xfrm>
          <a:prstGeom prst="rect">
            <a:avLst/>
          </a:prstGeom>
          <a:noFill/>
          <a:ln/>
        </p:spPr>
        <p:txBody>
          <a:bodyPr wrap="square" lIns="0" tIns="0" rIns="0" bIns="0" rtlCol="0" anchor="ctr">
            <a:normAutofit/>
          </a:bodyPr>
          <a:lstStyle/>
          <a:p>
            <a:pPr indent="0" marL="0">
              <a:buNone/>
            </a:pPr>
            <a:r>
              <a:rPr lang="en-US" sz="1250" b="1" dirty="0">
                <a:solidFill>
                  <a:srgbClr val="FFFFFF"/>
                </a:solidFill>
                <a:latin typeface="Inter Display" pitchFamily="34" charset="0"/>
                <a:ea typeface="Inter Display" pitchFamily="34" charset="-122"/>
                <a:cs typeface="Inter Display" pitchFamily="34" charset="-120"/>
              </a:rPr>
              <a:t>CAMPUS PILOT</a:t>
            </a:r>
            <a:endParaRPr lang="en-US" sz="1250" dirty="0"/>
          </a:p>
        </p:txBody>
      </p:sp>
      <p:sp>
        <p:nvSpPr>
          <p:cNvPr id="21" name="Text 19"/>
          <p:cNvSpPr/>
          <p:nvPr/>
        </p:nvSpPr>
        <p:spPr>
          <a:xfrm>
            <a:off x="8375904" y="2820924"/>
            <a:ext cx="2706624" cy="274320"/>
          </a:xfrm>
          <a:prstGeom prst="rect">
            <a:avLst/>
          </a:prstGeom>
          <a:noFill/>
          <a:ln/>
        </p:spPr>
        <p:txBody>
          <a:bodyPr wrap="square" lIns="0" tIns="0" rIns="0" bIns="0" rtlCol="0" anchor="ctr">
            <a:normAutofit/>
          </a:bodyPr>
          <a:lstStyle/>
          <a:p>
            <a:pPr indent="0" marL="0">
              <a:buNone/>
            </a:pPr>
            <a:r>
              <a:rPr lang="en-US" sz="1160" dirty="0">
                <a:solidFill>
                  <a:srgbClr val="B6AACF"/>
                </a:solidFill>
                <a:latin typeface="Inter" pitchFamily="34" charset="0"/>
                <a:ea typeface="Inter" pitchFamily="34" charset="-122"/>
                <a:cs typeface="Inter" pitchFamily="34" charset="-120"/>
              </a:rPr>
              <a:t>small playtesting groups</a:t>
            </a:r>
            <a:endParaRPr lang="en-US" sz="1160" dirty="0"/>
          </a:p>
        </p:txBody>
      </p:sp>
      <p:sp>
        <p:nvSpPr>
          <p:cNvPr id="22" name="Shape 20"/>
          <p:cNvSpPr/>
          <p:nvPr/>
        </p:nvSpPr>
        <p:spPr>
          <a:xfrm>
            <a:off x="5989320" y="3419856"/>
            <a:ext cx="320040" cy="320040"/>
          </a:xfrm>
          <a:prstGeom prst="ellipse">
            <a:avLst/>
          </a:prstGeom>
          <a:solidFill>
            <a:srgbClr val="E04CF4">
              <a:alpha val="95000"/>
            </a:srgbClr>
          </a:solidFill>
          <a:ln w="12700">
            <a:solidFill>
              <a:srgbClr val="E04CF4">
                <a:alpha val="0"/>
              </a:srgbClr>
            </a:solidFill>
            <a:prstDash val="solid"/>
          </a:ln>
        </p:spPr>
      </p:sp>
      <p:sp>
        <p:nvSpPr>
          <p:cNvPr id="23" name="Text 21"/>
          <p:cNvSpPr/>
          <p:nvPr/>
        </p:nvSpPr>
        <p:spPr>
          <a:xfrm>
            <a:off x="5989320" y="3461004"/>
            <a:ext cx="320040" cy="182880"/>
          </a:xfrm>
          <a:prstGeom prst="rect">
            <a:avLst/>
          </a:prstGeom>
          <a:noFill/>
          <a:ln/>
        </p:spPr>
        <p:txBody>
          <a:bodyPr wrap="square" lIns="0" tIns="0" rIns="0" bIns="0" rtlCol="0" anchor="ctr">
            <a:normAutofit/>
          </a:bodyPr>
          <a:lstStyle/>
          <a:p>
            <a:pPr algn="ctr" indent="0" marL="0">
              <a:buNone/>
            </a:pPr>
            <a:r>
              <a:rPr lang="en-US" sz="1100" b="1" dirty="0">
                <a:solidFill>
                  <a:srgbClr val="0B0A18"/>
                </a:solidFill>
                <a:latin typeface="Inter Display" pitchFamily="34" charset="0"/>
                <a:ea typeface="Inter Display" pitchFamily="34" charset="-122"/>
                <a:cs typeface="Inter Display" pitchFamily="34" charset="-120"/>
              </a:rPr>
              <a:t>2</a:t>
            </a:r>
            <a:endParaRPr lang="en-US" sz="1100" dirty="0"/>
          </a:p>
        </p:txBody>
      </p:sp>
      <p:sp>
        <p:nvSpPr>
          <p:cNvPr id="24" name="Text 22"/>
          <p:cNvSpPr/>
          <p:nvPr/>
        </p:nvSpPr>
        <p:spPr>
          <a:xfrm>
            <a:off x="6492240" y="3406140"/>
            <a:ext cx="1929384" cy="228600"/>
          </a:xfrm>
          <a:prstGeom prst="rect">
            <a:avLst/>
          </a:prstGeom>
          <a:noFill/>
          <a:ln/>
        </p:spPr>
        <p:txBody>
          <a:bodyPr wrap="square" lIns="0" tIns="0" rIns="0" bIns="0" rtlCol="0" anchor="ctr">
            <a:normAutofit/>
          </a:bodyPr>
          <a:lstStyle/>
          <a:p>
            <a:pPr indent="0" marL="0">
              <a:buNone/>
            </a:pPr>
            <a:r>
              <a:rPr lang="en-US" sz="1250" b="1" dirty="0">
                <a:solidFill>
                  <a:srgbClr val="FFFFFF"/>
                </a:solidFill>
                <a:latin typeface="Inter Display" pitchFamily="34" charset="0"/>
                <a:ea typeface="Inter Display" pitchFamily="34" charset="-122"/>
                <a:cs typeface="Inter Display" pitchFamily="34" charset="-120"/>
              </a:rPr>
              <a:t>ITERATE</a:t>
            </a:r>
            <a:endParaRPr lang="en-US" sz="1250" dirty="0"/>
          </a:p>
        </p:txBody>
      </p:sp>
      <p:sp>
        <p:nvSpPr>
          <p:cNvPr id="25" name="Text 23"/>
          <p:cNvSpPr/>
          <p:nvPr/>
        </p:nvSpPr>
        <p:spPr>
          <a:xfrm>
            <a:off x="8375904" y="3406140"/>
            <a:ext cx="2706624" cy="274320"/>
          </a:xfrm>
          <a:prstGeom prst="rect">
            <a:avLst/>
          </a:prstGeom>
          <a:noFill/>
          <a:ln/>
        </p:spPr>
        <p:txBody>
          <a:bodyPr wrap="square" lIns="0" tIns="0" rIns="0" bIns="0" rtlCol="0" anchor="ctr">
            <a:normAutofit/>
          </a:bodyPr>
          <a:lstStyle/>
          <a:p>
            <a:pPr indent="0" marL="0">
              <a:buNone/>
            </a:pPr>
            <a:r>
              <a:rPr lang="en-US" sz="1160" dirty="0">
                <a:solidFill>
                  <a:srgbClr val="B6AACF"/>
                </a:solidFill>
                <a:latin typeface="Inter" pitchFamily="34" charset="0"/>
                <a:ea typeface="Inter" pitchFamily="34" charset="-122"/>
                <a:cs typeface="Inter" pitchFamily="34" charset="-120"/>
              </a:rPr>
              <a:t>focus, pacing, readability</a:t>
            </a:r>
            <a:endParaRPr lang="en-US" sz="1160" dirty="0"/>
          </a:p>
        </p:txBody>
      </p:sp>
      <p:sp>
        <p:nvSpPr>
          <p:cNvPr id="26" name="Shape 24"/>
          <p:cNvSpPr/>
          <p:nvPr/>
        </p:nvSpPr>
        <p:spPr>
          <a:xfrm>
            <a:off x="5989320" y="4005072"/>
            <a:ext cx="320040" cy="320040"/>
          </a:xfrm>
          <a:prstGeom prst="ellipse">
            <a:avLst/>
          </a:prstGeom>
          <a:solidFill>
            <a:srgbClr val="42D4F4">
              <a:alpha val="95000"/>
            </a:srgbClr>
          </a:solidFill>
          <a:ln w="12700">
            <a:solidFill>
              <a:srgbClr val="42D4F4">
                <a:alpha val="0"/>
              </a:srgbClr>
            </a:solidFill>
            <a:prstDash val="solid"/>
          </a:ln>
        </p:spPr>
      </p:sp>
      <p:sp>
        <p:nvSpPr>
          <p:cNvPr id="27" name="Text 25"/>
          <p:cNvSpPr/>
          <p:nvPr/>
        </p:nvSpPr>
        <p:spPr>
          <a:xfrm>
            <a:off x="5989320" y="4046220"/>
            <a:ext cx="320040" cy="182880"/>
          </a:xfrm>
          <a:prstGeom prst="rect">
            <a:avLst/>
          </a:prstGeom>
          <a:noFill/>
          <a:ln/>
        </p:spPr>
        <p:txBody>
          <a:bodyPr wrap="square" lIns="0" tIns="0" rIns="0" bIns="0" rtlCol="0" anchor="ctr">
            <a:normAutofit/>
          </a:bodyPr>
          <a:lstStyle/>
          <a:p>
            <a:pPr algn="ctr" indent="0" marL="0">
              <a:buNone/>
            </a:pPr>
            <a:r>
              <a:rPr lang="en-US" sz="1100" b="1" dirty="0">
                <a:solidFill>
                  <a:srgbClr val="0B0A18"/>
                </a:solidFill>
                <a:latin typeface="Inter Display" pitchFamily="34" charset="0"/>
                <a:ea typeface="Inter Display" pitchFamily="34" charset="-122"/>
                <a:cs typeface="Inter Display" pitchFamily="34" charset="-120"/>
              </a:rPr>
              <a:t>3</a:t>
            </a:r>
            <a:endParaRPr lang="en-US" sz="1100" dirty="0"/>
          </a:p>
        </p:txBody>
      </p:sp>
      <p:sp>
        <p:nvSpPr>
          <p:cNvPr id="28" name="Text 26"/>
          <p:cNvSpPr/>
          <p:nvPr/>
        </p:nvSpPr>
        <p:spPr>
          <a:xfrm>
            <a:off x="6492240" y="3991356"/>
            <a:ext cx="1929384" cy="228600"/>
          </a:xfrm>
          <a:prstGeom prst="rect">
            <a:avLst/>
          </a:prstGeom>
          <a:noFill/>
          <a:ln/>
        </p:spPr>
        <p:txBody>
          <a:bodyPr wrap="square" lIns="0" tIns="0" rIns="0" bIns="0" rtlCol="0" anchor="ctr">
            <a:normAutofit/>
          </a:bodyPr>
          <a:lstStyle/>
          <a:p>
            <a:pPr indent="0" marL="0">
              <a:buNone/>
            </a:pPr>
            <a:r>
              <a:rPr lang="en-US" sz="1250" b="1" dirty="0">
                <a:solidFill>
                  <a:srgbClr val="FFFFFF"/>
                </a:solidFill>
                <a:latin typeface="Inter Display" pitchFamily="34" charset="0"/>
                <a:ea typeface="Inter Display" pitchFamily="34" charset="-122"/>
                <a:cs typeface="Inter Display" pitchFamily="34" charset="-120"/>
              </a:rPr>
              <a:t>CONTENT</a:t>
            </a:r>
            <a:endParaRPr lang="en-US" sz="1250" dirty="0"/>
          </a:p>
        </p:txBody>
      </p:sp>
      <p:sp>
        <p:nvSpPr>
          <p:cNvPr id="29" name="Text 27"/>
          <p:cNvSpPr/>
          <p:nvPr/>
        </p:nvSpPr>
        <p:spPr>
          <a:xfrm>
            <a:off x="8375904" y="3991356"/>
            <a:ext cx="2706624" cy="274320"/>
          </a:xfrm>
          <a:prstGeom prst="rect">
            <a:avLst/>
          </a:prstGeom>
          <a:noFill/>
          <a:ln/>
        </p:spPr>
        <p:txBody>
          <a:bodyPr wrap="square" lIns="0" tIns="0" rIns="0" bIns="0" rtlCol="0" anchor="ctr">
            <a:normAutofit/>
          </a:bodyPr>
          <a:lstStyle/>
          <a:p>
            <a:pPr indent="0" marL="0">
              <a:buNone/>
            </a:pPr>
            <a:r>
              <a:rPr lang="en-US" sz="1160" dirty="0">
                <a:solidFill>
                  <a:srgbClr val="B6AACF"/>
                </a:solidFill>
                <a:latin typeface="Inter" pitchFamily="34" charset="0"/>
                <a:ea typeface="Inter" pitchFamily="34" charset="-122"/>
                <a:cs typeface="Inter" pitchFamily="34" charset="-120"/>
              </a:rPr>
              <a:t>new sketch themes + polish</a:t>
            </a:r>
            <a:endParaRPr lang="en-US" sz="1160" dirty="0"/>
          </a:p>
        </p:txBody>
      </p:sp>
      <p:sp>
        <p:nvSpPr>
          <p:cNvPr id="30" name="Shape 28"/>
          <p:cNvSpPr/>
          <p:nvPr/>
        </p:nvSpPr>
        <p:spPr>
          <a:xfrm>
            <a:off x="5989320" y="4590288"/>
            <a:ext cx="320040" cy="320040"/>
          </a:xfrm>
          <a:prstGeom prst="ellipse">
            <a:avLst/>
          </a:prstGeom>
          <a:solidFill>
            <a:srgbClr val="42D4F4">
              <a:alpha val="95000"/>
            </a:srgbClr>
          </a:solidFill>
          <a:ln w="12700">
            <a:solidFill>
              <a:srgbClr val="42D4F4">
                <a:alpha val="0"/>
              </a:srgbClr>
            </a:solidFill>
            <a:prstDash val="solid"/>
          </a:ln>
        </p:spPr>
      </p:sp>
      <p:sp>
        <p:nvSpPr>
          <p:cNvPr id="31" name="Text 29"/>
          <p:cNvSpPr/>
          <p:nvPr/>
        </p:nvSpPr>
        <p:spPr>
          <a:xfrm>
            <a:off x="5989320" y="4631436"/>
            <a:ext cx="320040" cy="182880"/>
          </a:xfrm>
          <a:prstGeom prst="rect">
            <a:avLst/>
          </a:prstGeom>
          <a:noFill/>
          <a:ln/>
        </p:spPr>
        <p:txBody>
          <a:bodyPr wrap="square" lIns="0" tIns="0" rIns="0" bIns="0" rtlCol="0" anchor="ctr">
            <a:normAutofit/>
          </a:bodyPr>
          <a:lstStyle/>
          <a:p>
            <a:pPr algn="ctr" indent="0" marL="0">
              <a:buNone/>
            </a:pPr>
            <a:r>
              <a:rPr lang="en-US" sz="1100" b="1" dirty="0">
                <a:solidFill>
                  <a:srgbClr val="0B0A18"/>
                </a:solidFill>
                <a:latin typeface="Inter Display" pitchFamily="34" charset="0"/>
                <a:ea typeface="Inter Display" pitchFamily="34" charset="-122"/>
                <a:cs typeface="Inter Display" pitchFamily="34" charset="-120"/>
              </a:rPr>
              <a:t>4</a:t>
            </a:r>
            <a:endParaRPr lang="en-US" sz="1100" dirty="0"/>
          </a:p>
        </p:txBody>
      </p:sp>
      <p:sp>
        <p:nvSpPr>
          <p:cNvPr id="32" name="Text 30"/>
          <p:cNvSpPr/>
          <p:nvPr/>
        </p:nvSpPr>
        <p:spPr>
          <a:xfrm>
            <a:off x="6492240" y="4576572"/>
            <a:ext cx="1929384" cy="228600"/>
          </a:xfrm>
          <a:prstGeom prst="rect">
            <a:avLst/>
          </a:prstGeom>
          <a:noFill/>
          <a:ln/>
        </p:spPr>
        <p:txBody>
          <a:bodyPr wrap="square" lIns="0" tIns="0" rIns="0" bIns="0" rtlCol="0" anchor="ctr">
            <a:normAutofit/>
          </a:bodyPr>
          <a:lstStyle/>
          <a:p>
            <a:pPr indent="0" marL="0">
              <a:buNone/>
            </a:pPr>
            <a:r>
              <a:rPr lang="en-US" sz="1250" b="1" dirty="0">
                <a:solidFill>
                  <a:srgbClr val="FFFFFF"/>
                </a:solidFill>
                <a:latin typeface="Inter Display" pitchFamily="34" charset="0"/>
                <a:ea typeface="Inter Display" pitchFamily="34" charset="-122"/>
                <a:cs typeface="Inter Display" pitchFamily="34" charset="-120"/>
              </a:rPr>
              <a:t>LAUNCH</a:t>
            </a:r>
            <a:endParaRPr lang="en-US" sz="1250" dirty="0"/>
          </a:p>
        </p:txBody>
      </p:sp>
      <p:sp>
        <p:nvSpPr>
          <p:cNvPr id="33" name="Text 31"/>
          <p:cNvSpPr/>
          <p:nvPr/>
        </p:nvSpPr>
        <p:spPr>
          <a:xfrm>
            <a:off x="8375904" y="4576572"/>
            <a:ext cx="2706624" cy="274320"/>
          </a:xfrm>
          <a:prstGeom prst="rect">
            <a:avLst/>
          </a:prstGeom>
          <a:noFill/>
          <a:ln/>
        </p:spPr>
        <p:txBody>
          <a:bodyPr wrap="square" lIns="0" tIns="0" rIns="0" bIns="0" rtlCol="0" anchor="ctr">
            <a:normAutofit/>
          </a:bodyPr>
          <a:lstStyle/>
          <a:p>
            <a:pPr indent="0" marL="0">
              <a:buNone/>
            </a:pPr>
            <a:r>
              <a:rPr lang="en-US" sz="1160" dirty="0">
                <a:solidFill>
                  <a:srgbClr val="B6AACF"/>
                </a:solidFill>
                <a:latin typeface="Inter" pitchFamily="34" charset="0"/>
                <a:ea typeface="Inter" pitchFamily="34" charset="-122"/>
                <a:cs typeface="Inter" pitchFamily="34" charset="-120"/>
              </a:rPr>
              <a:t>Apple TV distribution assessment</a:t>
            </a:r>
            <a:endParaRPr lang="en-US" sz="1160" dirty="0"/>
          </a:p>
        </p:txBody>
      </p:sp>
      <p:sp>
        <p:nvSpPr>
          <p:cNvPr id="34" name="Text 32"/>
          <p:cNvSpPr/>
          <p:nvPr/>
        </p:nvSpPr>
        <p:spPr>
          <a:xfrm>
            <a:off x="585216" y="6281928"/>
            <a:ext cx="10835640" cy="164592"/>
          </a:xfrm>
          <a:prstGeom prst="rect">
            <a:avLst/>
          </a:prstGeom>
          <a:noFill/>
          <a:ln/>
        </p:spPr>
        <p:txBody>
          <a:bodyPr wrap="square" lIns="0" tIns="0" rIns="0" bIns="0" rtlCol="0" anchor="ctr">
            <a:normAutofit/>
          </a:bodyPr>
          <a:lstStyle/>
          <a:p>
            <a:pPr indent="0" marL="0">
              <a:buNone/>
            </a:pPr>
            <a:r>
              <a:rPr lang="en-US" sz="920" i="1" dirty="0">
                <a:solidFill>
                  <a:srgbClr val="B6AACF"/>
                </a:solidFill>
                <a:latin typeface="Inter" pitchFamily="34" charset="0"/>
                <a:ea typeface="Inter" pitchFamily="34" charset="-122"/>
                <a:cs typeface="Inter" pitchFamily="34" charset="-120"/>
              </a:rPr>
              <a:t>Commercial pricing, customer demand and distribution requirements would need separate validation.</a:t>
            </a:r>
            <a:endParaRPr lang="en-US" sz="920" dirty="0"/>
          </a:p>
        </p:txBody>
      </p:sp>
      <p:sp>
        <p:nvSpPr>
          <p:cNvPr id="35" name="Shape 33"/>
          <p:cNvSpPr/>
          <p:nvPr/>
        </p:nvSpPr>
        <p:spPr>
          <a:xfrm>
            <a:off x="566928" y="6556248"/>
            <a:ext cx="11045952" cy="0"/>
          </a:xfrm>
          <a:prstGeom prst="line">
            <a:avLst/>
          </a:prstGeom>
          <a:noFill/>
          <a:ln w="8890">
            <a:solidFill>
              <a:srgbClr val="44365D">
                <a:alpha val="80000"/>
              </a:srgbClr>
            </a:solidFill>
            <a:prstDash val="solid"/>
          </a:ln>
        </p:spPr>
      </p:sp>
      <p:sp>
        <p:nvSpPr>
          <p:cNvPr id="36" name="Text 34"/>
          <p:cNvSpPr/>
          <p:nvPr/>
        </p:nvSpPr>
        <p:spPr>
          <a:xfrm>
            <a:off x="585216" y="6601968"/>
            <a:ext cx="7772400" cy="155448"/>
          </a:xfrm>
          <a:prstGeom prst="rect">
            <a:avLst/>
          </a:prstGeom>
          <a:noFill/>
          <a:ln/>
        </p:spPr>
        <p:txBody>
          <a:bodyPr wrap="square" lIns="0" tIns="0" rIns="0" bIns="0" rtlCol="0" anchor="ctr">
            <a:normAutofit/>
          </a:bodyPr>
          <a:lstStyle/>
          <a:p>
            <a:pPr indent="0" marL="0">
              <a:buNone/>
            </a:pPr>
            <a:r>
              <a:rPr lang="en-US" sz="900" b="1" spc="50" kern="0" dirty="0">
                <a:solidFill>
                  <a:srgbClr val="B6AACF"/>
                </a:solidFill>
                <a:latin typeface="Inter Display" pitchFamily="34" charset="0"/>
                <a:ea typeface="Inter Display" pitchFamily="34" charset="-122"/>
                <a:cs typeface="Inter Display" pitchFamily="34" charset="-120"/>
              </a:rPr>
              <a:t>SKETCHQUEST PARTY  /  SE4041 — PART B</a:t>
            </a:r>
            <a:endParaRPr lang="en-US" sz="900" dirty="0"/>
          </a:p>
        </p:txBody>
      </p:sp>
      <p:sp>
        <p:nvSpPr>
          <p:cNvPr id="37" name="Text 35"/>
          <p:cNvSpPr/>
          <p:nvPr/>
        </p:nvSpPr>
        <p:spPr>
          <a:xfrm>
            <a:off x="11155680" y="6583680"/>
            <a:ext cx="457200" cy="201168"/>
          </a:xfrm>
          <a:prstGeom prst="rect">
            <a:avLst/>
          </a:prstGeom>
          <a:noFill/>
          <a:ln/>
        </p:spPr>
        <p:txBody>
          <a:bodyPr wrap="square" lIns="0" tIns="0" rIns="0" bIns="0" rtlCol="0" anchor="ctr">
            <a:normAutofit/>
          </a:bodyPr>
          <a:lstStyle/>
          <a:p>
            <a:pPr algn="r" indent="0" marL="0">
              <a:buNone/>
            </a:pPr>
            <a:r>
              <a:rPr lang="en-US" sz="950" b="1" dirty="0">
                <a:solidFill>
                  <a:srgbClr val="B6AACF"/>
                </a:solidFill>
                <a:latin typeface="Inter Display" pitchFamily="34" charset="0"/>
                <a:ea typeface="Inter Display" pitchFamily="34" charset="-122"/>
                <a:cs typeface="Inter Display"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Shape 1"/>
          <p:cNvSpPr/>
          <p:nvPr/>
        </p:nvSpPr>
        <p:spPr>
          <a:xfrm>
            <a:off x="9290304" y="0"/>
            <a:ext cx="2880360" cy="2880360"/>
          </a:xfrm>
          <a:prstGeom prst="ellipse">
            <a:avLst/>
          </a:prstGeom>
          <a:solidFill>
            <a:srgbClr val="402273">
              <a:alpha val="35000"/>
            </a:srgbClr>
          </a:solidFill>
          <a:ln w="12700">
            <a:solidFill>
              <a:srgbClr val="402273">
                <a:alpha val="0"/>
              </a:srgbClr>
            </a:solidFill>
            <a:prstDash val="solid"/>
          </a:ln>
        </p:spPr>
      </p:sp>
      <p:sp>
        <p:nvSpPr>
          <p:cNvPr id="4" name="Shape 2"/>
          <p:cNvSpPr/>
          <p:nvPr/>
        </p:nvSpPr>
        <p:spPr>
          <a:xfrm>
            <a:off x="0" y="5047488"/>
            <a:ext cx="1773936" cy="1773936"/>
          </a:xfrm>
          <a:prstGeom prst="ellipse">
            <a:avLst/>
          </a:prstGeom>
          <a:solidFill>
            <a:srgbClr val="2C1A61">
              <a:alpha val="36000"/>
            </a:srgbClr>
          </a:solidFill>
          <a:ln w="12700">
            <a:solidFill>
              <a:srgbClr val="2C1A61">
                <a:alpha val="0"/>
              </a:srgbClr>
            </a:solidFill>
            <a:prstDash val="solid"/>
          </a:ln>
        </p:spPr>
      </p:sp>
      <p:sp>
        <p:nvSpPr>
          <p:cNvPr id="5" name="Shape 3"/>
          <p:cNvSpPr/>
          <p:nvPr/>
        </p:nvSpPr>
        <p:spPr>
          <a:xfrm>
            <a:off x="6583680" y="5175504"/>
            <a:ext cx="1572768" cy="1572768"/>
          </a:xfrm>
          <a:prstGeom prst="ellipse">
            <a:avLst/>
          </a:prstGeom>
          <a:solidFill>
            <a:srgbClr val="3B2079">
              <a:alpha val="16000"/>
            </a:srgbClr>
          </a:solidFill>
          <a:ln w="12700">
            <a:solidFill>
              <a:srgbClr val="3B2079">
                <a:alpha val="0"/>
              </a:srgbClr>
            </a:solidFill>
            <a:prstDash val="solid"/>
          </a:ln>
        </p:spPr>
      </p:sp>
      <p:sp>
        <p:nvSpPr>
          <p:cNvPr id="6" name="Text 4"/>
          <p:cNvSpPr/>
          <p:nvPr/>
        </p:nvSpPr>
        <p:spPr>
          <a:xfrm>
            <a:off x="566928" y="329184"/>
            <a:ext cx="7315200" cy="237744"/>
          </a:xfrm>
          <a:prstGeom prst="rect">
            <a:avLst/>
          </a:prstGeom>
          <a:noFill/>
          <a:ln/>
        </p:spPr>
        <p:txBody>
          <a:bodyPr wrap="square" lIns="0" tIns="0" rIns="0" bIns="0" rtlCol="0" anchor="ctr">
            <a:normAutofit/>
          </a:bodyPr>
          <a:lstStyle/>
          <a:p>
            <a:pPr indent="0" marL="0">
              <a:buNone/>
            </a:pPr>
            <a:r>
              <a:rPr lang="en-US" sz="1050" b="1" spc="200" kern="0" dirty="0">
                <a:solidFill>
                  <a:srgbClr val="E04CF4"/>
                </a:solidFill>
                <a:latin typeface="Inter Display" pitchFamily="34" charset="0"/>
                <a:ea typeface="Inter Display" pitchFamily="34" charset="-122"/>
                <a:cs typeface="Inter Display" pitchFamily="34" charset="-120"/>
              </a:rPr>
              <a:t>11 / PROTOTYPE VALIDATION</a:t>
            </a:r>
            <a:endParaRPr lang="en-US" sz="1050" dirty="0"/>
          </a:p>
        </p:txBody>
      </p:sp>
      <p:sp>
        <p:nvSpPr>
          <p:cNvPr id="7" name="Text 5"/>
          <p:cNvSpPr/>
          <p:nvPr/>
        </p:nvSpPr>
        <p:spPr>
          <a:xfrm>
            <a:off x="566928" y="768096"/>
            <a:ext cx="11082528" cy="576072"/>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Inter Display" pitchFamily="34" charset="0"/>
                <a:ea typeface="Inter Display" pitchFamily="34" charset="-122"/>
                <a:cs typeface="Inter Display" pitchFamily="34" charset="-120"/>
              </a:rPr>
              <a:t>Working, tested gameplay — with clear limits.</a:t>
            </a:r>
            <a:endParaRPr lang="en-US" sz="3200" dirty="0"/>
          </a:p>
        </p:txBody>
      </p:sp>
      <p:sp>
        <p:nvSpPr>
          <p:cNvPr id="8" name="Text 6"/>
          <p:cNvSpPr/>
          <p:nvPr/>
        </p:nvSpPr>
        <p:spPr>
          <a:xfrm>
            <a:off x="594360" y="1389888"/>
            <a:ext cx="10899648" cy="438912"/>
          </a:xfrm>
          <a:prstGeom prst="rect">
            <a:avLst/>
          </a:prstGeom>
          <a:noFill/>
          <a:ln/>
        </p:spPr>
        <p:txBody>
          <a:bodyPr wrap="square" lIns="0" tIns="0" rIns="0" bIns="0" rtlCol="0" anchor="ctr">
            <a:normAutofit/>
          </a:bodyPr>
          <a:lstStyle/>
          <a:p>
            <a:pPr indent="0" marL="0">
              <a:buNone/>
            </a:pPr>
            <a:r>
              <a:rPr lang="en-US" sz="1540" dirty="0">
                <a:solidFill>
                  <a:srgbClr val="B6AACF"/>
                </a:solidFill>
                <a:latin typeface="Inter" pitchFamily="34" charset="0"/>
                <a:ea typeface="Inter" pitchFamily="34" charset="-122"/>
                <a:cs typeface="Inter" pitchFamily="34" charset="-120"/>
              </a:rPr>
              <a:t>Manual functional checks were performed in Apple TV 4K (3rd generation) Simulator, tvOS 26.1.</a:t>
            </a:r>
            <a:endParaRPr lang="en-US" sz="1540" dirty="0"/>
          </a:p>
        </p:txBody>
      </p:sp>
      <p:sp>
        <p:nvSpPr>
          <p:cNvPr id="9" name="Shape 7"/>
          <p:cNvSpPr/>
          <p:nvPr/>
        </p:nvSpPr>
        <p:spPr>
          <a:xfrm>
            <a:off x="612648" y="2020824"/>
            <a:ext cx="5806440" cy="3538728"/>
          </a:xfrm>
          <a:prstGeom prst="roundRect">
            <a:avLst>
              <a:gd name="adj" fmla="val 5168"/>
            </a:avLst>
          </a:prstGeom>
          <a:solidFill>
            <a:srgbClr val="21183E"/>
          </a:solidFill>
          <a:ln w="10160">
            <a:solidFill>
              <a:srgbClr val="51406B"/>
            </a:solidFill>
            <a:prstDash val="solid"/>
          </a:ln>
        </p:spPr>
      </p:sp>
      <p:pic>
        <p:nvPicPr>
          <p:cNvPr id="10" name="Image 0" descr="/mnt/data/sq_pitch_assets/gameplay.png">    </p:cNvPr>
          <p:cNvPicPr>
            <a:picLocks noChangeAspect="1"/>
          </p:cNvPicPr>
          <p:nvPr/>
        </p:nvPicPr>
        <p:blipFill>
          <a:blip r:embed="rId1"/>
          <a:stretch>
            <a:fillRect/>
          </a:stretch>
        </p:blipFill>
        <p:spPr>
          <a:xfrm>
            <a:off x="713232" y="2121408"/>
            <a:ext cx="5605272" cy="3154680"/>
          </a:xfrm>
          <a:prstGeom prst="rect">
            <a:avLst/>
          </a:prstGeom>
        </p:spPr>
      </p:pic>
      <p:sp>
        <p:nvSpPr>
          <p:cNvPr id="11" name="Shape 8"/>
          <p:cNvSpPr/>
          <p:nvPr/>
        </p:nvSpPr>
        <p:spPr>
          <a:xfrm>
            <a:off x="6684264" y="2066544"/>
            <a:ext cx="4828032" cy="557784"/>
          </a:xfrm>
          <a:prstGeom prst="roundRect">
            <a:avLst>
              <a:gd name="adj" fmla="val 16393"/>
            </a:avLst>
          </a:prstGeom>
          <a:solidFill>
            <a:srgbClr val="2A204B"/>
          </a:solidFill>
          <a:ln w="8255">
            <a:solidFill>
              <a:srgbClr val="4B3768"/>
            </a:solidFill>
            <a:prstDash val="solid"/>
          </a:ln>
        </p:spPr>
      </p:sp>
      <p:sp>
        <p:nvSpPr>
          <p:cNvPr id="12" name="Text 9"/>
          <p:cNvSpPr/>
          <p:nvPr/>
        </p:nvSpPr>
        <p:spPr>
          <a:xfrm>
            <a:off x="6867144" y="2130552"/>
            <a:ext cx="914400" cy="384048"/>
          </a:xfrm>
          <a:prstGeom prst="rect">
            <a:avLst/>
          </a:prstGeom>
          <a:noFill/>
          <a:ln/>
        </p:spPr>
        <p:txBody>
          <a:bodyPr wrap="square" lIns="0" tIns="0" rIns="0" bIns="0" rtlCol="0" anchor="ctr">
            <a:normAutofit/>
          </a:bodyPr>
          <a:lstStyle/>
          <a:p>
            <a:pPr indent="0" marL="0">
              <a:buNone/>
            </a:pPr>
            <a:r>
              <a:rPr lang="en-US" sz="1700" b="1" dirty="0">
                <a:solidFill>
                  <a:srgbClr val="31DDA1"/>
                </a:solidFill>
                <a:latin typeface="Inter Display" pitchFamily="34" charset="0"/>
                <a:ea typeface="Inter Display" pitchFamily="34" charset="-122"/>
                <a:cs typeface="Inter Display" pitchFamily="34" charset="-120"/>
              </a:rPr>
              <a:t>2 / 3 / 4</a:t>
            </a:r>
            <a:endParaRPr lang="en-US" sz="1700" dirty="0"/>
          </a:p>
        </p:txBody>
      </p:sp>
      <p:sp>
        <p:nvSpPr>
          <p:cNvPr id="13" name="Text 10"/>
          <p:cNvSpPr/>
          <p:nvPr/>
        </p:nvSpPr>
        <p:spPr>
          <a:xfrm>
            <a:off x="7918704" y="2135124"/>
            <a:ext cx="3364992" cy="384048"/>
          </a:xfrm>
          <a:prstGeom prst="rect">
            <a:avLst/>
          </a:prstGeom>
          <a:noFill/>
          <a:ln/>
        </p:spPr>
        <p:txBody>
          <a:bodyPr wrap="square" lIns="0" tIns="0" rIns="0" bIns="0" rtlCol="0" anchor="ctr">
            <a:normAutofit/>
          </a:bodyPr>
          <a:lstStyle/>
          <a:p>
            <a:pPr indent="0" marL="0">
              <a:buNone/>
            </a:pPr>
            <a:r>
              <a:rPr lang="en-US" sz="1220" dirty="0">
                <a:solidFill>
                  <a:srgbClr val="FFFFFF"/>
                </a:solidFill>
                <a:latin typeface="Inter" pitchFamily="34" charset="0"/>
                <a:ea typeface="Inter" pitchFamily="34" charset="-122"/>
                <a:cs typeface="Inter" pitchFamily="34" charset="-120"/>
              </a:rPr>
              <a:t>players complete three rounds</a:t>
            </a:r>
            <a:endParaRPr lang="en-US" sz="1220" dirty="0"/>
          </a:p>
        </p:txBody>
      </p:sp>
      <p:sp>
        <p:nvSpPr>
          <p:cNvPr id="14" name="Shape 11"/>
          <p:cNvSpPr/>
          <p:nvPr/>
        </p:nvSpPr>
        <p:spPr>
          <a:xfrm>
            <a:off x="6684264" y="2752344"/>
            <a:ext cx="4828032" cy="557784"/>
          </a:xfrm>
          <a:prstGeom prst="roundRect">
            <a:avLst>
              <a:gd name="adj" fmla="val 16393"/>
            </a:avLst>
          </a:prstGeom>
          <a:solidFill>
            <a:srgbClr val="2A204B"/>
          </a:solidFill>
          <a:ln w="8255">
            <a:solidFill>
              <a:srgbClr val="4B3768"/>
            </a:solidFill>
            <a:prstDash val="solid"/>
          </a:ln>
        </p:spPr>
      </p:sp>
      <p:sp>
        <p:nvSpPr>
          <p:cNvPr id="15" name="Text 12"/>
          <p:cNvSpPr/>
          <p:nvPr/>
        </p:nvSpPr>
        <p:spPr>
          <a:xfrm>
            <a:off x="6867144" y="2816352"/>
            <a:ext cx="914400" cy="384048"/>
          </a:xfrm>
          <a:prstGeom prst="rect">
            <a:avLst/>
          </a:prstGeom>
          <a:noFill/>
          <a:ln/>
        </p:spPr>
        <p:txBody>
          <a:bodyPr wrap="square" lIns="0" tIns="0" rIns="0" bIns="0" rtlCol="0" anchor="ctr">
            <a:normAutofit/>
          </a:bodyPr>
          <a:lstStyle/>
          <a:p>
            <a:pPr indent="0" marL="0">
              <a:buNone/>
            </a:pPr>
            <a:r>
              <a:rPr lang="en-US" sz="1700" b="1" dirty="0">
                <a:solidFill>
                  <a:srgbClr val="31DDA1"/>
                </a:solidFill>
                <a:latin typeface="Inter Display" pitchFamily="34" charset="0"/>
                <a:ea typeface="Inter Display" pitchFamily="34" charset="-122"/>
                <a:cs typeface="Inter Display" pitchFamily="34" charset="-120"/>
              </a:rPr>
              <a:t>30s</a:t>
            </a:r>
            <a:endParaRPr lang="en-US" sz="1700" dirty="0"/>
          </a:p>
        </p:txBody>
      </p:sp>
      <p:sp>
        <p:nvSpPr>
          <p:cNvPr id="16" name="Text 13"/>
          <p:cNvSpPr/>
          <p:nvPr/>
        </p:nvSpPr>
        <p:spPr>
          <a:xfrm>
            <a:off x="7918704" y="2820924"/>
            <a:ext cx="3364992" cy="384048"/>
          </a:xfrm>
          <a:prstGeom prst="rect">
            <a:avLst/>
          </a:prstGeom>
          <a:noFill/>
          <a:ln/>
        </p:spPr>
        <p:txBody>
          <a:bodyPr wrap="square" lIns="0" tIns="0" rIns="0" bIns="0" rtlCol="0" anchor="ctr">
            <a:normAutofit/>
          </a:bodyPr>
          <a:lstStyle/>
          <a:p>
            <a:pPr indent="0" marL="0">
              <a:buNone/>
            </a:pPr>
            <a:r>
              <a:rPr lang="en-US" sz="1220" dirty="0">
                <a:solidFill>
                  <a:srgbClr val="FFFFFF"/>
                </a:solidFill>
                <a:latin typeface="Inter" pitchFamily="34" charset="0"/>
                <a:ea typeface="Inter" pitchFamily="34" charset="-122"/>
                <a:cs typeface="Inter" pitchFamily="34" charset="-120"/>
              </a:rPr>
              <a:t>countdown and timeout</a:t>
            </a:r>
            <a:endParaRPr lang="en-US" sz="1220" dirty="0"/>
          </a:p>
        </p:txBody>
      </p:sp>
      <p:sp>
        <p:nvSpPr>
          <p:cNvPr id="17" name="Shape 14"/>
          <p:cNvSpPr/>
          <p:nvPr/>
        </p:nvSpPr>
        <p:spPr>
          <a:xfrm>
            <a:off x="6684264" y="3438144"/>
            <a:ext cx="4828032" cy="557784"/>
          </a:xfrm>
          <a:prstGeom prst="roundRect">
            <a:avLst>
              <a:gd name="adj" fmla="val 16393"/>
            </a:avLst>
          </a:prstGeom>
          <a:solidFill>
            <a:srgbClr val="2A204B"/>
          </a:solidFill>
          <a:ln w="8255">
            <a:solidFill>
              <a:srgbClr val="4B3768"/>
            </a:solidFill>
            <a:prstDash val="solid"/>
          </a:ln>
        </p:spPr>
      </p:sp>
      <p:sp>
        <p:nvSpPr>
          <p:cNvPr id="18" name="Text 15"/>
          <p:cNvSpPr/>
          <p:nvPr/>
        </p:nvSpPr>
        <p:spPr>
          <a:xfrm>
            <a:off x="6867144" y="3502152"/>
            <a:ext cx="914400" cy="384048"/>
          </a:xfrm>
          <a:prstGeom prst="rect">
            <a:avLst/>
          </a:prstGeom>
          <a:noFill/>
          <a:ln/>
        </p:spPr>
        <p:txBody>
          <a:bodyPr wrap="square" lIns="0" tIns="0" rIns="0" bIns="0" rtlCol="0" anchor="ctr">
            <a:normAutofit/>
          </a:bodyPr>
          <a:lstStyle/>
          <a:p>
            <a:pPr indent="0" marL="0">
              <a:buNone/>
            </a:pPr>
            <a:r>
              <a:rPr lang="en-US" sz="1700" b="1" dirty="0">
                <a:solidFill>
                  <a:srgbClr val="31DDA1"/>
                </a:solidFill>
                <a:latin typeface="Inter Display" pitchFamily="34" charset="0"/>
                <a:ea typeface="Inter Display" pitchFamily="34" charset="-122"/>
                <a:cs typeface="Inter Display" pitchFamily="34" charset="-120"/>
              </a:rPr>
              <a:t>+100</a:t>
            </a:r>
            <a:endParaRPr lang="en-US" sz="1700" dirty="0"/>
          </a:p>
        </p:txBody>
      </p:sp>
      <p:sp>
        <p:nvSpPr>
          <p:cNvPr id="19" name="Text 16"/>
          <p:cNvSpPr/>
          <p:nvPr/>
        </p:nvSpPr>
        <p:spPr>
          <a:xfrm>
            <a:off x="7918704" y="3506724"/>
            <a:ext cx="3364992" cy="384048"/>
          </a:xfrm>
          <a:prstGeom prst="rect">
            <a:avLst/>
          </a:prstGeom>
          <a:noFill/>
          <a:ln/>
        </p:spPr>
        <p:txBody>
          <a:bodyPr wrap="square" lIns="0" tIns="0" rIns="0" bIns="0" rtlCol="0" anchor="ctr">
            <a:normAutofit/>
          </a:bodyPr>
          <a:lstStyle/>
          <a:p>
            <a:pPr indent="0" marL="0">
              <a:buNone/>
            </a:pPr>
            <a:r>
              <a:rPr lang="en-US" sz="1220" dirty="0">
                <a:solidFill>
                  <a:srgbClr val="FFFFFF"/>
                </a:solidFill>
                <a:latin typeface="Inter" pitchFamily="34" charset="0"/>
                <a:ea typeface="Inter" pitchFamily="34" charset="-122"/>
                <a:cs typeface="Inter" pitchFamily="34" charset="-120"/>
              </a:rPr>
              <a:t>correct / wrong scoring</a:t>
            </a:r>
            <a:endParaRPr lang="en-US" sz="1220" dirty="0"/>
          </a:p>
        </p:txBody>
      </p:sp>
      <p:sp>
        <p:nvSpPr>
          <p:cNvPr id="20" name="Shape 17"/>
          <p:cNvSpPr/>
          <p:nvPr/>
        </p:nvSpPr>
        <p:spPr>
          <a:xfrm>
            <a:off x="6684264" y="4123944"/>
            <a:ext cx="4828032" cy="557784"/>
          </a:xfrm>
          <a:prstGeom prst="roundRect">
            <a:avLst>
              <a:gd name="adj" fmla="val 16393"/>
            </a:avLst>
          </a:prstGeom>
          <a:solidFill>
            <a:srgbClr val="2A204B"/>
          </a:solidFill>
          <a:ln w="8255">
            <a:solidFill>
              <a:srgbClr val="4B3768"/>
            </a:solidFill>
            <a:prstDash val="solid"/>
          </a:ln>
        </p:spPr>
      </p:sp>
      <p:sp>
        <p:nvSpPr>
          <p:cNvPr id="21" name="Text 18"/>
          <p:cNvSpPr/>
          <p:nvPr/>
        </p:nvSpPr>
        <p:spPr>
          <a:xfrm>
            <a:off x="6867144" y="4187952"/>
            <a:ext cx="914400" cy="384048"/>
          </a:xfrm>
          <a:prstGeom prst="rect">
            <a:avLst/>
          </a:prstGeom>
          <a:noFill/>
          <a:ln/>
        </p:spPr>
        <p:txBody>
          <a:bodyPr wrap="square" lIns="0" tIns="0" rIns="0" bIns="0" rtlCol="0" anchor="ctr">
            <a:normAutofit/>
          </a:bodyPr>
          <a:lstStyle/>
          <a:p>
            <a:pPr indent="0" marL="0">
              <a:buNone/>
            </a:pPr>
            <a:r>
              <a:rPr lang="en-US" sz="1700" b="1" dirty="0">
                <a:solidFill>
                  <a:srgbClr val="42D4F4"/>
                </a:solidFill>
                <a:latin typeface="Inter Display" pitchFamily="34" charset="0"/>
                <a:ea typeface="Inter Display" pitchFamily="34" charset="-122"/>
                <a:cs typeface="Inter Display" pitchFamily="34" charset="-120"/>
              </a:rPr>
              <a:t>AUTO</a:t>
            </a:r>
            <a:endParaRPr lang="en-US" sz="1700" dirty="0"/>
          </a:p>
        </p:txBody>
      </p:sp>
      <p:sp>
        <p:nvSpPr>
          <p:cNvPr id="22" name="Text 19"/>
          <p:cNvSpPr/>
          <p:nvPr/>
        </p:nvSpPr>
        <p:spPr>
          <a:xfrm>
            <a:off x="7918704" y="4192524"/>
            <a:ext cx="3364992" cy="384048"/>
          </a:xfrm>
          <a:prstGeom prst="rect">
            <a:avLst/>
          </a:prstGeom>
          <a:noFill/>
          <a:ln/>
        </p:spPr>
        <p:txBody>
          <a:bodyPr wrap="square" lIns="0" tIns="0" rIns="0" bIns="0" rtlCol="0" anchor="ctr">
            <a:normAutofit/>
          </a:bodyPr>
          <a:lstStyle/>
          <a:p>
            <a:pPr indent="0" marL="0">
              <a:buNone/>
            </a:pPr>
            <a:r>
              <a:rPr lang="en-US" sz="1220" dirty="0">
                <a:solidFill>
                  <a:srgbClr val="FFFFFF"/>
                </a:solidFill>
                <a:latin typeface="Inter" pitchFamily="34" charset="0"/>
                <a:ea typeface="Inter" pitchFamily="34" charset="-122"/>
                <a:cs typeface="Inter" pitchFamily="34" charset="-120"/>
              </a:rPr>
              <a:t>Ready + Next focus</a:t>
            </a:r>
            <a:endParaRPr lang="en-US" sz="1220" dirty="0"/>
          </a:p>
        </p:txBody>
      </p:sp>
      <p:sp>
        <p:nvSpPr>
          <p:cNvPr id="23" name="Shape 20"/>
          <p:cNvSpPr/>
          <p:nvPr/>
        </p:nvSpPr>
        <p:spPr>
          <a:xfrm>
            <a:off x="6684264" y="4809744"/>
            <a:ext cx="4828032" cy="557784"/>
          </a:xfrm>
          <a:prstGeom prst="roundRect">
            <a:avLst>
              <a:gd name="adj" fmla="val 16393"/>
            </a:avLst>
          </a:prstGeom>
          <a:solidFill>
            <a:srgbClr val="2A204B"/>
          </a:solidFill>
          <a:ln w="8255">
            <a:solidFill>
              <a:srgbClr val="4B3768"/>
            </a:solidFill>
            <a:prstDash val="solid"/>
          </a:ln>
        </p:spPr>
      </p:sp>
      <p:sp>
        <p:nvSpPr>
          <p:cNvPr id="24" name="Text 21"/>
          <p:cNvSpPr/>
          <p:nvPr/>
        </p:nvSpPr>
        <p:spPr>
          <a:xfrm>
            <a:off x="6867144" y="4873752"/>
            <a:ext cx="914400" cy="384048"/>
          </a:xfrm>
          <a:prstGeom prst="rect">
            <a:avLst/>
          </a:prstGeom>
          <a:noFill/>
          <a:ln/>
        </p:spPr>
        <p:txBody>
          <a:bodyPr wrap="square" lIns="0" tIns="0" rIns="0" bIns="0" rtlCol="0" anchor="ctr">
            <a:normAutofit/>
          </a:bodyPr>
          <a:lstStyle/>
          <a:p>
            <a:pPr indent="0" marL="0">
              <a:buNone/>
            </a:pPr>
            <a:r>
              <a:rPr lang="en-US" sz="1700" b="1" dirty="0">
                <a:solidFill>
                  <a:srgbClr val="31DDA1"/>
                </a:solidFill>
                <a:latin typeface="Inter Display" pitchFamily="34" charset="0"/>
                <a:ea typeface="Inter Display" pitchFamily="34" charset="-122"/>
                <a:cs typeface="Inter Display" pitchFamily="34" charset="-120"/>
              </a:rPr>
              <a:t>REPLAY</a:t>
            </a:r>
            <a:endParaRPr lang="en-US" sz="1700" dirty="0"/>
          </a:p>
        </p:txBody>
      </p:sp>
      <p:sp>
        <p:nvSpPr>
          <p:cNvPr id="25" name="Text 22"/>
          <p:cNvSpPr/>
          <p:nvPr/>
        </p:nvSpPr>
        <p:spPr>
          <a:xfrm>
            <a:off x="7918704" y="4878324"/>
            <a:ext cx="3364992" cy="384048"/>
          </a:xfrm>
          <a:prstGeom prst="rect">
            <a:avLst/>
          </a:prstGeom>
          <a:noFill/>
          <a:ln/>
        </p:spPr>
        <p:txBody>
          <a:bodyPr wrap="square" lIns="0" tIns="0" rIns="0" bIns="0" rtlCol="0" anchor="ctr">
            <a:normAutofit/>
          </a:bodyPr>
          <a:lstStyle/>
          <a:p>
            <a:pPr indent="0" marL="0">
              <a:buNone/>
            </a:pPr>
            <a:r>
              <a:rPr lang="en-US" sz="1220" dirty="0">
                <a:solidFill>
                  <a:srgbClr val="FFFFFF"/>
                </a:solidFill>
                <a:latin typeface="Inter" pitchFamily="34" charset="0"/>
                <a:ea typeface="Inter" pitchFamily="34" charset="-122"/>
                <a:cs typeface="Inter" pitchFamily="34" charset="-120"/>
              </a:rPr>
              <a:t>score reset + new questions</a:t>
            </a:r>
            <a:endParaRPr lang="en-US" sz="1220" dirty="0"/>
          </a:p>
        </p:txBody>
      </p:sp>
      <p:sp>
        <p:nvSpPr>
          <p:cNvPr id="26" name="Shape 23"/>
          <p:cNvSpPr/>
          <p:nvPr/>
        </p:nvSpPr>
        <p:spPr>
          <a:xfrm>
            <a:off x="3493008" y="5861304"/>
            <a:ext cx="5193792" cy="365760"/>
          </a:xfrm>
          <a:prstGeom prst="roundRect">
            <a:avLst>
              <a:gd name="adj" fmla="val 47500"/>
            </a:avLst>
          </a:prstGeom>
          <a:solidFill>
            <a:srgbClr val="4A263D"/>
          </a:solidFill>
          <a:ln w="12700">
            <a:solidFill>
              <a:srgbClr val="4A263D">
                <a:alpha val="0"/>
              </a:srgbClr>
            </a:solidFill>
            <a:prstDash val="solid"/>
          </a:ln>
        </p:spPr>
      </p:sp>
      <p:sp>
        <p:nvSpPr>
          <p:cNvPr id="27" name="Text 24"/>
          <p:cNvSpPr/>
          <p:nvPr/>
        </p:nvSpPr>
        <p:spPr>
          <a:xfrm>
            <a:off x="3602736" y="5902452"/>
            <a:ext cx="4974336" cy="256032"/>
          </a:xfrm>
          <a:prstGeom prst="rect">
            <a:avLst/>
          </a:prstGeom>
          <a:noFill/>
          <a:ln/>
        </p:spPr>
        <p:txBody>
          <a:bodyPr wrap="square" lIns="0" tIns="0" rIns="0" bIns="0" rtlCol="0" anchor="ctr">
            <a:normAutofit/>
          </a:bodyPr>
          <a:lstStyle/>
          <a:p>
            <a:pPr algn="ctr" indent="0" marL="0">
              <a:buNone/>
            </a:pPr>
            <a:r>
              <a:rPr lang="en-US" sz="1050" b="1" dirty="0">
                <a:solidFill>
                  <a:srgbClr val="E9E0FF"/>
                </a:solidFill>
                <a:latin typeface="Inter Display" pitchFamily="34" charset="0"/>
                <a:ea typeface="Inter Display" pitchFamily="34" charset="-122"/>
                <a:cs typeface="Inter Display" pitchFamily="34" charset="-120"/>
              </a:rPr>
              <a:t>PHYSICAL APPLE TV HARDWARE: NOT YET TESTED</a:t>
            </a:r>
            <a:endParaRPr lang="en-US" sz="1050" dirty="0"/>
          </a:p>
        </p:txBody>
      </p:sp>
      <p:sp>
        <p:nvSpPr>
          <p:cNvPr id="28" name="Shape 25"/>
          <p:cNvSpPr/>
          <p:nvPr/>
        </p:nvSpPr>
        <p:spPr>
          <a:xfrm>
            <a:off x="566928" y="6556248"/>
            <a:ext cx="11045952" cy="0"/>
          </a:xfrm>
          <a:prstGeom prst="line">
            <a:avLst/>
          </a:prstGeom>
          <a:noFill/>
          <a:ln w="8890">
            <a:solidFill>
              <a:srgbClr val="44365D">
                <a:alpha val="80000"/>
              </a:srgbClr>
            </a:solidFill>
            <a:prstDash val="solid"/>
          </a:ln>
        </p:spPr>
      </p:sp>
      <p:sp>
        <p:nvSpPr>
          <p:cNvPr id="29" name="Text 26"/>
          <p:cNvSpPr/>
          <p:nvPr/>
        </p:nvSpPr>
        <p:spPr>
          <a:xfrm>
            <a:off x="585216" y="6601968"/>
            <a:ext cx="7772400" cy="155448"/>
          </a:xfrm>
          <a:prstGeom prst="rect">
            <a:avLst/>
          </a:prstGeom>
          <a:noFill/>
          <a:ln/>
        </p:spPr>
        <p:txBody>
          <a:bodyPr wrap="square" lIns="0" tIns="0" rIns="0" bIns="0" rtlCol="0" anchor="ctr">
            <a:normAutofit/>
          </a:bodyPr>
          <a:lstStyle/>
          <a:p>
            <a:pPr indent="0" marL="0">
              <a:buNone/>
            </a:pPr>
            <a:r>
              <a:rPr lang="en-US" sz="900" b="1" spc="50" kern="0" dirty="0">
                <a:solidFill>
                  <a:srgbClr val="B6AACF"/>
                </a:solidFill>
                <a:latin typeface="Inter Display" pitchFamily="34" charset="0"/>
                <a:ea typeface="Inter Display" pitchFamily="34" charset="-122"/>
                <a:cs typeface="Inter Display" pitchFamily="34" charset="-120"/>
              </a:rPr>
              <a:t>SKETCHQUEST PARTY  /  SE4041 — PART B</a:t>
            </a:r>
            <a:endParaRPr lang="en-US" sz="900" dirty="0"/>
          </a:p>
        </p:txBody>
      </p:sp>
      <p:sp>
        <p:nvSpPr>
          <p:cNvPr id="30" name="Text 27"/>
          <p:cNvSpPr/>
          <p:nvPr/>
        </p:nvSpPr>
        <p:spPr>
          <a:xfrm>
            <a:off x="11155680" y="6583680"/>
            <a:ext cx="457200" cy="201168"/>
          </a:xfrm>
          <a:prstGeom prst="rect">
            <a:avLst/>
          </a:prstGeom>
          <a:noFill/>
          <a:ln/>
        </p:spPr>
        <p:txBody>
          <a:bodyPr wrap="square" lIns="0" tIns="0" rIns="0" bIns="0" rtlCol="0" anchor="ctr">
            <a:normAutofit/>
          </a:bodyPr>
          <a:lstStyle/>
          <a:p>
            <a:pPr algn="r" indent="0" marL="0">
              <a:buNone/>
            </a:pPr>
            <a:r>
              <a:rPr lang="en-US" sz="950" b="1" dirty="0">
                <a:solidFill>
                  <a:srgbClr val="B6AACF"/>
                </a:solidFill>
                <a:latin typeface="Inter Display" pitchFamily="34" charset="0"/>
                <a:ea typeface="Inter Display" pitchFamily="34" charset="-122"/>
                <a:cs typeface="Inter Display"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Shape 1"/>
          <p:cNvSpPr/>
          <p:nvPr/>
        </p:nvSpPr>
        <p:spPr>
          <a:xfrm>
            <a:off x="9290304" y="0"/>
            <a:ext cx="2880360" cy="2880360"/>
          </a:xfrm>
          <a:prstGeom prst="ellipse">
            <a:avLst/>
          </a:prstGeom>
          <a:solidFill>
            <a:srgbClr val="402273">
              <a:alpha val="35000"/>
            </a:srgbClr>
          </a:solidFill>
          <a:ln w="12700">
            <a:solidFill>
              <a:srgbClr val="402273">
                <a:alpha val="0"/>
              </a:srgbClr>
            </a:solidFill>
            <a:prstDash val="solid"/>
          </a:ln>
        </p:spPr>
      </p:sp>
      <p:sp>
        <p:nvSpPr>
          <p:cNvPr id="4" name="Shape 2"/>
          <p:cNvSpPr/>
          <p:nvPr/>
        </p:nvSpPr>
        <p:spPr>
          <a:xfrm>
            <a:off x="0" y="5047488"/>
            <a:ext cx="1773936" cy="1773936"/>
          </a:xfrm>
          <a:prstGeom prst="ellipse">
            <a:avLst/>
          </a:prstGeom>
          <a:solidFill>
            <a:srgbClr val="2C1A61">
              <a:alpha val="36000"/>
            </a:srgbClr>
          </a:solidFill>
          <a:ln w="12700">
            <a:solidFill>
              <a:srgbClr val="2C1A61">
                <a:alpha val="0"/>
              </a:srgbClr>
            </a:solidFill>
            <a:prstDash val="solid"/>
          </a:ln>
        </p:spPr>
      </p:sp>
      <p:sp>
        <p:nvSpPr>
          <p:cNvPr id="5" name="Shape 3"/>
          <p:cNvSpPr/>
          <p:nvPr/>
        </p:nvSpPr>
        <p:spPr>
          <a:xfrm>
            <a:off x="6583680" y="5175504"/>
            <a:ext cx="1572768" cy="1572768"/>
          </a:xfrm>
          <a:prstGeom prst="ellipse">
            <a:avLst/>
          </a:prstGeom>
          <a:solidFill>
            <a:srgbClr val="3B2079">
              <a:alpha val="16000"/>
            </a:srgbClr>
          </a:solidFill>
          <a:ln w="12700">
            <a:solidFill>
              <a:srgbClr val="3B2079">
                <a:alpha val="0"/>
              </a:srgbClr>
            </a:solidFill>
            <a:prstDash val="solid"/>
          </a:ln>
        </p:spPr>
      </p:sp>
      <p:sp>
        <p:nvSpPr>
          <p:cNvPr id="6" name="Text 4"/>
          <p:cNvSpPr/>
          <p:nvPr/>
        </p:nvSpPr>
        <p:spPr>
          <a:xfrm>
            <a:off x="566928" y="329184"/>
            <a:ext cx="7315200" cy="237744"/>
          </a:xfrm>
          <a:prstGeom prst="rect">
            <a:avLst/>
          </a:prstGeom>
          <a:noFill/>
          <a:ln/>
        </p:spPr>
        <p:txBody>
          <a:bodyPr wrap="square" lIns="0" tIns="0" rIns="0" bIns="0" rtlCol="0" anchor="ctr">
            <a:normAutofit/>
          </a:bodyPr>
          <a:lstStyle/>
          <a:p>
            <a:pPr indent="0" marL="0">
              <a:buNone/>
            </a:pPr>
            <a:r>
              <a:rPr lang="en-US" sz="1050" b="1" spc="200" kern="0" dirty="0">
                <a:solidFill>
                  <a:srgbClr val="E04CF4"/>
                </a:solidFill>
                <a:latin typeface="Inter Display" pitchFamily="34" charset="0"/>
                <a:ea typeface="Inter Display" pitchFamily="34" charset="-122"/>
                <a:cs typeface="Inter Display" pitchFamily="34" charset="-120"/>
              </a:rPr>
              <a:t>12 / ROADMAP</a:t>
            </a:r>
            <a:endParaRPr lang="en-US" sz="1050" dirty="0"/>
          </a:p>
        </p:txBody>
      </p:sp>
      <p:sp>
        <p:nvSpPr>
          <p:cNvPr id="7" name="Text 5"/>
          <p:cNvSpPr/>
          <p:nvPr/>
        </p:nvSpPr>
        <p:spPr>
          <a:xfrm>
            <a:off x="566928" y="768096"/>
            <a:ext cx="11082528" cy="576072"/>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Inter Display" pitchFamily="34" charset="0"/>
                <a:ea typeface="Inter Display" pitchFamily="34" charset="-122"/>
                <a:cs typeface="Inter Display" pitchFamily="34" charset="-120"/>
              </a:rPr>
              <a:t>The next step is confidence, not complexity.</a:t>
            </a:r>
            <a:endParaRPr lang="en-US" sz="3200" dirty="0"/>
          </a:p>
        </p:txBody>
      </p:sp>
      <p:sp>
        <p:nvSpPr>
          <p:cNvPr id="8" name="Text 6"/>
          <p:cNvSpPr/>
          <p:nvPr/>
        </p:nvSpPr>
        <p:spPr>
          <a:xfrm>
            <a:off x="594360" y="1389888"/>
            <a:ext cx="10899648" cy="438912"/>
          </a:xfrm>
          <a:prstGeom prst="rect">
            <a:avLst/>
          </a:prstGeom>
          <a:noFill/>
          <a:ln/>
        </p:spPr>
        <p:txBody>
          <a:bodyPr wrap="square" lIns="0" tIns="0" rIns="0" bIns="0" rtlCol="0" anchor="ctr">
            <a:normAutofit/>
          </a:bodyPr>
          <a:lstStyle/>
          <a:p>
            <a:pPr indent="0" marL="0">
              <a:buNone/>
            </a:pPr>
            <a:r>
              <a:rPr lang="en-US" sz="1540" dirty="0">
                <a:solidFill>
                  <a:srgbClr val="B6AACF"/>
                </a:solidFill>
                <a:latin typeface="Inter" pitchFamily="34" charset="0"/>
                <a:ea typeface="Inter" pitchFamily="34" charset="-122"/>
                <a:cs typeface="Inter" pitchFamily="34" charset="-120"/>
              </a:rPr>
              <a:t>First validate on real hardware, then expand content and game depth.</a:t>
            </a:r>
            <a:endParaRPr lang="en-US" sz="1540" dirty="0"/>
          </a:p>
        </p:txBody>
      </p:sp>
      <p:sp>
        <p:nvSpPr>
          <p:cNvPr id="9" name="Shape 7"/>
          <p:cNvSpPr/>
          <p:nvPr/>
        </p:nvSpPr>
        <p:spPr>
          <a:xfrm>
            <a:off x="603504" y="2066544"/>
            <a:ext cx="3630168" cy="3621024"/>
          </a:xfrm>
          <a:prstGeom prst="roundRect">
            <a:avLst>
              <a:gd name="adj" fmla="val 5303"/>
            </a:avLst>
          </a:prstGeom>
          <a:solidFill>
            <a:srgbClr val="21183E"/>
          </a:solidFill>
          <a:ln w="10160">
            <a:solidFill>
              <a:srgbClr val="594172"/>
            </a:solidFill>
            <a:prstDash val="solid"/>
          </a:ln>
        </p:spPr>
      </p:sp>
      <p:sp>
        <p:nvSpPr>
          <p:cNvPr id="10" name="Shape 8"/>
          <p:cNvSpPr/>
          <p:nvPr/>
        </p:nvSpPr>
        <p:spPr>
          <a:xfrm>
            <a:off x="868680" y="2350008"/>
            <a:ext cx="969264" cy="365760"/>
          </a:xfrm>
          <a:prstGeom prst="roundRect">
            <a:avLst>
              <a:gd name="adj" fmla="val 47500"/>
            </a:avLst>
          </a:prstGeom>
          <a:solidFill>
            <a:srgbClr val="235241"/>
          </a:solidFill>
          <a:ln w="12700">
            <a:solidFill>
              <a:srgbClr val="235241">
                <a:alpha val="0"/>
              </a:srgbClr>
            </a:solidFill>
            <a:prstDash val="solid"/>
          </a:ln>
        </p:spPr>
      </p:sp>
      <p:sp>
        <p:nvSpPr>
          <p:cNvPr id="11" name="Text 9"/>
          <p:cNvSpPr/>
          <p:nvPr/>
        </p:nvSpPr>
        <p:spPr>
          <a:xfrm>
            <a:off x="978408" y="2391156"/>
            <a:ext cx="749808" cy="256032"/>
          </a:xfrm>
          <a:prstGeom prst="rect">
            <a:avLst/>
          </a:prstGeom>
          <a:noFill/>
          <a:ln/>
        </p:spPr>
        <p:txBody>
          <a:bodyPr wrap="square" lIns="0" tIns="0" rIns="0" bIns="0" rtlCol="0" anchor="ctr">
            <a:normAutofit/>
          </a:bodyPr>
          <a:lstStyle/>
          <a:p>
            <a:pPr algn="ctr" indent="0" marL="0">
              <a:buNone/>
            </a:pPr>
            <a:r>
              <a:rPr lang="en-US" sz="1050" b="1" dirty="0">
                <a:solidFill>
                  <a:srgbClr val="31DDA1"/>
                </a:solidFill>
                <a:latin typeface="Inter Display" pitchFamily="34" charset="0"/>
                <a:ea typeface="Inter Display" pitchFamily="34" charset="-122"/>
                <a:cs typeface="Inter Display" pitchFamily="34" charset="-120"/>
              </a:rPr>
              <a:t>NOW</a:t>
            </a:r>
            <a:endParaRPr lang="en-US" sz="1050" dirty="0"/>
          </a:p>
        </p:txBody>
      </p:sp>
      <p:sp>
        <p:nvSpPr>
          <p:cNvPr id="12" name="Text 10"/>
          <p:cNvSpPr/>
          <p:nvPr/>
        </p:nvSpPr>
        <p:spPr>
          <a:xfrm>
            <a:off x="859536" y="2880360"/>
            <a:ext cx="3182112" cy="438912"/>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Inter Display" pitchFamily="34" charset="0"/>
                <a:ea typeface="Inter Display" pitchFamily="34" charset="-122"/>
                <a:cs typeface="Inter Display" pitchFamily="34" charset="-120"/>
              </a:rPr>
              <a:t>FUNCTIONAL MVP</a:t>
            </a:r>
            <a:endParaRPr lang="en-US" sz="2200" dirty="0"/>
          </a:p>
        </p:txBody>
      </p:sp>
      <p:sp>
        <p:nvSpPr>
          <p:cNvPr id="13" name="Shape 11"/>
          <p:cNvSpPr/>
          <p:nvPr/>
        </p:nvSpPr>
        <p:spPr>
          <a:xfrm>
            <a:off x="877824" y="3685032"/>
            <a:ext cx="109728" cy="109728"/>
          </a:xfrm>
          <a:prstGeom prst="ellipse">
            <a:avLst/>
          </a:prstGeom>
          <a:solidFill>
            <a:srgbClr val="31DDA1"/>
          </a:solidFill>
          <a:ln w="12700">
            <a:solidFill>
              <a:srgbClr val="31DDA1">
                <a:alpha val="0"/>
              </a:srgbClr>
            </a:solidFill>
            <a:prstDash val="solid"/>
          </a:ln>
        </p:spPr>
      </p:sp>
      <p:sp>
        <p:nvSpPr>
          <p:cNvPr id="14" name="Text 12"/>
          <p:cNvSpPr/>
          <p:nvPr/>
        </p:nvSpPr>
        <p:spPr>
          <a:xfrm>
            <a:off x="1143000" y="3611880"/>
            <a:ext cx="2770632" cy="292608"/>
          </a:xfrm>
          <a:prstGeom prst="rect">
            <a:avLst/>
          </a:prstGeom>
          <a:noFill/>
          <a:ln/>
        </p:spPr>
        <p:txBody>
          <a:bodyPr wrap="square" lIns="0" tIns="0" rIns="0" bIns="0" rtlCol="0" anchor="ctr">
            <a:normAutofit/>
          </a:bodyPr>
          <a:lstStyle/>
          <a:p>
            <a:pPr indent="0" marL="0">
              <a:buNone/>
            </a:pPr>
            <a:r>
              <a:rPr lang="en-US" sz="1240" dirty="0">
                <a:solidFill>
                  <a:srgbClr val="E9E0FF"/>
                </a:solidFill>
                <a:latin typeface="Inter" pitchFamily="34" charset="0"/>
                <a:ea typeface="Inter" pitchFamily="34" charset="-122"/>
                <a:cs typeface="Inter" pitchFamily="34" charset="-120"/>
              </a:rPr>
              <a:t>8 original vector sketches</a:t>
            </a:r>
            <a:endParaRPr lang="en-US" sz="1240" dirty="0"/>
          </a:p>
        </p:txBody>
      </p:sp>
      <p:sp>
        <p:nvSpPr>
          <p:cNvPr id="15" name="Shape 13"/>
          <p:cNvSpPr/>
          <p:nvPr/>
        </p:nvSpPr>
        <p:spPr>
          <a:xfrm>
            <a:off x="877824" y="4178808"/>
            <a:ext cx="109728" cy="109728"/>
          </a:xfrm>
          <a:prstGeom prst="ellipse">
            <a:avLst/>
          </a:prstGeom>
          <a:solidFill>
            <a:srgbClr val="31DDA1"/>
          </a:solidFill>
          <a:ln w="12700">
            <a:solidFill>
              <a:srgbClr val="31DDA1">
                <a:alpha val="0"/>
              </a:srgbClr>
            </a:solidFill>
            <a:prstDash val="solid"/>
          </a:ln>
        </p:spPr>
      </p:sp>
      <p:sp>
        <p:nvSpPr>
          <p:cNvPr id="16" name="Text 14"/>
          <p:cNvSpPr/>
          <p:nvPr/>
        </p:nvSpPr>
        <p:spPr>
          <a:xfrm>
            <a:off x="1143000" y="4105656"/>
            <a:ext cx="2770632" cy="292608"/>
          </a:xfrm>
          <a:prstGeom prst="rect">
            <a:avLst/>
          </a:prstGeom>
          <a:noFill/>
          <a:ln/>
        </p:spPr>
        <p:txBody>
          <a:bodyPr wrap="square" lIns="0" tIns="0" rIns="0" bIns="0" rtlCol="0" anchor="ctr">
            <a:normAutofit/>
          </a:bodyPr>
          <a:lstStyle/>
          <a:p>
            <a:pPr indent="0" marL="0">
              <a:buNone/>
            </a:pPr>
            <a:r>
              <a:rPr lang="en-US" sz="1240" dirty="0">
                <a:solidFill>
                  <a:srgbClr val="E9E0FF"/>
                </a:solidFill>
                <a:latin typeface="Inter" pitchFamily="34" charset="0"/>
                <a:ea typeface="Inter" pitchFamily="34" charset="-122"/>
                <a:cs typeface="Inter" pitchFamily="34" charset="-120"/>
              </a:rPr>
              <a:t>2–4 local players</a:t>
            </a:r>
            <a:endParaRPr lang="en-US" sz="1240" dirty="0"/>
          </a:p>
        </p:txBody>
      </p:sp>
      <p:sp>
        <p:nvSpPr>
          <p:cNvPr id="17" name="Shape 15"/>
          <p:cNvSpPr/>
          <p:nvPr/>
        </p:nvSpPr>
        <p:spPr>
          <a:xfrm>
            <a:off x="877824" y="4672584"/>
            <a:ext cx="109728" cy="109728"/>
          </a:xfrm>
          <a:prstGeom prst="ellipse">
            <a:avLst/>
          </a:prstGeom>
          <a:solidFill>
            <a:srgbClr val="31DDA1"/>
          </a:solidFill>
          <a:ln w="12700">
            <a:solidFill>
              <a:srgbClr val="31DDA1">
                <a:alpha val="0"/>
              </a:srgbClr>
            </a:solidFill>
            <a:prstDash val="solid"/>
          </a:ln>
        </p:spPr>
      </p:sp>
      <p:sp>
        <p:nvSpPr>
          <p:cNvPr id="18" name="Text 16"/>
          <p:cNvSpPr/>
          <p:nvPr/>
        </p:nvSpPr>
        <p:spPr>
          <a:xfrm>
            <a:off x="1143000" y="4599432"/>
            <a:ext cx="2770632" cy="292608"/>
          </a:xfrm>
          <a:prstGeom prst="rect">
            <a:avLst/>
          </a:prstGeom>
          <a:noFill/>
          <a:ln/>
        </p:spPr>
        <p:txBody>
          <a:bodyPr wrap="square" lIns="0" tIns="0" rIns="0" bIns="0" rtlCol="0" anchor="ctr">
            <a:normAutofit/>
          </a:bodyPr>
          <a:lstStyle/>
          <a:p>
            <a:pPr indent="0" marL="0">
              <a:buNone/>
            </a:pPr>
            <a:r>
              <a:rPr lang="en-US" sz="1240" dirty="0">
                <a:solidFill>
                  <a:srgbClr val="E9E0FF"/>
                </a:solidFill>
                <a:latin typeface="Inter" pitchFamily="34" charset="0"/>
                <a:ea typeface="Inter" pitchFamily="34" charset="-122"/>
                <a:cs typeface="Inter" pitchFamily="34" charset="-120"/>
              </a:rPr>
              <a:t>timer + scoring + leaderboard</a:t>
            </a:r>
            <a:endParaRPr lang="en-US" sz="1240" dirty="0"/>
          </a:p>
        </p:txBody>
      </p:sp>
      <p:sp>
        <p:nvSpPr>
          <p:cNvPr id="19" name="Shape 17"/>
          <p:cNvSpPr/>
          <p:nvPr/>
        </p:nvSpPr>
        <p:spPr>
          <a:xfrm>
            <a:off x="4498848" y="2066544"/>
            <a:ext cx="3630168" cy="3621024"/>
          </a:xfrm>
          <a:prstGeom prst="roundRect">
            <a:avLst>
              <a:gd name="adj" fmla="val 5303"/>
            </a:avLst>
          </a:prstGeom>
          <a:solidFill>
            <a:srgbClr val="21183E"/>
          </a:solidFill>
          <a:ln w="10160">
            <a:solidFill>
              <a:srgbClr val="594172"/>
            </a:solidFill>
            <a:prstDash val="solid"/>
          </a:ln>
        </p:spPr>
      </p:sp>
      <p:sp>
        <p:nvSpPr>
          <p:cNvPr id="20" name="Shape 18"/>
          <p:cNvSpPr/>
          <p:nvPr/>
        </p:nvSpPr>
        <p:spPr>
          <a:xfrm>
            <a:off x="4764024" y="2350008"/>
            <a:ext cx="969264" cy="365760"/>
          </a:xfrm>
          <a:prstGeom prst="roundRect">
            <a:avLst>
              <a:gd name="adj" fmla="val 47500"/>
            </a:avLst>
          </a:prstGeom>
          <a:solidFill>
            <a:srgbClr val="3A275E"/>
          </a:solidFill>
          <a:ln w="12700">
            <a:solidFill>
              <a:srgbClr val="3A275E">
                <a:alpha val="0"/>
              </a:srgbClr>
            </a:solidFill>
            <a:prstDash val="solid"/>
          </a:ln>
        </p:spPr>
      </p:sp>
      <p:sp>
        <p:nvSpPr>
          <p:cNvPr id="21" name="Text 19"/>
          <p:cNvSpPr/>
          <p:nvPr/>
        </p:nvSpPr>
        <p:spPr>
          <a:xfrm>
            <a:off x="4873752" y="2391156"/>
            <a:ext cx="749808" cy="256032"/>
          </a:xfrm>
          <a:prstGeom prst="rect">
            <a:avLst/>
          </a:prstGeom>
          <a:noFill/>
          <a:ln/>
        </p:spPr>
        <p:txBody>
          <a:bodyPr wrap="square" lIns="0" tIns="0" rIns="0" bIns="0" rtlCol="0" anchor="ctr">
            <a:normAutofit/>
          </a:bodyPr>
          <a:lstStyle/>
          <a:p>
            <a:pPr algn="ctr" indent="0" marL="0">
              <a:buNone/>
            </a:pPr>
            <a:r>
              <a:rPr lang="en-US" sz="1050" b="1" dirty="0">
                <a:solidFill>
                  <a:srgbClr val="E04CF4"/>
                </a:solidFill>
                <a:latin typeface="Inter Display" pitchFamily="34" charset="0"/>
                <a:ea typeface="Inter Display" pitchFamily="34" charset="-122"/>
                <a:cs typeface="Inter Display" pitchFamily="34" charset="-120"/>
              </a:rPr>
              <a:t>NEXT</a:t>
            </a:r>
            <a:endParaRPr lang="en-US" sz="1050" dirty="0"/>
          </a:p>
        </p:txBody>
      </p:sp>
      <p:sp>
        <p:nvSpPr>
          <p:cNvPr id="22" name="Text 20"/>
          <p:cNvSpPr/>
          <p:nvPr/>
        </p:nvSpPr>
        <p:spPr>
          <a:xfrm>
            <a:off x="4754880" y="2880360"/>
            <a:ext cx="3182112" cy="438912"/>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Inter Display" pitchFamily="34" charset="0"/>
                <a:ea typeface="Inter Display" pitchFamily="34" charset="-122"/>
                <a:cs typeface="Inter Display" pitchFamily="34" charset="-120"/>
              </a:rPr>
              <a:t>USER PILOT</a:t>
            </a:r>
            <a:endParaRPr lang="en-US" sz="2200" dirty="0"/>
          </a:p>
        </p:txBody>
      </p:sp>
      <p:sp>
        <p:nvSpPr>
          <p:cNvPr id="23" name="Shape 21"/>
          <p:cNvSpPr/>
          <p:nvPr/>
        </p:nvSpPr>
        <p:spPr>
          <a:xfrm>
            <a:off x="4773168" y="3685032"/>
            <a:ext cx="109728" cy="109728"/>
          </a:xfrm>
          <a:prstGeom prst="ellipse">
            <a:avLst/>
          </a:prstGeom>
          <a:solidFill>
            <a:srgbClr val="E04CF4"/>
          </a:solidFill>
          <a:ln w="12700">
            <a:solidFill>
              <a:srgbClr val="E04CF4">
                <a:alpha val="0"/>
              </a:srgbClr>
            </a:solidFill>
            <a:prstDash val="solid"/>
          </a:ln>
        </p:spPr>
      </p:sp>
      <p:sp>
        <p:nvSpPr>
          <p:cNvPr id="24" name="Text 22"/>
          <p:cNvSpPr/>
          <p:nvPr/>
        </p:nvSpPr>
        <p:spPr>
          <a:xfrm>
            <a:off x="5038344" y="3611880"/>
            <a:ext cx="2770632" cy="292608"/>
          </a:xfrm>
          <a:prstGeom prst="rect">
            <a:avLst/>
          </a:prstGeom>
          <a:noFill/>
          <a:ln/>
        </p:spPr>
        <p:txBody>
          <a:bodyPr wrap="square" lIns="0" tIns="0" rIns="0" bIns="0" rtlCol="0" anchor="ctr">
            <a:normAutofit/>
          </a:bodyPr>
          <a:lstStyle/>
          <a:p>
            <a:pPr indent="0" marL="0">
              <a:buNone/>
            </a:pPr>
            <a:r>
              <a:rPr lang="en-US" sz="1240" dirty="0">
                <a:solidFill>
                  <a:srgbClr val="E9E0FF"/>
                </a:solidFill>
                <a:latin typeface="Inter" pitchFamily="34" charset="0"/>
                <a:ea typeface="Inter" pitchFamily="34" charset="-122"/>
                <a:cs typeface="Inter" pitchFamily="34" charset="-120"/>
              </a:rPr>
              <a:t>Physical Apple TV testing</a:t>
            </a:r>
            <a:endParaRPr lang="en-US" sz="1240" dirty="0"/>
          </a:p>
        </p:txBody>
      </p:sp>
      <p:sp>
        <p:nvSpPr>
          <p:cNvPr id="25" name="Shape 23"/>
          <p:cNvSpPr/>
          <p:nvPr/>
        </p:nvSpPr>
        <p:spPr>
          <a:xfrm>
            <a:off x="4773168" y="4178808"/>
            <a:ext cx="109728" cy="109728"/>
          </a:xfrm>
          <a:prstGeom prst="ellipse">
            <a:avLst/>
          </a:prstGeom>
          <a:solidFill>
            <a:srgbClr val="E04CF4"/>
          </a:solidFill>
          <a:ln w="12700">
            <a:solidFill>
              <a:srgbClr val="E04CF4">
                <a:alpha val="0"/>
              </a:srgbClr>
            </a:solidFill>
            <a:prstDash val="solid"/>
          </a:ln>
        </p:spPr>
      </p:sp>
      <p:sp>
        <p:nvSpPr>
          <p:cNvPr id="26" name="Text 24"/>
          <p:cNvSpPr/>
          <p:nvPr/>
        </p:nvSpPr>
        <p:spPr>
          <a:xfrm>
            <a:off x="5038344" y="4105656"/>
            <a:ext cx="2770632" cy="292608"/>
          </a:xfrm>
          <a:prstGeom prst="rect">
            <a:avLst/>
          </a:prstGeom>
          <a:noFill/>
          <a:ln/>
        </p:spPr>
        <p:txBody>
          <a:bodyPr wrap="square" lIns="0" tIns="0" rIns="0" bIns="0" rtlCol="0" anchor="ctr">
            <a:normAutofit/>
          </a:bodyPr>
          <a:lstStyle/>
          <a:p>
            <a:pPr indent="0" marL="0">
              <a:buNone/>
            </a:pPr>
            <a:r>
              <a:rPr lang="en-US" sz="1240" dirty="0">
                <a:solidFill>
                  <a:srgbClr val="E9E0FF"/>
                </a:solidFill>
                <a:latin typeface="Inter" pitchFamily="34" charset="0"/>
                <a:ea typeface="Inter" pitchFamily="34" charset="-122"/>
                <a:cs typeface="Inter" pitchFamily="34" charset="-120"/>
              </a:rPr>
              <a:t>Focus / accessibility checks</a:t>
            </a:r>
            <a:endParaRPr lang="en-US" sz="1240" dirty="0"/>
          </a:p>
        </p:txBody>
      </p:sp>
      <p:sp>
        <p:nvSpPr>
          <p:cNvPr id="27" name="Shape 25"/>
          <p:cNvSpPr/>
          <p:nvPr/>
        </p:nvSpPr>
        <p:spPr>
          <a:xfrm>
            <a:off x="4773168" y="4672584"/>
            <a:ext cx="109728" cy="109728"/>
          </a:xfrm>
          <a:prstGeom prst="ellipse">
            <a:avLst/>
          </a:prstGeom>
          <a:solidFill>
            <a:srgbClr val="E04CF4"/>
          </a:solidFill>
          <a:ln w="12700">
            <a:solidFill>
              <a:srgbClr val="E04CF4">
                <a:alpha val="0"/>
              </a:srgbClr>
            </a:solidFill>
            <a:prstDash val="solid"/>
          </a:ln>
        </p:spPr>
      </p:sp>
      <p:sp>
        <p:nvSpPr>
          <p:cNvPr id="28" name="Text 26"/>
          <p:cNvSpPr/>
          <p:nvPr/>
        </p:nvSpPr>
        <p:spPr>
          <a:xfrm>
            <a:off x="5038344" y="4599432"/>
            <a:ext cx="2770632" cy="292608"/>
          </a:xfrm>
          <a:prstGeom prst="rect">
            <a:avLst/>
          </a:prstGeom>
          <a:noFill/>
          <a:ln/>
        </p:spPr>
        <p:txBody>
          <a:bodyPr wrap="square" lIns="0" tIns="0" rIns="0" bIns="0" rtlCol="0" anchor="ctr">
            <a:normAutofit/>
          </a:bodyPr>
          <a:lstStyle/>
          <a:p>
            <a:pPr indent="0" marL="0">
              <a:buNone/>
            </a:pPr>
            <a:r>
              <a:rPr lang="en-US" sz="1240" dirty="0">
                <a:solidFill>
                  <a:srgbClr val="E9E0FF"/>
                </a:solidFill>
                <a:latin typeface="Inter" pitchFamily="34" charset="0"/>
                <a:ea typeface="Inter" pitchFamily="34" charset="-122"/>
                <a:cs typeface="Inter" pitchFamily="34" charset="-120"/>
              </a:rPr>
              <a:t>Session pacing feedback</a:t>
            </a:r>
            <a:endParaRPr lang="en-US" sz="1240" dirty="0"/>
          </a:p>
        </p:txBody>
      </p:sp>
      <p:sp>
        <p:nvSpPr>
          <p:cNvPr id="29" name="Shape 27"/>
          <p:cNvSpPr/>
          <p:nvPr/>
        </p:nvSpPr>
        <p:spPr>
          <a:xfrm>
            <a:off x="8394192" y="2066544"/>
            <a:ext cx="3630168" cy="3621024"/>
          </a:xfrm>
          <a:prstGeom prst="roundRect">
            <a:avLst>
              <a:gd name="adj" fmla="val 5303"/>
            </a:avLst>
          </a:prstGeom>
          <a:solidFill>
            <a:srgbClr val="21183E"/>
          </a:solidFill>
          <a:ln w="10160">
            <a:solidFill>
              <a:srgbClr val="594172"/>
            </a:solidFill>
            <a:prstDash val="solid"/>
          </a:ln>
        </p:spPr>
      </p:sp>
      <p:sp>
        <p:nvSpPr>
          <p:cNvPr id="30" name="Shape 28"/>
          <p:cNvSpPr/>
          <p:nvPr/>
        </p:nvSpPr>
        <p:spPr>
          <a:xfrm>
            <a:off x="8659368" y="2350008"/>
            <a:ext cx="969264" cy="365760"/>
          </a:xfrm>
          <a:prstGeom prst="roundRect">
            <a:avLst>
              <a:gd name="adj" fmla="val 47500"/>
            </a:avLst>
          </a:prstGeom>
          <a:solidFill>
            <a:srgbClr val="3A275E"/>
          </a:solidFill>
          <a:ln w="12700">
            <a:solidFill>
              <a:srgbClr val="3A275E">
                <a:alpha val="0"/>
              </a:srgbClr>
            </a:solidFill>
            <a:prstDash val="solid"/>
          </a:ln>
        </p:spPr>
      </p:sp>
      <p:sp>
        <p:nvSpPr>
          <p:cNvPr id="31" name="Text 29"/>
          <p:cNvSpPr/>
          <p:nvPr/>
        </p:nvSpPr>
        <p:spPr>
          <a:xfrm>
            <a:off x="8769096" y="2391156"/>
            <a:ext cx="749808" cy="256032"/>
          </a:xfrm>
          <a:prstGeom prst="rect">
            <a:avLst/>
          </a:prstGeom>
          <a:noFill/>
          <a:ln/>
        </p:spPr>
        <p:txBody>
          <a:bodyPr wrap="square" lIns="0" tIns="0" rIns="0" bIns="0" rtlCol="0" anchor="ctr">
            <a:normAutofit/>
          </a:bodyPr>
          <a:lstStyle/>
          <a:p>
            <a:pPr algn="ctr" indent="0" marL="0">
              <a:buNone/>
            </a:pPr>
            <a:r>
              <a:rPr lang="en-US" sz="1050" b="1" dirty="0">
                <a:solidFill>
                  <a:srgbClr val="42D4F4"/>
                </a:solidFill>
                <a:latin typeface="Inter Display" pitchFamily="34" charset="0"/>
                <a:ea typeface="Inter Display" pitchFamily="34" charset="-122"/>
                <a:cs typeface="Inter Display" pitchFamily="34" charset="-120"/>
              </a:rPr>
              <a:t>LATER</a:t>
            </a:r>
            <a:endParaRPr lang="en-US" sz="1050" dirty="0"/>
          </a:p>
        </p:txBody>
      </p:sp>
      <p:sp>
        <p:nvSpPr>
          <p:cNvPr id="32" name="Text 30"/>
          <p:cNvSpPr/>
          <p:nvPr/>
        </p:nvSpPr>
        <p:spPr>
          <a:xfrm>
            <a:off x="8650224" y="2880360"/>
            <a:ext cx="3182112" cy="438912"/>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Inter Display" pitchFamily="34" charset="0"/>
                <a:ea typeface="Inter Display" pitchFamily="34" charset="-122"/>
                <a:cs typeface="Inter Display" pitchFamily="34" charset="-120"/>
              </a:rPr>
              <a:t>CONTENT GROWTH</a:t>
            </a:r>
            <a:endParaRPr lang="en-US" sz="2200" dirty="0"/>
          </a:p>
        </p:txBody>
      </p:sp>
      <p:sp>
        <p:nvSpPr>
          <p:cNvPr id="33" name="Shape 31"/>
          <p:cNvSpPr/>
          <p:nvPr/>
        </p:nvSpPr>
        <p:spPr>
          <a:xfrm>
            <a:off x="8668512" y="3685032"/>
            <a:ext cx="109728" cy="109728"/>
          </a:xfrm>
          <a:prstGeom prst="ellipse">
            <a:avLst/>
          </a:prstGeom>
          <a:solidFill>
            <a:srgbClr val="42D4F4"/>
          </a:solidFill>
          <a:ln w="12700">
            <a:solidFill>
              <a:srgbClr val="42D4F4">
                <a:alpha val="0"/>
              </a:srgbClr>
            </a:solidFill>
            <a:prstDash val="solid"/>
          </a:ln>
        </p:spPr>
      </p:sp>
      <p:sp>
        <p:nvSpPr>
          <p:cNvPr id="34" name="Text 32"/>
          <p:cNvSpPr/>
          <p:nvPr/>
        </p:nvSpPr>
        <p:spPr>
          <a:xfrm>
            <a:off x="8933688" y="3611880"/>
            <a:ext cx="2770632" cy="292608"/>
          </a:xfrm>
          <a:prstGeom prst="rect">
            <a:avLst/>
          </a:prstGeom>
          <a:noFill/>
          <a:ln/>
        </p:spPr>
        <p:txBody>
          <a:bodyPr wrap="square" lIns="0" tIns="0" rIns="0" bIns="0" rtlCol="0" anchor="ctr">
            <a:normAutofit/>
          </a:bodyPr>
          <a:lstStyle/>
          <a:p>
            <a:pPr indent="0" marL="0">
              <a:buNone/>
            </a:pPr>
            <a:r>
              <a:rPr lang="en-US" sz="1240" dirty="0">
                <a:solidFill>
                  <a:srgbClr val="E9E0FF"/>
                </a:solidFill>
                <a:latin typeface="Inter" pitchFamily="34" charset="0"/>
                <a:ea typeface="Inter" pitchFamily="34" charset="-122"/>
                <a:cs typeface="Inter" pitchFamily="34" charset="-120"/>
              </a:rPr>
              <a:t>More sketch packs</a:t>
            </a:r>
            <a:endParaRPr lang="en-US" sz="1240" dirty="0"/>
          </a:p>
        </p:txBody>
      </p:sp>
      <p:sp>
        <p:nvSpPr>
          <p:cNvPr id="35" name="Shape 33"/>
          <p:cNvSpPr/>
          <p:nvPr/>
        </p:nvSpPr>
        <p:spPr>
          <a:xfrm>
            <a:off x="8668512" y="4178808"/>
            <a:ext cx="109728" cy="109728"/>
          </a:xfrm>
          <a:prstGeom prst="ellipse">
            <a:avLst/>
          </a:prstGeom>
          <a:solidFill>
            <a:srgbClr val="42D4F4"/>
          </a:solidFill>
          <a:ln w="12700">
            <a:solidFill>
              <a:srgbClr val="42D4F4">
                <a:alpha val="0"/>
              </a:srgbClr>
            </a:solidFill>
            <a:prstDash val="solid"/>
          </a:ln>
        </p:spPr>
      </p:sp>
      <p:sp>
        <p:nvSpPr>
          <p:cNvPr id="36" name="Text 34"/>
          <p:cNvSpPr/>
          <p:nvPr/>
        </p:nvSpPr>
        <p:spPr>
          <a:xfrm>
            <a:off x="8933688" y="4105656"/>
            <a:ext cx="2770632" cy="292608"/>
          </a:xfrm>
          <a:prstGeom prst="rect">
            <a:avLst/>
          </a:prstGeom>
          <a:noFill/>
          <a:ln/>
        </p:spPr>
        <p:txBody>
          <a:bodyPr wrap="square" lIns="0" tIns="0" rIns="0" bIns="0" rtlCol="0" anchor="ctr">
            <a:normAutofit/>
          </a:bodyPr>
          <a:lstStyle/>
          <a:p>
            <a:pPr indent="0" marL="0">
              <a:buNone/>
            </a:pPr>
            <a:r>
              <a:rPr lang="en-US" sz="1240" dirty="0">
                <a:solidFill>
                  <a:srgbClr val="E9E0FF"/>
                </a:solidFill>
                <a:latin typeface="Inter" pitchFamily="34" charset="0"/>
                <a:ea typeface="Inter" pitchFamily="34" charset="-122"/>
                <a:cs typeface="Inter" pitchFamily="34" charset="-120"/>
              </a:rPr>
              <a:t>Difficulty + mode options</a:t>
            </a:r>
            <a:endParaRPr lang="en-US" sz="1240" dirty="0"/>
          </a:p>
        </p:txBody>
      </p:sp>
      <p:sp>
        <p:nvSpPr>
          <p:cNvPr id="37" name="Shape 35"/>
          <p:cNvSpPr/>
          <p:nvPr/>
        </p:nvSpPr>
        <p:spPr>
          <a:xfrm>
            <a:off x="8668512" y="4672584"/>
            <a:ext cx="109728" cy="109728"/>
          </a:xfrm>
          <a:prstGeom prst="ellipse">
            <a:avLst/>
          </a:prstGeom>
          <a:solidFill>
            <a:srgbClr val="42D4F4"/>
          </a:solidFill>
          <a:ln w="12700">
            <a:solidFill>
              <a:srgbClr val="42D4F4">
                <a:alpha val="0"/>
              </a:srgbClr>
            </a:solidFill>
            <a:prstDash val="solid"/>
          </a:ln>
        </p:spPr>
      </p:sp>
      <p:sp>
        <p:nvSpPr>
          <p:cNvPr id="38" name="Text 36"/>
          <p:cNvSpPr/>
          <p:nvPr/>
        </p:nvSpPr>
        <p:spPr>
          <a:xfrm>
            <a:off x="8933688" y="4599432"/>
            <a:ext cx="2770632" cy="292608"/>
          </a:xfrm>
          <a:prstGeom prst="rect">
            <a:avLst/>
          </a:prstGeom>
          <a:noFill/>
          <a:ln/>
        </p:spPr>
        <p:txBody>
          <a:bodyPr wrap="square" lIns="0" tIns="0" rIns="0" bIns="0" rtlCol="0" anchor="ctr">
            <a:normAutofit/>
          </a:bodyPr>
          <a:lstStyle/>
          <a:p>
            <a:pPr indent="0" marL="0">
              <a:buNone/>
            </a:pPr>
            <a:r>
              <a:rPr lang="en-US" sz="1240" dirty="0">
                <a:solidFill>
                  <a:srgbClr val="E9E0FF"/>
                </a:solidFill>
                <a:latin typeface="Inter" pitchFamily="34" charset="0"/>
                <a:ea typeface="Inter" pitchFamily="34" charset="-122"/>
                <a:cs typeface="Inter" pitchFamily="34" charset="-120"/>
              </a:rPr>
              <a:t>Localized vocabulary</a:t>
            </a:r>
            <a:endParaRPr lang="en-US" sz="1240" dirty="0"/>
          </a:p>
        </p:txBody>
      </p:sp>
      <p:sp>
        <p:nvSpPr>
          <p:cNvPr id="39" name="Text 37"/>
          <p:cNvSpPr/>
          <p:nvPr/>
        </p:nvSpPr>
        <p:spPr>
          <a:xfrm>
            <a:off x="658368" y="6062472"/>
            <a:ext cx="10835640" cy="274320"/>
          </a:xfrm>
          <a:prstGeom prst="rect">
            <a:avLst/>
          </a:prstGeom>
          <a:noFill/>
          <a:ln/>
        </p:spPr>
        <p:txBody>
          <a:bodyPr wrap="square" lIns="0" tIns="0" rIns="0" bIns="0" rtlCol="0" anchor="ctr">
            <a:normAutofit/>
          </a:bodyPr>
          <a:lstStyle/>
          <a:p>
            <a:pPr indent="0" marL="0">
              <a:buNone/>
            </a:pPr>
            <a:r>
              <a:rPr lang="en-US" sz="1210" dirty="0">
                <a:solidFill>
                  <a:srgbClr val="B6AACF"/>
                </a:solidFill>
                <a:latin typeface="Inter" pitchFamily="34" charset="0"/>
                <a:ea typeface="Inter" pitchFamily="34" charset="-122"/>
                <a:cs typeface="Inter" pitchFamily="34" charset="-120"/>
              </a:rPr>
              <a:t>PROJECT STATUS  /  Demonstrable prototype; distribution and market fit are future work.</a:t>
            </a:r>
            <a:endParaRPr lang="en-US" sz="1210" dirty="0"/>
          </a:p>
        </p:txBody>
      </p:sp>
      <p:sp>
        <p:nvSpPr>
          <p:cNvPr id="40" name="Shape 38"/>
          <p:cNvSpPr/>
          <p:nvPr/>
        </p:nvSpPr>
        <p:spPr>
          <a:xfrm>
            <a:off x="566928" y="6556248"/>
            <a:ext cx="11045952" cy="0"/>
          </a:xfrm>
          <a:prstGeom prst="line">
            <a:avLst/>
          </a:prstGeom>
          <a:noFill/>
          <a:ln w="8890">
            <a:solidFill>
              <a:srgbClr val="44365D">
                <a:alpha val="80000"/>
              </a:srgbClr>
            </a:solidFill>
            <a:prstDash val="solid"/>
          </a:ln>
        </p:spPr>
      </p:sp>
      <p:sp>
        <p:nvSpPr>
          <p:cNvPr id="41" name="Text 39"/>
          <p:cNvSpPr/>
          <p:nvPr/>
        </p:nvSpPr>
        <p:spPr>
          <a:xfrm>
            <a:off x="585216" y="6601968"/>
            <a:ext cx="7772400" cy="155448"/>
          </a:xfrm>
          <a:prstGeom prst="rect">
            <a:avLst/>
          </a:prstGeom>
          <a:noFill/>
          <a:ln/>
        </p:spPr>
        <p:txBody>
          <a:bodyPr wrap="square" lIns="0" tIns="0" rIns="0" bIns="0" rtlCol="0" anchor="ctr">
            <a:normAutofit/>
          </a:bodyPr>
          <a:lstStyle/>
          <a:p>
            <a:pPr indent="0" marL="0">
              <a:buNone/>
            </a:pPr>
            <a:r>
              <a:rPr lang="en-US" sz="900" b="1" spc="50" kern="0" dirty="0">
                <a:solidFill>
                  <a:srgbClr val="B6AACF"/>
                </a:solidFill>
                <a:latin typeface="Inter Display" pitchFamily="34" charset="0"/>
                <a:ea typeface="Inter Display" pitchFamily="34" charset="-122"/>
                <a:cs typeface="Inter Display" pitchFamily="34" charset="-120"/>
              </a:rPr>
              <a:t>SKETCHQUEST PARTY  /  SE4041 — PART B</a:t>
            </a:r>
            <a:endParaRPr lang="en-US" sz="900" dirty="0"/>
          </a:p>
        </p:txBody>
      </p:sp>
      <p:sp>
        <p:nvSpPr>
          <p:cNvPr id="42" name="Text 40"/>
          <p:cNvSpPr/>
          <p:nvPr/>
        </p:nvSpPr>
        <p:spPr>
          <a:xfrm>
            <a:off x="11155680" y="6583680"/>
            <a:ext cx="457200" cy="201168"/>
          </a:xfrm>
          <a:prstGeom prst="rect">
            <a:avLst/>
          </a:prstGeom>
          <a:noFill/>
          <a:ln/>
        </p:spPr>
        <p:txBody>
          <a:bodyPr wrap="square" lIns="0" tIns="0" rIns="0" bIns="0" rtlCol="0" anchor="ctr">
            <a:normAutofit/>
          </a:bodyPr>
          <a:lstStyle/>
          <a:p>
            <a:pPr algn="r" indent="0" marL="0">
              <a:buNone/>
            </a:pPr>
            <a:r>
              <a:rPr lang="en-US" sz="950" b="1" dirty="0">
                <a:solidFill>
                  <a:srgbClr val="B6AACF"/>
                </a:solidFill>
                <a:latin typeface="Inter Display" pitchFamily="34" charset="0"/>
                <a:ea typeface="Inter Display" pitchFamily="34" charset="-122"/>
                <a:cs typeface="Inter Display"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Shape 1"/>
          <p:cNvSpPr/>
          <p:nvPr/>
        </p:nvSpPr>
        <p:spPr>
          <a:xfrm>
            <a:off x="9290304" y="0"/>
            <a:ext cx="2880360" cy="2880360"/>
          </a:xfrm>
          <a:prstGeom prst="ellipse">
            <a:avLst/>
          </a:prstGeom>
          <a:solidFill>
            <a:srgbClr val="402273">
              <a:alpha val="35000"/>
            </a:srgbClr>
          </a:solidFill>
          <a:ln w="12700">
            <a:solidFill>
              <a:srgbClr val="402273">
                <a:alpha val="0"/>
              </a:srgbClr>
            </a:solidFill>
            <a:prstDash val="solid"/>
          </a:ln>
        </p:spPr>
      </p:sp>
      <p:sp>
        <p:nvSpPr>
          <p:cNvPr id="4" name="Shape 2"/>
          <p:cNvSpPr/>
          <p:nvPr/>
        </p:nvSpPr>
        <p:spPr>
          <a:xfrm>
            <a:off x="0" y="5047488"/>
            <a:ext cx="1773936" cy="1773936"/>
          </a:xfrm>
          <a:prstGeom prst="ellipse">
            <a:avLst/>
          </a:prstGeom>
          <a:solidFill>
            <a:srgbClr val="2C1A61">
              <a:alpha val="36000"/>
            </a:srgbClr>
          </a:solidFill>
          <a:ln w="12700">
            <a:solidFill>
              <a:srgbClr val="2C1A61">
                <a:alpha val="0"/>
              </a:srgbClr>
            </a:solidFill>
            <a:prstDash val="solid"/>
          </a:ln>
        </p:spPr>
      </p:sp>
      <p:sp>
        <p:nvSpPr>
          <p:cNvPr id="5" name="Shape 3"/>
          <p:cNvSpPr/>
          <p:nvPr/>
        </p:nvSpPr>
        <p:spPr>
          <a:xfrm>
            <a:off x="6583680" y="5175504"/>
            <a:ext cx="1572768" cy="1572768"/>
          </a:xfrm>
          <a:prstGeom prst="ellipse">
            <a:avLst/>
          </a:prstGeom>
          <a:solidFill>
            <a:srgbClr val="3B2079">
              <a:alpha val="16000"/>
            </a:srgbClr>
          </a:solidFill>
          <a:ln w="12700">
            <a:solidFill>
              <a:srgbClr val="3B2079">
                <a:alpha val="0"/>
              </a:srgbClr>
            </a:solidFill>
            <a:prstDash val="solid"/>
          </a:ln>
        </p:spPr>
      </p:sp>
      <p:sp>
        <p:nvSpPr>
          <p:cNvPr id="6" name="Shape 4"/>
          <p:cNvSpPr/>
          <p:nvPr/>
        </p:nvSpPr>
        <p:spPr>
          <a:xfrm>
            <a:off x="694944" y="777240"/>
            <a:ext cx="2916936" cy="365760"/>
          </a:xfrm>
          <a:prstGeom prst="roundRect">
            <a:avLst>
              <a:gd name="adj" fmla="val 47500"/>
            </a:avLst>
          </a:prstGeom>
          <a:solidFill>
            <a:srgbClr val="352156"/>
          </a:solidFill>
          <a:ln w="12700">
            <a:solidFill>
              <a:srgbClr val="352156">
                <a:alpha val="0"/>
              </a:srgbClr>
            </a:solidFill>
            <a:prstDash val="solid"/>
          </a:ln>
        </p:spPr>
      </p:sp>
      <p:sp>
        <p:nvSpPr>
          <p:cNvPr id="7" name="Text 5"/>
          <p:cNvSpPr/>
          <p:nvPr/>
        </p:nvSpPr>
        <p:spPr>
          <a:xfrm>
            <a:off x="804672" y="818388"/>
            <a:ext cx="2697480" cy="256032"/>
          </a:xfrm>
          <a:prstGeom prst="rect">
            <a:avLst/>
          </a:prstGeom>
          <a:noFill/>
          <a:ln/>
        </p:spPr>
        <p:txBody>
          <a:bodyPr wrap="square" lIns="0" tIns="0" rIns="0" bIns="0" rtlCol="0" anchor="ctr">
            <a:normAutofit/>
          </a:bodyPr>
          <a:lstStyle/>
          <a:p>
            <a:pPr algn="ctr" indent="0" marL="0">
              <a:buNone/>
            </a:pPr>
            <a:r>
              <a:rPr lang="en-US" sz="1050" b="1" dirty="0">
                <a:solidFill>
                  <a:srgbClr val="E9E0FF"/>
                </a:solidFill>
                <a:latin typeface="Inter Display" pitchFamily="34" charset="0"/>
                <a:ea typeface="Inter Display" pitchFamily="34" charset="-122"/>
                <a:cs typeface="Inter Display" pitchFamily="34" charset="-120"/>
              </a:rPr>
              <a:t>THE PITCH IN ONE SENTENCE</a:t>
            </a:r>
            <a:endParaRPr lang="en-US" sz="1050" dirty="0"/>
          </a:p>
        </p:txBody>
      </p:sp>
      <p:sp>
        <p:nvSpPr>
          <p:cNvPr id="8" name="Text 6"/>
          <p:cNvSpPr/>
          <p:nvPr/>
        </p:nvSpPr>
        <p:spPr>
          <a:xfrm>
            <a:off x="676656" y="1490472"/>
            <a:ext cx="6537960" cy="2660904"/>
          </a:xfrm>
          <a:prstGeom prst="rect">
            <a:avLst/>
          </a:prstGeom>
          <a:noFill/>
          <a:ln/>
        </p:spPr>
        <p:txBody>
          <a:bodyPr wrap="square" lIns="0" tIns="0" rIns="0" bIns="0" rtlCol="0" anchor="ctr">
            <a:normAutofit/>
          </a:bodyPr>
          <a:lstStyle/>
          <a:p>
            <a:pPr indent="0" marL="0">
              <a:buNone/>
            </a:pPr>
            <a:r>
              <a:rPr lang="en-US" sz="4500" b="1" dirty="0">
                <a:solidFill>
                  <a:srgbClr val="FFFFFF"/>
                </a:solidFill>
                <a:latin typeface="Inter Display" pitchFamily="34" charset="0"/>
                <a:ea typeface="Inter Display" pitchFamily="34" charset="-122"/>
                <a:cs typeface="Inter Display" pitchFamily="34" charset="-120"/>
              </a:rPr>
              <a:t>One screen.</a:t>
            </a:r>
            <a:endParaRPr lang="en-US" sz="4500" dirty="0"/>
          </a:p>
          <a:p>
            <a:pPr indent="0" marL="0">
              <a:buNone/>
            </a:pPr>
            <a:r>
              <a:rPr lang="en-US" sz="4500" b="1" dirty="0">
                <a:solidFill>
                  <a:srgbClr val="FFFFFF"/>
                </a:solidFill>
                <a:latin typeface="Inter Display" pitchFamily="34" charset="0"/>
                <a:ea typeface="Inter Display" pitchFamily="34" charset="-122"/>
                <a:cs typeface="Inter Display" pitchFamily="34" charset="-120"/>
              </a:rPr>
              <a:t>One remote.</a:t>
            </a:r>
            <a:endParaRPr lang="en-US" sz="4500" dirty="0"/>
          </a:p>
          <a:p>
            <a:pPr indent="0" marL="0">
              <a:buNone/>
            </a:pPr>
            <a:r>
              <a:rPr lang="en-US" sz="4500" b="1" dirty="0">
                <a:solidFill>
                  <a:srgbClr val="FFFFFF"/>
                </a:solidFill>
                <a:latin typeface="Inter Display" pitchFamily="34" charset="0"/>
                <a:ea typeface="Inter Display" pitchFamily="34" charset="-122"/>
                <a:cs typeface="Inter Display" pitchFamily="34" charset="-120"/>
              </a:rPr>
              <a:t>A whole party.</a:t>
            </a:r>
            <a:endParaRPr lang="en-US" sz="4500" dirty="0"/>
          </a:p>
        </p:txBody>
      </p:sp>
      <p:sp>
        <p:nvSpPr>
          <p:cNvPr id="9" name="Text 7"/>
          <p:cNvSpPr/>
          <p:nvPr/>
        </p:nvSpPr>
        <p:spPr>
          <a:xfrm>
            <a:off x="704088" y="4379976"/>
            <a:ext cx="6583680" cy="630936"/>
          </a:xfrm>
          <a:prstGeom prst="rect">
            <a:avLst/>
          </a:prstGeom>
          <a:noFill/>
          <a:ln/>
        </p:spPr>
        <p:txBody>
          <a:bodyPr wrap="square" lIns="0" tIns="0" rIns="0" bIns="0" rtlCol="0" anchor="t">
            <a:normAutofit/>
          </a:bodyPr>
          <a:lstStyle/>
          <a:p>
            <a:pPr indent="0" marL="0">
              <a:buNone/>
            </a:pPr>
            <a:r>
              <a:rPr lang="en-US" sz="1720" dirty="0">
                <a:solidFill>
                  <a:srgbClr val="E9E0FF"/>
                </a:solidFill>
                <a:latin typeface="Inter" pitchFamily="34" charset="0"/>
                <a:ea typeface="Inter" pitchFamily="34" charset="-122"/>
                <a:cs typeface="Inter" pitchFamily="34" charset="-120"/>
              </a:rPr>
              <a:t>SketchQuest Party makes sketch-based competition instant, local and shareable.</a:t>
            </a:r>
            <a:endParaRPr lang="en-US" sz="1720" dirty="0"/>
          </a:p>
        </p:txBody>
      </p:sp>
      <p:sp>
        <p:nvSpPr>
          <p:cNvPr id="10" name="Shape 8"/>
          <p:cNvSpPr/>
          <p:nvPr/>
        </p:nvSpPr>
        <p:spPr>
          <a:xfrm>
            <a:off x="7516368" y="1581912"/>
            <a:ext cx="4059936" cy="3648456"/>
          </a:xfrm>
          <a:prstGeom prst="roundRect">
            <a:avLst>
              <a:gd name="adj" fmla="val 6015"/>
            </a:avLst>
          </a:prstGeom>
          <a:solidFill>
            <a:srgbClr val="21183E"/>
          </a:solidFill>
          <a:ln w="13970">
            <a:solidFill>
              <a:srgbClr val="7F4DA8"/>
            </a:solidFill>
            <a:prstDash val="solid"/>
          </a:ln>
        </p:spPr>
      </p:sp>
      <p:pic>
        <p:nvPicPr>
          <p:cNvPr id="11" name="Image 0" descr="/mnt/data/sq_pitch_assets/home.png">    </p:cNvPr>
          <p:cNvPicPr>
            <a:picLocks noChangeAspect="1"/>
          </p:cNvPicPr>
          <p:nvPr/>
        </p:nvPicPr>
        <p:blipFill>
          <a:blip r:embed="rId1"/>
          <a:stretch>
            <a:fillRect/>
          </a:stretch>
        </p:blipFill>
        <p:spPr>
          <a:xfrm>
            <a:off x="7690104" y="1810512"/>
            <a:ext cx="3694176" cy="2075688"/>
          </a:xfrm>
          <a:prstGeom prst="rect">
            <a:avLst/>
          </a:prstGeom>
        </p:spPr>
      </p:pic>
      <p:sp>
        <p:nvSpPr>
          <p:cNvPr id="12" name="Text 9"/>
          <p:cNvSpPr/>
          <p:nvPr/>
        </p:nvSpPr>
        <p:spPr>
          <a:xfrm>
            <a:off x="7799832" y="4233672"/>
            <a:ext cx="3511296" cy="310896"/>
          </a:xfrm>
          <a:prstGeom prst="rect">
            <a:avLst/>
          </a:prstGeom>
          <a:noFill/>
          <a:ln/>
        </p:spPr>
        <p:txBody>
          <a:bodyPr wrap="square" lIns="0" tIns="0" rIns="0" bIns="0" rtlCol="0" anchor="ctr">
            <a:normAutofit/>
          </a:bodyPr>
          <a:lstStyle/>
          <a:p>
            <a:pPr algn="ctr" indent="0" marL="0">
              <a:buNone/>
            </a:pPr>
            <a:r>
              <a:rPr lang="en-US" sz="1210" b="1" spc="80" kern="0" dirty="0">
                <a:solidFill>
                  <a:srgbClr val="E04CF4"/>
                </a:solidFill>
                <a:latin typeface="Inter Display" pitchFamily="34" charset="0"/>
                <a:ea typeface="Inter Display" pitchFamily="34" charset="-122"/>
                <a:cs typeface="Inter Display" pitchFamily="34" charset="-120"/>
              </a:rPr>
              <a:t>PROTOTYPE + SOURCE CODE</a:t>
            </a:r>
            <a:endParaRPr lang="en-US" sz="1210" dirty="0"/>
          </a:p>
        </p:txBody>
      </p:sp>
      <p:sp>
        <p:nvSpPr>
          <p:cNvPr id="13" name="Text 10">
            <a:hlinkClick r:id="rId2" tooltip=""/>
          </p:cNvPr>
          <p:cNvSpPr/>
          <p:nvPr/>
        </p:nvSpPr>
        <p:spPr>
          <a:xfrm>
            <a:off x="7808976" y="4617720"/>
            <a:ext cx="3520440" cy="539496"/>
          </a:xfrm>
          <a:prstGeom prst="rect">
            <a:avLst/>
          </a:prstGeom>
          <a:noFill/>
          <a:ln/>
        </p:spPr>
        <p:txBody>
          <a:bodyPr wrap="square" lIns="0" tIns="0" rIns="0" bIns="0" rtlCol="0" anchor="ctr">
            <a:normAutofit/>
          </a:bodyPr>
          <a:lstStyle/>
          <a:p>
            <a:pPr algn="ctr" indent="0" marL="0">
              <a:buNone/>
            </a:pPr>
            <a:r>
              <a:rPr lang="en-US" sz="1220" b="1" u="sng" dirty="0">
                <a:solidFill>
                  <a:srgbClr val="FFFFFF"/>
                </a:solidFill>
                <a:latin typeface="Inter Display" pitchFamily="34" charset="0"/>
                <a:ea typeface="Inter Display" pitchFamily="34" charset="-122"/>
                <a:cs typeface="Inter Display"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github.com/NavodaNethmini/</a:t>
            </a:r>
            <a:endParaRPr lang="en-US" sz="1220" dirty="0"/>
          </a:p>
          <a:p>
            <a:pPr algn="ctr" indent="0" marL="0">
              <a:buNone/>
            </a:pPr>
            <a:r>
              <a:rPr lang="en-US" sz="1220" b="1" u="sng" dirty="0">
                <a:solidFill>
                  <a:srgbClr val="FFFFFF"/>
                </a:solidFill>
                <a:latin typeface="Inter Display" pitchFamily="34" charset="0"/>
                <a:ea typeface="Inter Display" pitchFamily="34" charset="-122"/>
                <a:cs typeface="Inter Display" pitchFamily="34" charset="-120"/>
                <a:hlinkClick r:id="rId2" invalidUrl="" action="" tgtFrame="" tooltip="" history="1" highlightClick="0" endSnd="0">
                  <a:extLst>
                    <a:ext uri="{A12FA001-AC4F-418D-AE19-62706E023703}">
                      <ahyp:hlinkClr xmlns:ahyp="http://schemas.microsoft.com/office/drawing/2018/hyperlinkcolor" val="tx"/>
                    </a:ext>
                  </a:extLst>
                </a:hlinkClick>
              </a:rPr>
              <a:t>SketchQuestParty-tvOS</a:t>
            </a:r>
            <a:endParaRPr lang="en-US" sz="1220" dirty="0"/>
          </a:p>
        </p:txBody>
      </p:sp>
      <p:sp>
        <p:nvSpPr>
          <p:cNvPr id="14" name="Shape 11"/>
          <p:cNvSpPr/>
          <p:nvPr/>
        </p:nvSpPr>
        <p:spPr>
          <a:xfrm>
            <a:off x="713232" y="5550408"/>
            <a:ext cx="1938528" cy="365760"/>
          </a:xfrm>
          <a:prstGeom prst="roundRect">
            <a:avLst>
              <a:gd name="adj" fmla="val 47500"/>
            </a:avLst>
          </a:prstGeom>
          <a:solidFill>
            <a:srgbClr val="315544"/>
          </a:solidFill>
          <a:ln w="12700">
            <a:solidFill>
              <a:srgbClr val="315544">
                <a:alpha val="0"/>
              </a:srgbClr>
            </a:solidFill>
            <a:prstDash val="solid"/>
          </a:ln>
        </p:spPr>
      </p:sp>
      <p:sp>
        <p:nvSpPr>
          <p:cNvPr id="15" name="Text 12"/>
          <p:cNvSpPr/>
          <p:nvPr/>
        </p:nvSpPr>
        <p:spPr>
          <a:xfrm>
            <a:off x="822960" y="5591556"/>
            <a:ext cx="1719072" cy="256032"/>
          </a:xfrm>
          <a:prstGeom prst="rect">
            <a:avLst/>
          </a:prstGeom>
          <a:noFill/>
          <a:ln/>
        </p:spPr>
        <p:txBody>
          <a:bodyPr wrap="square" lIns="0" tIns="0" rIns="0" bIns="0" rtlCol="0" anchor="ctr">
            <a:normAutofit/>
          </a:bodyPr>
          <a:lstStyle/>
          <a:p>
            <a:pPr algn="ctr" indent="0" marL="0">
              <a:buNone/>
            </a:pPr>
            <a:r>
              <a:rPr lang="en-US" sz="1050" b="1" dirty="0">
                <a:solidFill>
                  <a:srgbClr val="31DDA1"/>
                </a:solidFill>
                <a:latin typeface="Inter Display" pitchFamily="34" charset="0"/>
                <a:ea typeface="Inter Display" pitchFamily="34" charset="-122"/>
                <a:cs typeface="Inter Display" pitchFamily="34" charset="-120"/>
              </a:rPr>
              <a:t>LIVE DEMO READY</a:t>
            </a:r>
            <a:endParaRPr lang="en-US" sz="1050" dirty="0"/>
          </a:p>
        </p:txBody>
      </p:sp>
      <p:sp>
        <p:nvSpPr>
          <p:cNvPr id="16" name="Text 13"/>
          <p:cNvSpPr/>
          <p:nvPr/>
        </p:nvSpPr>
        <p:spPr>
          <a:xfrm>
            <a:off x="704088" y="6208776"/>
            <a:ext cx="7772400" cy="265176"/>
          </a:xfrm>
          <a:prstGeom prst="rect">
            <a:avLst/>
          </a:prstGeom>
          <a:noFill/>
          <a:ln/>
        </p:spPr>
        <p:txBody>
          <a:bodyPr wrap="square" lIns="0" tIns="0" rIns="0" bIns="0" rtlCol="0" anchor="ctr">
            <a:normAutofit/>
          </a:bodyPr>
          <a:lstStyle/>
          <a:p>
            <a:pPr indent="0" marL="0">
              <a:buNone/>
            </a:pPr>
            <a:r>
              <a:rPr lang="en-US" sz="1120" b="1" dirty="0">
                <a:solidFill>
                  <a:srgbClr val="B6AACF"/>
                </a:solidFill>
                <a:latin typeface="Inter Display" pitchFamily="34" charset="0"/>
                <a:ea typeface="Inter Display" pitchFamily="34" charset="-122"/>
                <a:cs typeface="Inter Display" pitchFamily="34" charset="-120"/>
              </a:rPr>
              <a:t>SE4041 • MADD • ASSIGNMENT 02 / PART B</a:t>
            </a:r>
            <a:endParaRPr lang="en-US" sz="1120" dirty="0"/>
          </a:p>
        </p:txBody>
      </p:sp>
      <p:sp>
        <p:nvSpPr>
          <p:cNvPr id="17" name="Text 14"/>
          <p:cNvSpPr/>
          <p:nvPr/>
        </p:nvSpPr>
        <p:spPr>
          <a:xfrm>
            <a:off x="9555480" y="6172200"/>
            <a:ext cx="1828800" cy="329184"/>
          </a:xfrm>
          <a:prstGeom prst="rect">
            <a:avLst/>
          </a:prstGeom>
          <a:noFill/>
          <a:ln/>
        </p:spPr>
        <p:txBody>
          <a:bodyPr wrap="square" lIns="0" tIns="0" rIns="0" bIns="0" rtlCol="0" anchor="ctr">
            <a:normAutofit/>
          </a:bodyPr>
          <a:lstStyle/>
          <a:p>
            <a:pPr algn="r" indent="0" marL="0">
              <a:buNone/>
            </a:pPr>
            <a:r>
              <a:rPr lang="en-US" sz="1900" b="1" dirty="0">
                <a:solidFill>
                  <a:srgbClr val="FFFFFF"/>
                </a:solidFill>
                <a:latin typeface="Inter Display" pitchFamily="34" charset="0"/>
                <a:ea typeface="Inter Display" pitchFamily="34" charset="-122"/>
                <a:cs typeface="Inter Display" pitchFamily="34" charset="-120"/>
              </a:rPr>
              <a:t>Thank you</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A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A1D"/>
          </a:solidFill>
          <a:ln w="12700">
            <a:solidFill>
              <a:srgbClr val="0C0A1D"/>
            </a:solidFill>
            <a:prstDash val="solid"/>
          </a:ln>
        </p:spPr>
      </p:sp>
      <p:sp>
        <p:nvSpPr>
          <p:cNvPr id="3" name="Text 1"/>
          <p:cNvSpPr/>
          <p:nvPr/>
        </p:nvSpPr>
        <p:spPr>
          <a:xfrm>
            <a:off x="566928" y="329184"/>
            <a:ext cx="7315200" cy="237744"/>
          </a:xfrm>
          <a:prstGeom prst="rect">
            <a:avLst/>
          </a:prstGeom>
          <a:noFill/>
          <a:ln/>
        </p:spPr>
        <p:txBody>
          <a:bodyPr wrap="square" lIns="0" tIns="0" rIns="0" bIns="0" rtlCol="0" anchor="ctr">
            <a:normAutofit/>
          </a:bodyPr>
          <a:lstStyle/>
          <a:p>
            <a:pPr indent="0" marL="0">
              <a:buNone/>
            </a:pPr>
            <a:r>
              <a:rPr lang="en-US" sz="1050" b="1" spc="200" kern="0" dirty="0">
                <a:solidFill>
                  <a:srgbClr val="E04CF4"/>
                </a:solidFill>
                <a:latin typeface="Inter Display" pitchFamily="34" charset="0"/>
                <a:ea typeface="Inter Display" pitchFamily="34" charset="-122"/>
                <a:cs typeface="Inter Display" pitchFamily="34" charset="-120"/>
              </a:rPr>
              <a:t>APPENDIX / SOURCES</a:t>
            </a:r>
            <a:endParaRPr lang="en-US" sz="1050" dirty="0"/>
          </a:p>
        </p:txBody>
      </p:sp>
      <p:sp>
        <p:nvSpPr>
          <p:cNvPr id="4" name="Text 2"/>
          <p:cNvSpPr/>
          <p:nvPr/>
        </p:nvSpPr>
        <p:spPr>
          <a:xfrm>
            <a:off x="566928" y="768096"/>
            <a:ext cx="11082528" cy="576072"/>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Inter Display" pitchFamily="34" charset="0"/>
                <a:ea typeface="Inter Display" pitchFamily="34" charset="-122"/>
                <a:cs typeface="Inter Display" pitchFamily="34" charset="-120"/>
              </a:rPr>
              <a:t>References &amp; project evidence</a:t>
            </a:r>
            <a:endParaRPr lang="en-US" sz="3200" dirty="0"/>
          </a:p>
        </p:txBody>
      </p:sp>
      <p:sp>
        <p:nvSpPr>
          <p:cNvPr id="5" name="Text 3"/>
          <p:cNvSpPr/>
          <p:nvPr/>
        </p:nvSpPr>
        <p:spPr>
          <a:xfrm>
            <a:off x="594360" y="1389888"/>
            <a:ext cx="10899648" cy="438912"/>
          </a:xfrm>
          <a:prstGeom prst="rect">
            <a:avLst/>
          </a:prstGeom>
          <a:noFill/>
          <a:ln/>
        </p:spPr>
        <p:txBody>
          <a:bodyPr wrap="square" lIns="0" tIns="0" rIns="0" bIns="0" rtlCol="0" anchor="ctr">
            <a:normAutofit/>
          </a:bodyPr>
          <a:lstStyle/>
          <a:p>
            <a:pPr indent="0" marL="0">
              <a:buNone/>
            </a:pPr>
            <a:r>
              <a:rPr lang="en-US" sz="1540" dirty="0">
                <a:solidFill>
                  <a:srgbClr val="B6AACF"/>
                </a:solidFill>
                <a:latin typeface="Inter" pitchFamily="34" charset="0"/>
                <a:ea typeface="Inter" pitchFamily="34" charset="-122"/>
                <a:cs typeface="Inter" pitchFamily="34" charset="-120"/>
              </a:rPr>
              <a:t>Official product pages are used for the competitor comparison; product claims are based on the implemented prototype.</a:t>
            </a:r>
            <a:endParaRPr lang="en-US" sz="1540" dirty="0"/>
          </a:p>
        </p:txBody>
      </p:sp>
      <p:sp>
        <p:nvSpPr>
          <p:cNvPr id="6" name="Shape 4"/>
          <p:cNvSpPr/>
          <p:nvPr/>
        </p:nvSpPr>
        <p:spPr>
          <a:xfrm>
            <a:off x="612648" y="1874520"/>
            <a:ext cx="10981944" cy="612648"/>
          </a:xfrm>
          <a:prstGeom prst="roundRect">
            <a:avLst>
              <a:gd name="adj" fmla="val 17910"/>
            </a:avLst>
          </a:prstGeom>
          <a:solidFill>
            <a:srgbClr val="21183E"/>
          </a:solidFill>
          <a:ln w="6350">
            <a:solidFill>
              <a:srgbClr val="3E3155"/>
            </a:solidFill>
            <a:prstDash val="solid"/>
          </a:ln>
        </p:spPr>
      </p:sp>
      <p:sp>
        <p:nvSpPr>
          <p:cNvPr id="7" name="Text 5"/>
          <p:cNvSpPr/>
          <p:nvPr/>
        </p:nvSpPr>
        <p:spPr>
          <a:xfrm>
            <a:off x="841248" y="2002536"/>
            <a:ext cx="448056" cy="274320"/>
          </a:xfrm>
          <a:prstGeom prst="rect">
            <a:avLst/>
          </a:prstGeom>
          <a:noFill/>
          <a:ln/>
        </p:spPr>
        <p:txBody>
          <a:bodyPr wrap="square" lIns="0" tIns="0" rIns="0" bIns="0" rtlCol="0" anchor="ctr">
            <a:normAutofit/>
          </a:bodyPr>
          <a:lstStyle/>
          <a:p>
            <a:pPr indent="0" marL="0">
              <a:buNone/>
            </a:pPr>
            <a:r>
              <a:rPr lang="en-US" sz="1400" b="1" dirty="0">
                <a:solidFill>
                  <a:srgbClr val="E04CF4"/>
                </a:solidFill>
                <a:latin typeface="Inter Display" pitchFamily="34" charset="0"/>
                <a:ea typeface="Inter Display" pitchFamily="34" charset="-122"/>
                <a:cs typeface="Inter Display" pitchFamily="34" charset="-120"/>
              </a:rPr>
              <a:t>[1]</a:t>
            </a:r>
            <a:endParaRPr lang="en-US" sz="1400" dirty="0"/>
          </a:p>
        </p:txBody>
      </p:sp>
      <p:sp>
        <p:nvSpPr>
          <p:cNvPr id="8" name="Text 6"/>
          <p:cNvSpPr/>
          <p:nvPr/>
        </p:nvSpPr>
        <p:spPr>
          <a:xfrm>
            <a:off x="1417320" y="1943100"/>
            <a:ext cx="6793992" cy="30175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Inter Display" pitchFamily="34" charset="0"/>
                <a:ea typeface="Inter Display" pitchFamily="34" charset="-122"/>
                <a:cs typeface="Inter Display" pitchFamily="34" charset="-120"/>
              </a:rPr>
              <a:t>Jackbox Games / Apple App Store — Drawful 2</a:t>
            </a:r>
            <a:endParaRPr lang="en-US" sz="1400" dirty="0"/>
          </a:p>
        </p:txBody>
      </p:sp>
      <p:sp>
        <p:nvSpPr>
          <p:cNvPr id="9" name="Text 7">
            <a:hlinkClick r:id="rId1" tooltip=""/>
          </p:cNvPr>
          <p:cNvSpPr/>
          <p:nvPr/>
        </p:nvSpPr>
        <p:spPr>
          <a:xfrm>
            <a:off x="1417320" y="2212848"/>
            <a:ext cx="9893808" cy="201168"/>
          </a:xfrm>
          <a:prstGeom prst="rect">
            <a:avLst/>
          </a:prstGeom>
          <a:noFill/>
          <a:ln/>
        </p:spPr>
        <p:txBody>
          <a:bodyPr wrap="square" lIns="0" tIns="0" rIns="0" bIns="0" rtlCol="0" anchor="ctr">
            <a:normAutofit/>
          </a:bodyPr>
          <a:lstStyle/>
          <a:p>
            <a:pPr indent="0" marL="0">
              <a:buNone/>
            </a:pPr>
            <a:r>
              <a:rPr lang="en-US" sz="950" u="sng" dirty="0">
                <a:solidFill>
                  <a:srgbClr val="B6AACF"/>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https://apps.apple.com/us/app/drawful-2/id1181181995</a:t>
            </a:r>
            <a:endParaRPr lang="en-US" sz="950" dirty="0"/>
          </a:p>
        </p:txBody>
      </p:sp>
      <p:sp>
        <p:nvSpPr>
          <p:cNvPr id="10" name="Shape 8"/>
          <p:cNvSpPr/>
          <p:nvPr/>
        </p:nvSpPr>
        <p:spPr>
          <a:xfrm>
            <a:off x="612648" y="2633472"/>
            <a:ext cx="10981944" cy="612648"/>
          </a:xfrm>
          <a:prstGeom prst="roundRect">
            <a:avLst>
              <a:gd name="adj" fmla="val 17910"/>
            </a:avLst>
          </a:prstGeom>
          <a:solidFill>
            <a:srgbClr val="1C1634"/>
          </a:solidFill>
          <a:ln w="6350">
            <a:solidFill>
              <a:srgbClr val="3E3155"/>
            </a:solidFill>
            <a:prstDash val="solid"/>
          </a:ln>
        </p:spPr>
      </p:sp>
      <p:sp>
        <p:nvSpPr>
          <p:cNvPr id="11" name="Text 9"/>
          <p:cNvSpPr/>
          <p:nvPr/>
        </p:nvSpPr>
        <p:spPr>
          <a:xfrm>
            <a:off x="841248" y="2761488"/>
            <a:ext cx="448056" cy="274320"/>
          </a:xfrm>
          <a:prstGeom prst="rect">
            <a:avLst/>
          </a:prstGeom>
          <a:noFill/>
          <a:ln/>
        </p:spPr>
        <p:txBody>
          <a:bodyPr wrap="square" lIns="0" tIns="0" rIns="0" bIns="0" rtlCol="0" anchor="ctr">
            <a:normAutofit/>
          </a:bodyPr>
          <a:lstStyle/>
          <a:p>
            <a:pPr indent="0" marL="0">
              <a:buNone/>
            </a:pPr>
            <a:r>
              <a:rPr lang="en-US" sz="1400" b="1" dirty="0">
                <a:solidFill>
                  <a:srgbClr val="E04CF4"/>
                </a:solidFill>
                <a:latin typeface="Inter Display" pitchFamily="34" charset="0"/>
                <a:ea typeface="Inter Display" pitchFamily="34" charset="-122"/>
                <a:cs typeface="Inter Display" pitchFamily="34" charset="-120"/>
              </a:rPr>
              <a:t>[2]</a:t>
            </a:r>
            <a:endParaRPr lang="en-US" sz="1400" dirty="0"/>
          </a:p>
        </p:txBody>
      </p:sp>
      <p:sp>
        <p:nvSpPr>
          <p:cNvPr id="12" name="Text 10"/>
          <p:cNvSpPr/>
          <p:nvPr/>
        </p:nvSpPr>
        <p:spPr>
          <a:xfrm>
            <a:off x="1417320" y="2702052"/>
            <a:ext cx="6793992" cy="30175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Inter Display" pitchFamily="34" charset="0"/>
                <a:ea typeface="Inter Display" pitchFamily="34" charset="-122"/>
                <a:cs typeface="Inter Display" pitchFamily="34" charset="-120"/>
              </a:rPr>
              <a:t>skribbl.io — Official About and How to Play</a:t>
            </a:r>
            <a:endParaRPr lang="en-US" sz="1400" dirty="0"/>
          </a:p>
        </p:txBody>
      </p:sp>
      <p:sp>
        <p:nvSpPr>
          <p:cNvPr id="13" name="Text 11">
            <a:hlinkClick r:id="rId2" tooltip=""/>
          </p:cNvPr>
          <p:cNvSpPr/>
          <p:nvPr/>
        </p:nvSpPr>
        <p:spPr>
          <a:xfrm>
            <a:off x="1417320" y="2971800"/>
            <a:ext cx="9893808" cy="201168"/>
          </a:xfrm>
          <a:prstGeom prst="rect">
            <a:avLst/>
          </a:prstGeom>
          <a:noFill/>
          <a:ln/>
        </p:spPr>
        <p:txBody>
          <a:bodyPr wrap="square" lIns="0" tIns="0" rIns="0" bIns="0" rtlCol="0" anchor="ctr">
            <a:normAutofit/>
          </a:bodyPr>
          <a:lstStyle/>
          <a:p>
            <a:pPr indent="0" marL="0">
              <a:buNone/>
            </a:pPr>
            <a:r>
              <a:rPr lang="en-US" sz="950" u="sng" dirty="0">
                <a:solidFill>
                  <a:srgbClr val="B6AACF"/>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https://skribbl.io/</a:t>
            </a:r>
            <a:endParaRPr lang="en-US" sz="950" dirty="0"/>
          </a:p>
        </p:txBody>
      </p:sp>
      <p:sp>
        <p:nvSpPr>
          <p:cNvPr id="14" name="Shape 12"/>
          <p:cNvSpPr/>
          <p:nvPr/>
        </p:nvSpPr>
        <p:spPr>
          <a:xfrm>
            <a:off x="612648" y="3392424"/>
            <a:ext cx="10981944" cy="612648"/>
          </a:xfrm>
          <a:prstGeom prst="roundRect">
            <a:avLst>
              <a:gd name="adj" fmla="val 17910"/>
            </a:avLst>
          </a:prstGeom>
          <a:solidFill>
            <a:srgbClr val="21183E"/>
          </a:solidFill>
          <a:ln w="6350">
            <a:solidFill>
              <a:srgbClr val="3E3155"/>
            </a:solidFill>
            <a:prstDash val="solid"/>
          </a:ln>
        </p:spPr>
      </p:sp>
      <p:sp>
        <p:nvSpPr>
          <p:cNvPr id="15" name="Text 13"/>
          <p:cNvSpPr/>
          <p:nvPr/>
        </p:nvSpPr>
        <p:spPr>
          <a:xfrm>
            <a:off x="841248" y="3520440"/>
            <a:ext cx="448056" cy="274320"/>
          </a:xfrm>
          <a:prstGeom prst="rect">
            <a:avLst/>
          </a:prstGeom>
          <a:noFill/>
          <a:ln/>
        </p:spPr>
        <p:txBody>
          <a:bodyPr wrap="square" lIns="0" tIns="0" rIns="0" bIns="0" rtlCol="0" anchor="ctr">
            <a:normAutofit/>
          </a:bodyPr>
          <a:lstStyle/>
          <a:p>
            <a:pPr indent="0" marL="0">
              <a:buNone/>
            </a:pPr>
            <a:r>
              <a:rPr lang="en-US" sz="1400" b="1" dirty="0">
                <a:solidFill>
                  <a:srgbClr val="E04CF4"/>
                </a:solidFill>
                <a:latin typeface="Inter Display" pitchFamily="34" charset="0"/>
                <a:ea typeface="Inter Display" pitchFamily="34" charset="-122"/>
                <a:cs typeface="Inter Display" pitchFamily="34" charset="-120"/>
              </a:rPr>
              <a:t>[3]</a:t>
            </a:r>
            <a:endParaRPr lang="en-US" sz="1400" dirty="0"/>
          </a:p>
        </p:txBody>
      </p:sp>
      <p:sp>
        <p:nvSpPr>
          <p:cNvPr id="16" name="Text 14"/>
          <p:cNvSpPr/>
          <p:nvPr/>
        </p:nvSpPr>
        <p:spPr>
          <a:xfrm>
            <a:off x="1417320" y="3461004"/>
            <a:ext cx="6793992" cy="30175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Inter Display" pitchFamily="34" charset="0"/>
                <a:ea typeface="Inter Display" pitchFamily="34" charset="-122"/>
                <a:cs typeface="Inter Display" pitchFamily="34" charset="-120"/>
              </a:rPr>
              <a:t>Apple Developer — Focus Interactions for Apple TV</a:t>
            </a:r>
            <a:endParaRPr lang="en-US" sz="1400" dirty="0"/>
          </a:p>
        </p:txBody>
      </p:sp>
      <p:sp>
        <p:nvSpPr>
          <p:cNvPr id="17" name="Text 15">
            <a:hlinkClick r:id="rId3" tooltip=""/>
          </p:cNvPr>
          <p:cNvSpPr/>
          <p:nvPr/>
        </p:nvSpPr>
        <p:spPr>
          <a:xfrm>
            <a:off x="1417320" y="3730752"/>
            <a:ext cx="9893808" cy="201168"/>
          </a:xfrm>
          <a:prstGeom prst="rect">
            <a:avLst/>
          </a:prstGeom>
          <a:noFill/>
          <a:ln/>
        </p:spPr>
        <p:txBody>
          <a:bodyPr wrap="square" lIns="0" tIns="0" rIns="0" bIns="0" rtlCol="0" anchor="ctr">
            <a:normAutofit/>
          </a:bodyPr>
          <a:lstStyle/>
          <a:p>
            <a:pPr indent="0" marL="0">
              <a:buNone/>
            </a:pPr>
            <a:r>
              <a:rPr lang="en-US" sz="950" u="sng" dirty="0">
                <a:solidFill>
                  <a:srgbClr val="B6AACF"/>
                </a:solid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https://developer.apple.com/documentation/uikit/about-focus-interactions-for-apple-tv</a:t>
            </a:r>
            <a:endParaRPr lang="en-US" sz="950" dirty="0"/>
          </a:p>
        </p:txBody>
      </p:sp>
      <p:sp>
        <p:nvSpPr>
          <p:cNvPr id="18" name="Shape 16"/>
          <p:cNvSpPr/>
          <p:nvPr/>
        </p:nvSpPr>
        <p:spPr>
          <a:xfrm>
            <a:off x="612648" y="4151376"/>
            <a:ext cx="10981944" cy="612648"/>
          </a:xfrm>
          <a:prstGeom prst="roundRect">
            <a:avLst>
              <a:gd name="adj" fmla="val 17910"/>
            </a:avLst>
          </a:prstGeom>
          <a:solidFill>
            <a:srgbClr val="1C1634"/>
          </a:solidFill>
          <a:ln w="6350">
            <a:solidFill>
              <a:srgbClr val="3E3155"/>
            </a:solidFill>
            <a:prstDash val="solid"/>
          </a:ln>
        </p:spPr>
      </p:sp>
      <p:sp>
        <p:nvSpPr>
          <p:cNvPr id="19" name="Text 17"/>
          <p:cNvSpPr/>
          <p:nvPr/>
        </p:nvSpPr>
        <p:spPr>
          <a:xfrm>
            <a:off x="841248" y="4279392"/>
            <a:ext cx="448056" cy="274320"/>
          </a:xfrm>
          <a:prstGeom prst="rect">
            <a:avLst/>
          </a:prstGeom>
          <a:noFill/>
          <a:ln/>
        </p:spPr>
        <p:txBody>
          <a:bodyPr wrap="square" lIns="0" tIns="0" rIns="0" bIns="0" rtlCol="0" anchor="ctr">
            <a:normAutofit/>
          </a:bodyPr>
          <a:lstStyle/>
          <a:p>
            <a:pPr indent="0" marL="0">
              <a:buNone/>
            </a:pPr>
            <a:r>
              <a:rPr lang="en-US" sz="1400" b="1" dirty="0">
                <a:solidFill>
                  <a:srgbClr val="E04CF4"/>
                </a:solidFill>
                <a:latin typeface="Inter Display" pitchFamily="34" charset="0"/>
                <a:ea typeface="Inter Display" pitchFamily="34" charset="-122"/>
                <a:cs typeface="Inter Display" pitchFamily="34" charset="-120"/>
              </a:rPr>
              <a:t>[4]</a:t>
            </a:r>
            <a:endParaRPr lang="en-US" sz="1400" dirty="0"/>
          </a:p>
        </p:txBody>
      </p:sp>
      <p:sp>
        <p:nvSpPr>
          <p:cNvPr id="20" name="Text 18"/>
          <p:cNvSpPr/>
          <p:nvPr/>
        </p:nvSpPr>
        <p:spPr>
          <a:xfrm>
            <a:off x="1417320" y="4219956"/>
            <a:ext cx="6793992" cy="30175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Inter Display" pitchFamily="34" charset="0"/>
                <a:ea typeface="Inter Display" pitchFamily="34" charset="-122"/>
                <a:cs typeface="Inter Display" pitchFamily="34" charset="-120"/>
              </a:rPr>
              <a:t>SE4041 MADD Assignment 02 — Part B rubric</a:t>
            </a:r>
            <a:endParaRPr lang="en-US" sz="1400" dirty="0"/>
          </a:p>
        </p:txBody>
      </p:sp>
      <p:sp>
        <p:nvSpPr>
          <p:cNvPr id="21" name="Text 19"/>
          <p:cNvSpPr/>
          <p:nvPr/>
        </p:nvSpPr>
        <p:spPr>
          <a:xfrm>
            <a:off x="1417320" y="4489704"/>
            <a:ext cx="9893808" cy="201168"/>
          </a:xfrm>
          <a:prstGeom prst="rect">
            <a:avLst/>
          </a:prstGeom>
          <a:noFill/>
          <a:ln/>
        </p:spPr>
        <p:txBody>
          <a:bodyPr wrap="square" lIns="0" tIns="0" rIns="0" bIns="0" rtlCol="0" anchor="ctr">
            <a:normAutofit/>
          </a:bodyPr>
          <a:lstStyle/>
          <a:p>
            <a:pPr indent="0" marL="0">
              <a:buNone/>
            </a:pPr>
            <a:r>
              <a:rPr lang="en-US" sz="950" dirty="0">
                <a:solidFill>
                  <a:srgbClr val="B6AACF"/>
                </a:solidFill>
                <a:latin typeface="Inter" pitchFamily="34" charset="0"/>
                <a:ea typeface="Inter" pitchFamily="34" charset="-122"/>
                <a:cs typeface="Inter" pitchFamily="34" charset="-120"/>
              </a:rPr>
              <a:t>Provided assignment brief</a:t>
            </a:r>
            <a:endParaRPr lang="en-US" sz="950" dirty="0"/>
          </a:p>
        </p:txBody>
      </p:sp>
      <p:sp>
        <p:nvSpPr>
          <p:cNvPr id="22" name="Shape 20"/>
          <p:cNvSpPr/>
          <p:nvPr/>
        </p:nvSpPr>
        <p:spPr>
          <a:xfrm>
            <a:off x="612648" y="4910328"/>
            <a:ext cx="10981944" cy="612648"/>
          </a:xfrm>
          <a:prstGeom prst="roundRect">
            <a:avLst>
              <a:gd name="adj" fmla="val 17910"/>
            </a:avLst>
          </a:prstGeom>
          <a:solidFill>
            <a:srgbClr val="21183E"/>
          </a:solidFill>
          <a:ln w="6350">
            <a:solidFill>
              <a:srgbClr val="3E3155"/>
            </a:solidFill>
            <a:prstDash val="solid"/>
          </a:ln>
        </p:spPr>
      </p:sp>
      <p:sp>
        <p:nvSpPr>
          <p:cNvPr id="23" name="Text 21"/>
          <p:cNvSpPr/>
          <p:nvPr/>
        </p:nvSpPr>
        <p:spPr>
          <a:xfrm>
            <a:off x="841248" y="5038344"/>
            <a:ext cx="448056" cy="274320"/>
          </a:xfrm>
          <a:prstGeom prst="rect">
            <a:avLst/>
          </a:prstGeom>
          <a:noFill/>
          <a:ln/>
        </p:spPr>
        <p:txBody>
          <a:bodyPr wrap="square" lIns="0" tIns="0" rIns="0" bIns="0" rtlCol="0" anchor="ctr">
            <a:normAutofit/>
          </a:bodyPr>
          <a:lstStyle/>
          <a:p>
            <a:pPr indent="0" marL="0">
              <a:buNone/>
            </a:pPr>
            <a:r>
              <a:rPr lang="en-US" sz="1400" b="1" dirty="0">
                <a:solidFill>
                  <a:srgbClr val="E04CF4"/>
                </a:solidFill>
                <a:latin typeface="Inter Display" pitchFamily="34" charset="0"/>
                <a:ea typeface="Inter Display" pitchFamily="34" charset="-122"/>
                <a:cs typeface="Inter Display" pitchFamily="34" charset="-120"/>
              </a:rPr>
              <a:t>[5]</a:t>
            </a:r>
            <a:endParaRPr lang="en-US" sz="1400" dirty="0"/>
          </a:p>
        </p:txBody>
      </p:sp>
      <p:sp>
        <p:nvSpPr>
          <p:cNvPr id="24" name="Text 22"/>
          <p:cNvSpPr/>
          <p:nvPr/>
        </p:nvSpPr>
        <p:spPr>
          <a:xfrm>
            <a:off x="1417320" y="4978908"/>
            <a:ext cx="6793992" cy="30175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Inter Display" pitchFamily="34" charset="0"/>
                <a:ea typeface="Inter Display" pitchFamily="34" charset="-122"/>
                <a:cs typeface="Inter Display" pitchFamily="34" charset="-120"/>
              </a:rPr>
              <a:t>SketchQuest Party — Source, README, screenshots &amp; AI usage</a:t>
            </a:r>
            <a:endParaRPr lang="en-US" sz="1400" dirty="0"/>
          </a:p>
        </p:txBody>
      </p:sp>
      <p:sp>
        <p:nvSpPr>
          <p:cNvPr id="25" name="Text 23">
            <a:hlinkClick r:id="rId4" tooltip=""/>
          </p:cNvPr>
          <p:cNvSpPr/>
          <p:nvPr/>
        </p:nvSpPr>
        <p:spPr>
          <a:xfrm>
            <a:off x="1417320" y="5248656"/>
            <a:ext cx="9893808" cy="201168"/>
          </a:xfrm>
          <a:prstGeom prst="rect">
            <a:avLst/>
          </a:prstGeom>
          <a:noFill/>
          <a:ln/>
        </p:spPr>
        <p:txBody>
          <a:bodyPr wrap="square" lIns="0" tIns="0" rIns="0" bIns="0" rtlCol="0" anchor="ctr">
            <a:normAutofit/>
          </a:bodyPr>
          <a:lstStyle/>
          <a:p>
            <a:pPr indent="0" marL="0">
              <a:buNone/>
            </a:pPr>
            <a:r>
              <a:rPr lang="en-US" sz="950" u="sng" dirty="0">
                <a:solidFill>
                  <a:srgbClr val="B6AACF"/>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https://github.com/NavodaNethmini/SketchQuestParty-tvOS</a:t>
            </a:r>
            <a:endParaRPr lang="en-US" sz="950" dirty="0"/>
          </a:p>
        </p:txBody>
      </p:sp>
      <p:sp>
        <p:nvSpPr>
          <p:cNvPr id="26" name="Text 24"/>
          <p:cNvSpPr/>
          <p:nvPr/>
        </p:nvSpPr>
        <p:spPr>
          <a:xfrm>
            <a:off x="640080" y="6099048"/>
            <a:ext cx="10643616" cy="237744"/>
          </a:xfrm>
          <a:prstGeom prst="rect">
            <a:avLst/>
          </a:prstGeom>
          <a:noFill/>
          <a:ln/>
        </p:spPr>
        <p:txBody>
          <a:bodyPr wrap="square" lIns="0" tIns="0" rIns="0" bIns="0" rtlCol="0" anchor="ctr">
            <a:normAutofit/>
          </a:bodyPr>
          <a:lstStyle/>
          <a:p>
            <a:pPr indent="0" marL="0">
              <a:buNone/>
            </a:pPr>
            <a:r>
              <a:rPr lang="en-US" sz="1100" dirty="0">
                <a:solidFill>
                  <a:srgbClr val="B6AACF"/>
                </a:solidFill>
                <a:latin typeface="Inter" pitchFamily="34" charset="0"/>
                <a:ea typeface="Inter" pitchFamily="34" charset="-122"/>
                <a:cs typeface="Inter" pitchFamily="34" charset="-120"/>
              </a:rPr>
              <a:t>All prototype screenshots: SketchQuest Party Apple TV Simulator test captures, 14 October 2026.</a:t>
            </a:r>
            <a:endParaRPr lang="en-US" sz="1100" dirty="0"/>
          </a:p>
        </p:txBody>
      </p:sp>
      <p:sp>
        <p:nvSpPr>
          <p:cNvPr id="27" name="Shape 25"/>
          <p:cNvSpPr/>
          <p:nvPr/>
        </p:nvSpPr>
        <p:spPr>
          <a:xfrm>
            <a:off x="566928" y="6556248"/>
            <a:ext cx="11045952" cy="0"/>
          </a:xfrm>
          <a:prstGeom prst="line">
            <a:avLst/>
          </a:prstGeom>
          <a:noFill/>
          <a:ln w="8890">
            <a:solidFill>
              <a:srgbClr val="44365D">
                <a:alpha val="80000"/>
              </a:srgbClr>
            </a:solidFill>
            <a:prstDash val="solid"/>
          </a:ln>
        </p:spPr>
      </p:sp>
      <p:sp>
        <p:nvSpPr>
          <p:cNvPr id="28" name="Text 26"/>
          <p:cNvSpPr/>
          <p:nvPr/>
        </p:nvSpPr>
        <p:spPr>
          <a:xfrm>
            <a:off x="585216" y="6601968"/>
            <a:ext cx="7772400" cy="155448"/>
          </a:xfrm>
          <a:prstGeom prst="rect">
            <a:avLst/>
          </a:prstGeom>
          <a:noFill/>
          <a:ln/>
        </p:spPr>
        <p:txBody>
          <a:bodyPr wrap="square" lIns="0" tIns="0" rIns="0" bIns="0" rtlCol="0" anchor="ctr">
            <a:normAutofit/>
          </a:bodyPr>
          <a:lstStyle/>
          <a:p>
            <a:pPr indent="0" marL="0">
              <a:buNone/>
            </a:pPr>
            <a:r>
              <a:rPr lang="en-US" sz="900" b="1" spc="50" kern="0" dirty="0">
                <a:solidFill>
                  <a:srgbClr val="B6AACF"/>
                </a:solidFill>
                <a:latin typeface="Inter Display" pitchFamily="34" charset="0"/>
                <a:ea typeface="Inter Display" pitchFamily="34" charset="-122"/>
                <a:cs typeface="Inter Display" pitchFamily="34" charset="-120"/>
              </a:rPr>
              <a:t>SKETCHQUEST PARTY  /  SE4041 — PART B</a:t>
            </a:r>
            <a:endParaRPr lang="en-US" sz="900" dirty="0"/>
          </a:p>
        </p:txBody>
      </p:sp>
      <p:sp>
        <p:nvSpPr>
          <p:cNvPr id="29" name="Text 27"/>
          <p:cNvSpPr/>
          <p:nvPr/>
        </p:nvSpPr>
        <p:spPr>
          <a:xfrm>
            <a:off x="11155680" y="6583680"/>
            <a:ext cx="457200" cy="201168"/>
          </a:xfrm>
          <a:prstGeom prst="rect">
            <a:avLst/>
          </a:prstGeom>
          <a:noFill/>
          <a:ln/>
        </p:spPr>
        <p:txBody>
          <a:bodyPr wrap="square" lIns="0" tIns="0" rIns="0" bIns="0" rtlCol="0" anchor="ctr">
            <a:normAutofit/>
          </a:bodyPr>
          <a:lstStyle/>
          <a:p>
            <a:pPr algn="r" indent="0" marL="0">
              <a:buNone/>
            </a:pPr>
            <a:r>
              <a:rPr lang="en-US" sz="950" b="1" dirty="0">
                <a:solidFill>
                  <a:srgbClr val="B6AACF"/>
                </a:solidFill>
                <a:latin typeface="Inter Display" pitchFamily="34" charset="0"/>
                <a:ea typeface="Inter Display" pitchFamily="34" charset="-122"/>
                <a:cs typeface="Inter Display" pitchFamily="34" charset="-120"/>
              </a:rPr>
              <a:t>15</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SE4041 MADD Assignment 02 – Part 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SketchQuest Party — tvOS Pitch</dc:title>
  <dc:subject>tvOS investor-style academic prototype pitch</dc:subject>
  <dc:creator>SketchQuest Party – SE4041 MADD</dc:creator>
  <cp:lastModifiedBy>SketchQuest Party – SE4041 MADD</cp:lastModifiedBy>
  <cp:revision>1</cp:revision>
  <dcterms:created xsi:type="dcterms:W3CDTF">2026-10-14T08:08:36Z</dcterms:created>
  <dcterms:modified xsi:type="dcterms:W3CDTF">2026-10-14T08:08:36Z</dcterms:modified>
</cp:coreProperties>
</file>